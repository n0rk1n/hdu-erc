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3df14885f8d4d29" /><Relationship Type="http://schemas.openxmlformats.org/officeDocument/2006/relationships/extended-properties" Target="/docProps/app.xml" Id="Rac58738873f14044" /><Relationship Type="http://schemas.openxmlformats.org/officeDocument/2006/relationships/officeDocument" Target="/ppt/presentation.xml" Id="R50e4e44f1e814a6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48a458915604794"/>
  </p:sldMasterIdLst>
  <p:notesMasterIdLst>
    <p:notesMasterId xmlns:r="http://schemas.openxmlformats.org/officeDocument/2006/relationships" r:id="Rc2fbfb680e944bec"/>
  </p:notesMasterIdLst>
  <p:sldIdLst>
    <p:sldId xmlns:r="http://schemas.openxmlformats.org/officeDocument/2006/relationships" id="256" r:id="Rbb25e43780bc4c97"/>
    <p:sldId xmlns:r="http://schemas.openxmlformats.org/officeDocument/2006/relationships" id="257" r:id="Re1a6cc9ceecd4fe1"/>
    <p:sldId xmlns:r="http://schemas.openxmlformats.org/officeDocument/2006/relationships" id="258" r:id="Rf716a83d81df44e3"/>
    <p:sldId xmlns:r="http://schemas.openxmlformats.org/officeDocument/2006/relationships" id="259" r:id="Rae121a6e3eed454f"/>
    <p:sldId xmlns:r="http://schemas.openxmlformats.org/officeDocument/2006/relationships" id="260" r:id="R1a68433633d74d53"/>
    <p:sldId xmlns:r="http://schemas.openxmlformats.org/officeDocument/2006/relationships" id="261" r:id="R30c2621a67f744eb"/>
    <p:sldId xmlns:r="http://schemas.openxmlformats.org/officeDocument/2006/relationships" id="262" r:id="R0afaaafe1fad48ef"/>
    <p:sldId xmlns:r="http://schemas.openxmlformats.org/officeDocument/2006/relationships" id="263" r:id="R82a737a442ba479a"/>
    <p:sldId xmlns:r="http://schemas.openxmlformats.org/officeDocument/2006/relationships" id="264" r:id="Rf7075330443b4ee1"/>
    <p:sldId xmlns:r="http://schemas.openxmlformats.org/officeDocument/2006/relationships" id="265" r:id="R0a4b1879adca47cb"/>
    <p:sldId xmlns:r="http://schemas.openxmlformats.org/officeDocument/2006/relationships" id="266" r:id="Rcd0dac92d55b4dd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a188624bfbb44e2" /><Relationship Type="http://schemas.openxmlformats.org/officeDocument/2006/relationships/slideMaster" Target="/ppt/slideMasters/slideMaster1.xml" Id="R148a458915604794" /><Relationship Type="http://schemas.openxmlformats.org/officeDocument/2006/relationships/notesMaster" Target="/ppt/notesMasters/notesMaster1.xml" Id="Rc2fbfb680e944bec" /><Relationship Type="http://schemas.openxmlformats.org/officeDocument/2006/relationships/presProps" Target="/ppt/presProps.xml" Id="R0aa47ed127d0430d" /><Relationship Type="http://schemas.openxmlformats.org/officeDocument/2006/relationships/tableStyles" Target="/ppt/tableStyles.xml" Id="Rb0236c085715450f" /><Relationship Type="http://schemas.openxmlformats.org/officeDocument/2006/relationships/slide" Target="/ppt/slides/slide1.xml" Id="Rbb25e43780bc4c97" /><Relationship Type="http://schemas.openxmlformats.org/officeDocument/2006/relationships/slide" Target="/ppt/slides/slide2.xml" Id="Re1a6cc9ceecd4fe1" /><Relationship Type="http://schemas.openxmlformats.org/officeDocument/2006/relationships/slide" Target="/ppt/slides/slide3.xml" Id="Rf716a83d81df44e3" /><Relationship Type="http://schemas.openxmlformats.org/officeDocument/2006/relationships/slide" Target="/ppt/slides/slide4.xml" Id="Rae121a6e3eed454f" /><Relationship Type="http://schemas.openxmlformats.org/officeDocument/2006/relationships/slide" Target="/ppt/slides/slide5.xml" Id="R1a68433633d74d53" /><Relationship Type="http://schemas.openxmlformats.org/officeDocument/2006/relationships/slide" Target="/ppt/slides/slide6.xml" Id="R30c2621a67f744eb" /><Relationship Type="http://schemas.openxmlformats.org/officeDocument/2006/relationships/slide" Target="/ppt/slides/slide7.xml" Id="R0afaaafe1fad48ef" /><Relationship Type="http://schemas.openxmlformats.org/officeDocument/2006/relationships/slide" Target="/ppt/slides/slide8.xml" Id="R82a737a442ba479a" /><Relationship Type="http://schemas.openxmlformats.org/officeDocument/2006/relationships/slide" Target="/ppt/slides/slide9.xml" Id="Rf7075330443b4ee1" /><Relationship Type="http://schemas.openxmlformats.org/officeDocument/2006/relationships/slide" Target="/ppt/slides/slide10.xml" Id="R0a4b1879adca47cb" /><Relationship Type="http://schemas.openxmlformats.org/officeDocument/2006/relationships/slide" Target="/ppt/slides/slide11.xml" Id="Rcd0dac92d55b4dd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f64134b77f74ed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9003dba14a24996" /><Relationship Type="http://schemas.openxmlformats.org/officeDocument/2006/relationships/notesMaster" Target="/ppt/notesMasters/notesMaster1.xml" Id="R7ba5f275e17b472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0b8c8106c074e06" /><Relationship Type="http://schemas.openxmlformats.org/officeDocument/2006/relationships/notesMaster" Target="/ppt/notesMasters/notesMaster1.xml" Id="R52d0a755dabc444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3487de3b7964b88" /><Relationship Type="http://schemas.openxmlformats.org/officeDocument/2006/relationships/notesMaster" Target="/ppt/notesMasters/notesMaster1.xml" Id="Rbde8abc610d0409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1642361cd114f4b" /><Relationship Type="http://schemas.openxmlformats.org/officeDocument/2006/relationships/notesMaster" Target="/ppt/notesMasters/notesMaster1.xml" Id="R0899a249f2cd421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56c19de48d04a12" /><Relationship Type="http://schemas.openxmlformats.org/officeDocument/2006/relationships/notesMaster" Target="/ppt/notesMasters/notesMaster1.xml" Id="Rc4b112876e5d419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d93319b3e2640ae" /><Relationship Type="http://schemas.openxmlformats.org/officeDocument/2006/relationships/notesMaster" Target="/ppt/notesMasters/notesMaster1.xml" Id="R63fe98fd9905474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e8171a2465e45be" /><Relationship Type="http://schemas.openxmlformats.org/officeDocument/2006/relationships/notesMaster" Target="/ppt/notesMasters/notesMaster1.xml" Id="R8d452fa9b7d3461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43c769fd83045d2" /><Relationship Type="http://schemas.openxmlformats.org/officeDocument/2006/relationships/notesMaster" Target="/ppt/notesMasters/notesMaster1.xml" Id="R597253226fb9408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77fd1d386a94255" /><Relationship Type="http://schemas.openxmlformats.org/officeDocument/2006/relationships/notesMaster" Target="/ppt/notesMasters/notesMaster1.xml" Id="Rff7b7d9f100f48d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c73414aa7784651" /><Relationship Type="http://schemas.openxmlformats.org/officeDocument/2006/relationships/notesMaster" Target="/ppt/notesMasters/notesMaster1.xml" Id="R07d25a1ac59d42f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20085f43e2b4ef8" /><Relationship Type="http://schemas.openxmlformats.org/officeDocument/2006/relationships/notesMaster" Target="/ppt/notesMasters/notesMaster1.xml" Id="Rb79806513de5430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3ea88e548d4bc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e529a9ce65242d8" /><Relationship Type="http://schemas.openxmlformats.org/officeDocument/2006/relationships/slideLayout" Target="/ppt/slideLayouts/slideLayout1.xml" Id="R406e71ba9d3242e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06e71ba9d3242e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5cab9cf2f84e23" /><Relationship Type="http://schemas.openxmlformats.org/officeDocument/2006/relationships/notesSlide" Target="/ppt/notesSlides/notesSlide1.xml" Id="R0af226be9c934ab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dcab72d7444726" /><Relationship Type="http://schemas.openxmlformats.org/officeDocument/2006/relationships/notesSlide" Target="/ppt/notesSlides/notesSlide2.xml" Id="R625ad4a8d6094c8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8efccdd09a4260" /><Relationship Type="http://schemas.openxmlformats.org/officeDocument/2006/relationships/notesSlide" Target="/ppt/notesSlides/notesSlide3.xml" Id="R48dd10ae5bd14f0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b37559d8b641f9" /><Relationship Type="http://schemas.openxmlformats.org/officeDocument/2006/relationships/notesSlide" Target="/ppt/notesSlides/notesSlide4.xml" Id="Rc61c46d5b05f4c7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e79e5a3bee450f" /><Relationship Type="http://schemas.openxmlformats.org/officeDocument/2006/relationships/notesSlide" Target="/ppt/notesSlides/notesSlide5.xml" Id="Rbd08295a037048a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17746821d147b3" /><Relationship Type="http://schemas.openxmlformats.org/officeDocument/2006/relationships/notesSlide" Target="/ppt/notesSlides/notesSlide6.xml" Id="R7719a339dedc47d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13fa48cc384846" /><Relationship Type="http://schemas.openxmlformats.org/officeDocument/2006/relationships/notesSlide" Target="/ppt/notesSlides/notesSlide7.xml" Id="R05258e60091f4c7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208a98200e4fe4" /><Relationship Type="http://schemas.openxmlformats.org/officeDocument/2006/relationships/notesSlide" Target="/ppt/notesSlides/notesSlide8.xml" Id="R3401321c6abf405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d93d85a7624942" /><Relationship Type="http://schemas.openxmlformats.org/officeDocument/2006/relationships/notesSlide" Target="/ppt/notesSlides/notesSlide9.xml" Id="R85ca9d08b40d4fe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66b1370cb34e90" /><Relationship Type="http://schemas.openxmlformats.org/officeDocument/2006/relationships/notesSlide" Target="/ppt/notesSlides/notesSlide10.xml" Id="R9a04150d2b31445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196ed85be4447c" /><Relationship Type="http://schemas.openxmlformats.org/officeDocument/2006/relationships/notesSlide" Target="/ppt/notesSlides/notesSlide11.xml" Id="Rf984c638d3564f7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hape-1">
            <a:extLst xmlns:a="http://schemas.openxmlformats.org/drawingml/2006/main">
              <a:ext uri="{FF2B5EF4-FFF2-40B4-BE49-F238E27FC236}">
                <a16:creationId xmlns:a16="http://schemas.microsoft.com/office/drawing/2014/main" id="{D64D27C0-D39E-40F3-8016-FB5F5BFA3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shape-2">
            <a:extLst xmlns:a="http://schemas.openxmlformats.org/drawingml/2006/main">
              <a:ext uri="{FF2B5EF4-FFF2-40B4-BE49-F238E27FC236}">
                <a16:creationId xmlns:a16="http://schemas.microsoft.com/office/drawing/2014/main" id="{C0842A9D-0763-4BCA-B40C-A7B686D28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0"/>
            <a:ext cx="3695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solidFill>
              <a:srgbClr val="0B1F33"/>
            </a:solidFill>
            <a:prstDash val="solid"/>
          </a:ln>
        </p:spPr>
      </p:sp>
      <p:sp>
        <p:nvSpPr>
          <p:cNvPr id="3" name="shape-3">
            <a:extLst xmlns:a="http://schemas.openxmlformats.org/drawingml/2006/main">
              <a:ext uri="{FF2B5EF4-FFF2-40B4-BE49-F238E27FC236}">
                <a16:creationId xmlns:a16="http://schemas.microsoft.com/office/drawing/2014/main" id="{94DD875D-0566-4902-B841-CA8CD2CC4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  <a:prstDash val="solid"/>
          </a:ln>
        </p:spPr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797BC0D9-3D02-477F-B327-FA3D360CE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3429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14B8A6"/>
                </a:solidFill>
                <a:latin typeface="PingFang SC"/>
                <a:ea typeface="PingFang SC"/>
                <a:cs typeface="PingFang SC"/>
              </a:defRPr>
            </a:pPr>
            <a:r>
              <a:rPr b="1"/>
              <a:t>HDU · ERC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120CA4A4-49D2-4565-A03E-34501CE29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24000"/>
            <a:ext cx="6953250" cy="1809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275">
                <a:solidFill>
                  <a:srgbClr val="0B1F33"/>
                </a:solidFill>
                <a:latin typeface="PingFang SC"/>
                <a:ea typeface="PingFang SC"/>
                <a:cs typeface="PingFang SC"/>
              </a:defRPr>
            </a:pPr>
            <a:r>
              <a:rPr b="1"/>
              <a:t>面向对话情绪识别的
Prompt 组件消融实验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34463216-A5FF-46D3-A10B-51C55555D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38550"/>
            <a:ext cx="6858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>
                <a:solidFill>
                  <a:srgbClr val="5F6B76"/>
                </a:solidFill>
                <a:latin typeface="PingFang SC"/>
                <a:ea typeface="PingFang SC"/>
                <a:cs typeface="PingFang SC"/>
              </a:defRPr>
            </a:pPr>
            <a:r>
              <a:t>Codex CLI Agent · Seed-64 合成基准 · 导师汇报</a:t>
            </a:r>
          </a:p>
        </p:txBody>
      </p:sp>
      <p:sp>
        <p:nvSpPr>
          <p:cNvPr id="7" name="shape-7">
            <a:extLst xmlns:a="http://schemas.openxmlformats.org/drawingml/2006/main">
              <a:ext uri="{FF2B5EF4-FFF2-40B4-BE49-F238E27FC236}">
                <a16:creationId xmlns:a16="http://schemas.microsoft.com/office/drawing/2014/main" id="{AFC0D61D-4EF6-4D8A-8587-53C7030F3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6438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BE1"/>
          </a:solidFill>
          <a:ln xmlns:a="http://schemas.openxmlformats.org/drawingml/2006/main" w="0">
            <a:solidFill>
              <a:srgbClr val="D5DBE1"/>
            </a:solidFill>
            <a:prstDash val="solid"/>
          </a:ln>
        </p:spPr>
      </p:sp>
      <p:sp>
        <p:nvSpPr>
          <p:cNvPr id="8" name="text-8">
            <a:extLst xmlns:a="http://schemas.openxmlformats.org/drawingml/2006/main">
              <a:ext uri="{FF2B5EF4-FFF2-40B4-BE49-F238E27FC236}">
                <a16:creationId xmlns:a16="http://schemas.microsoft.com/office/drawing/2014/main" id="{2A7B5CC7-FE31-4AC1-8FDD-B2E5BBD51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14850"/>
            <a:ext cx="6667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173F5F"/>
                </a:solidFill>
                <a:latin typeface="PingFang SC"/>
                <a:ea typeface="PingFang SC"/>
                <a:cs typeface="PingFang SC"/>
              </a:defRPr>
            </a:pPr>
            <a:r>
              <a:rPr b="1"/>
              <a:t>本次汇报：实验结果 + 处理有效性诊断 + 下一轮研究设计</a:t>
            </a:r>
          </a:p>
        </p:txBody>
      </p:sp>
      <p:sp>
        <p:nvSpPr>
          <p:cNvPr id="9" name="text-9">
            <a:extLst xmlns:a="http://schemas.openxmlformats.org/drawingml/2006/main">
              <a:ext uri="{FF2B5EF4-FFF2-40B4-BE49-F238E27FC236}">
                <a16:creationId xmlns:a16="http://schemas.microsoft.com/office/drawing/2014/main" id="{D25AA545-D6E2-4631-9E85-52ECBB67A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81700"/>
            <a:ext cx="2095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5F6B76"/>
                </a:solidFill>
                <a:latin typeface="PingFang SC"/>
                <a:ea typeface="PingFang SC"/>
                <a:cs typeface="PingFang SC"/>
              </a:defRPr>
            </a:pPr>
            <a:r>
              <a:t>2026-07-13</a:t>
            </a:r>
          </a:p>
        </p:txBody>
      </p:sp>
      <p:sp>
        <p:nvSpPr>
          <p:cNvPr id="10" name="text-10">
            <a:extLst xmlns:a="http://schemas.openxmlformats.org/drawingml/2006/main">
              <a:ext uri="{FF2B5EF4-FFF2-40B4-BE49-F238E27FC236}">
                <a16:creationId xmlns:a16="http://schemas.microsoft.com/office/drawing/2014/main" id="{47D473DA-0E25-49B9-9CBC-2D39918A9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066800"/>
            <a:ext cx="171450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5400">
                <a:solidFill>
                  <a:srgbClr val="14B8A6"/>
                </a:solidFill>
                <a:latin typeface="PingFang SC"/>
                <a:ea typeface="PingFang SC"/>
                <a:cs typeface="PingFang SC"/>
              </a:defRPr>
            </a:pPr>
            <a:r>
              <a:rPr b="1"/>
              <a:t>5</a:t>
            </a:r>
          </a:p>
        </p:txBody>
      </p:sp>
      <p:sp>
        <p:nvSpPr>
          <p:cNvPr id="11" name="text-11">
            <a:extLst xmlns:a="http://schemas.openxmlformats.org/drawingml/2006/main">
              <a:ext uri="{FF2B5EF4-FFF2-40B4-BE49-F238E27FC236}">
                <a16:creationId xmlns:a16="http://schemas.microsoft.com/office/drawing/2014/main" id="{0390D025-9757-428A-A57B-157C37F3B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885950"/>
            <a:ext cx="2190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组实验配置</a:t>
            </a:r>
          </a:p>
        </p:txBody>
      </p:sp>
      <p:sp>
        <p:nvSpPr>
          <p:cNvPr id="12" name="text-12">
            <a:extLst xmlns:a="http://schemas.openxmlformats.org/drawingml/2006/main">
              <a:ext uri="{FF2B5EF4-FFF2-40B4-BE49-F238E27FC236}">
                <a16:creationId xmlns:a16="http://schemas.microsoft.com/office/drawing/2014/main" id="{7C28B8A6-BBE1-4B2E-8FD7-BE538D980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743200"/>
            <a:ext cx="238125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540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b="1"/>
              <a:t>320</a:t>
            </a:r>
          </a:p>
        </p:txBody>
      </p:sp>
      <p:sp>
        <p:nvSpPr>
          <p:cNvPr id="13" name="text-13">
            <a:extLst xmlns:a="http://schemas.openxmlformats.org/drawingml/2006/main">
              <a:ext uri="{FF2B5EF4-FFF2-40B4-BE49-F238E27FC236}">
                <a16:creationId xmlns:a16="http://schemas.microsoft.com/office/drawing/2014/main" id="{B7924783-902D-44F4-AFBF-46F6E576E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562350"/>
            <a:ext cx="2190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次成功调用</a:t>
            </a:r>
          </a:p>
        </p:txBody>
      </p:sp>
      <p:sp>
        <p:nvSpPr>
          <p:cNvPr id="14" name="text-14">
            <a:extLst xmlns:a="http://schemas.openxmlformats.org/drawingml/2006/main">
              <a:ext uri="{FF2B5EF4-FFF2-40B4-BE49-F238E27FC236}">
                <a16:creationId xmlns:a16="http://schemas.microsoft.com/office/drawing/2014/main" id="{2CB50625-2593-4E73-9620-373A6B817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438650"/>
            <a:ext cx="171450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5400">
                <a:solidFill>
                  <a:srgbClr val="F59E0B"/>
                </a:solidFill>
                <a:latin typeface="PingFang SC"/>
                <a:ea typeface="PingFang SC"/>
                <a:cs typeface="PingFang SC"/>
              </a:defRPr>
            </a:pPr>
            <a:r>
              <a:rPr b="1"/>
              <a:t>64</a:t>
            </a:r>
          </a:p>
        </p:txBody>
      </p:sp>
      <p:sp>
        <p:nvSpPr>
          <p:cNvPr id="15" name="text-15">
            <a:extLst xmlns:a="http://schemas.openxmlformats.org/drawingml/2006/main">
              <a:ext uri="{FF2B5EF4-FFF2-40B4-BE49-F238E27FC236}">
                <a16:creationId xmlns:a16="http://schemas.microsoft.com/office/drawing/2014/main" id="{26734135-5BBA-47C0-9EB6-B592643D3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5257800"/>
            <a:ext cx="2381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条双语合成样本</a:t>
            </a:r>
          </a:p>
        </p:txBody>
      </p:sp>
      <p:sp>
        <p:nvSpPr>
          <p:cNvPr id="16" name="text-16">
            <a:extLst xmlns:a="http://schemas.openxmlformats.org/drawingml/2006/main">
              <a:ext uri="{FF2B5EF4-FFF2-40B4-BE49-F238E27FC236}">
                <a16:creationId xmlns:a16="http://schemas.microsoft.com/office/drawing/2014/main" id="{777355D5-3A55-4680-B2C6-7555581B8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6019800"/>
            <a:ext cx="24765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EEF1F4"/>
                </a:solidFill>
                <a:latin typeface="PingFang SC"/>
                <a:ea typeface="PingFang SC"/>
                <a:cs typeface="PingFang SC"/>
              </a:defRPr>
            </a:pPr>
            <a:r>
              <a:rPr b="1"/>
              <a:t>结论是探索性的，不作组件级因果外推</a:t>
            </a:r>
          </a:p>
        </p:txBody>
      </p:sp>
    </p:spTree>
    <p:extLst>
      <p:ext uri="{BB962C8B-B14F-4D97-AF65-F5344CB8AC3E}">
        <p14:creationId xmlns:p14="http://schemas.microsoft.com/office/powerpoint/2010/main" val="48308789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-17">
            <a:extLst xmlns:a="http://schemas.openxmlformats.org/drawingml/2006/main">
              <a:ext uri="{FF2B5EF4-FFF2-40B4-BE49-F238E27FC236}">
                <a16:creationId xmlns:a16="http://schemas.microsoft.com/office/drawing/2014/main" id="{62683468-2E9B-4877-8E72-35B6FF7F8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6858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14B8A6"/>
                </a:solidFill>
                <a:latin typeface="PingFang SC"/>
                <a:ea typeface="PingFang SC"/>
                <a:cs typeface="PingFang SC"/>
              </a:defRPr>
            </a:pPr>
            <a:r>
              <a:rPr b="1"/>
              <a:t>EMOTION RECOGNITION · ABLATION STUDY</a:t>
            </a:r>
          </a:p>
        </p:txBody>
      </p:sp>
      <p:sp>
        <p:nvSpPr>
          <p:cNvPr id="2" name="text-18">
            <a:extLst xmlns:a="http://schemas.openxmlformats.org/drawingml/2006/main">
              <a:ext uri="{FF2B5EF4-FFF2-40B4-BE49-F238E27FC236}">
                <a16:creationId xmlns:a16="http://schemas.microsoft.com/office/drawing/2014/main" id="{9593D174-0D93-47F5-B7CA-E97141252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0075"/>
            <a:ext cx="10668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75">
                <a:solidFill>
                  <a:srgbClr val="0B1F33"/>
                </a:solidFill>
                <a:latin typeface="PingFang SC"/>
                <a:ea typeface="PingFang SC"/>
                <a:cs typeface="PingFang SC"/>
              </a:defRPr>
            </a:pPr>
            <a:r>
              <a:rPr b="1"/>
              <a:t>研究问题：哪些 Prompt 组件真正有用？</a:t>
            </a:r>
          </a:p>
        </p:txBody>
      </p:sp>
      <p:sp>
        <p:nvSpPr>
          <p:cNvPr id="3" name="shape-19">
            <a:extLst xmlns:a="http://schemas.openxmlformats.org/drawingml/2006/main">
              <a:ext uri="{FF2B5EF4-FFF2-40B4-BE49-F238E27FC236}">
                <a16:creationId xmlns:a16="http://schemas.microsoft.com/office/drawing/2014/main" id="{A38F1E2A-76E4-4ABB-AC88-01217986C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668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BE1"/>
          </a:solidFill>
          <a:ln xmlns:a="http://schemas.openxmlformats.org/drawingml/2006/main" w="0">
            <a:solidFill>
              <a:srgbClr val="D5DBE1"/>
            </a:solidFill>
            <a:prstDash val="solid"/>
          </a:ln>
        </p:spPr>
      </p:sp>
      <p:sp>
        <p:nvSpPr>
          <p:cNvPr id="4" name="text-20">
            <a:extLst xmlns:a="http://schemas.openxmlformats.org/drawingml/2006/main">
              <a:ext uri="{FF2B5EF4-FFF2-40B4-BE49-F238E27FC236}">
                <a16:creationId xmlns:a16="http://schemas.microsoft.com/office/drawing/2014/main" id="{F2D6C777-20CB-4256-B35A-C112FF99D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85750"/>
            <a:ext cx="495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F6B76"/>
                </a:solidFill>
                <a:latin typeface="PingFang SC"/>
                <a:ea typeface="PingFang SC"/>
                <a:cs typeface="PingFang SC"/>
              </a:defRPr>
            </a:pPr>
            <a:r>
              <a:rPr b="1"/>
              <a:t>02</a:t>
            </a:r>
          </a:p>
        </p:txBody>
      </p:sp>
      <p:sp>
        <p:nvSpPr>
          <p:cNvPr id="5" name="shape-21">
            <a:extLst xmlns:a="http://schemas.openxmlformats.org/drawingml/2006/main">
              <a:ext uri="{FF2B5EF4-FFF2-40B4-BE49-F238E27FC236}">
                <a16:creationId xmlns:a16="http://schemas.microsoft.com/office/drawing/2014/main" id="{D51E6AF4-BD25-4180-A097-96EAEC329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52600"/>
            <a:ext cx="3581400" cy="302895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5DBE1"/>
            </a:solidFill>
            <a:prstDash val="solid"/>
          </a:ln>
        </p:spPr>
      </p:sp>
      <p:sp>
        <p:nvSpPr>
          <p:cNvPr id="6" name="text-22">
            <a:extLst xmlns:a="http://schemas.openxmlformats.org/drawingml/2006/main">
              <a:ext uri="{FF2B5EF4-FFF2-40B4-BE49-F238E27FC236}">
                <a16:creationId xmlns:a16="http://schemas.microsoft.com/office/drawing/2014/main" id="{CE5307A4-67AA-470A-8BEC-79D92EE24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00250"/>
            <a:ext cx="666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4B8A6"/>
                </a:solidFill>
                <a:latin typeface="PingFang SC"/>
                <a:ea typeface="PingFang SC"/>
                <a:cs typeface="PingFang SC"/>
              </a:defRPr>
            </a:pPr>
            <a:r>
              <a:rPr b="1"/>
              <a:t>01</a:t>
            </a:r>
          </a:p>
        </p:txBody>
      </p:sp>
      <p:sp>
        <p:nvSpPr>
          <p:cNvPr id="7" name="shape-23">
            <a:extLst xmlns:a="http://schemas.openxmlformats.org/drawingml/2006/main">
              <a:ext uri="{FF2B5EF4-FFF2-40B4-BE49-F238E27FC236}">
                <a16:creationId xmlns:a16="http://schemas.microsoft.com/office/drawing/2014/main" id="{3EA81729-8CBC-4E1B-9DF6-771C9B042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76500"/>
            <a:ext cx="3086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  <a:prstDash val="solid"/>
          </a:ln>
        </p:spPr>
      </p:sp>
      <p:sp>
        <p:nvSpPr>
          <p:cNvPr id="8" name="text-24">
            <a:extLst xmlns:a="http://schemas.openxmlformats.org/drawingml/2006/main">
              <a:ext uri="{FF2B5EF4-FFF2-40B4-BE49-F238E27FC236}">
                <a16:creationId xmlns:a16="http://schemas.microsoft.com/office/drawing/2014/main" id="{F99B7C38-C81C-42B7-973B-EDC7AFE08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62250"/>
            <a:ext cx="30480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0B1F33"/>
                </a:solidFill>
                <a:latin typeface="PingFang SC"/>
                <a:ea typeface="PingFang SC"/>
                <a:cs typeface="PingFang SC"/>
              </a:defRPr>
            </a:pPr>
            <a:r>
              <a:rPr b="1"/>
              <a:t>示例选择</a:t>
            </a:r>
          </a:p>
        </p:txBody>
      </p:sp>
      <p:sp>
        <p:nvSpPr>
          <p:cNvPr id="9" name="text-25">
            <a:extLst xmlns:a="http://schemas.openxmlformats.org/drawingml/2006/main">
              <a:ext uri="{FF2B5EF4-FFF2-40B4-BE49-F238E27FC236}">
                <a16:creationId xmlns:a16="http://schemas.microsoft.com/office/drawing/2014/main" id="{EAE59B7D-E613-4C9E-BD80-5D42506B9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43300"/>
            <a:ext cx="30480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t>动态检索是否优于
固定静态示例？</a:t>
            </a:r>
          </a:p>
        </p:txBody>
      </p:sp>
      <p:sp>
        <p:nvSpPr>
          <p:cNvPr id="10" name="shape-26">
            <a:extLst xmlns:a="http://schemas.openxmlformats.org/drawingml/2006/main">
              <a:ext uri="{FF2B5EF4-FFF2-40B4-BE49-F238E27FC236}">
                <a16:creationId xmlns:a16="http://schemas.microsoft.com/office/drawing/2014/main" id="{2E3EE8B1-D7B3-4853-BA39-884E2E180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752600"/>
            <a:ext cx="3581400" cy="302895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5DBE1"/>
            </a:solidFill>
            <a:prstDash val="solid"/>
          </a:ln>
        </p:spPr>
      </p:sp>
      <p:sp>
        <p:nvSpPr>
          <p:cNvPr id="11" name="text-27">
            <a:extLst xmlns:a="http://schemas.openxmlformats.org/drawingml/2006/main">
              <a:ext uri="{FF2B5EF4-FFF2-40B4-BE49-F238E27FC236}">
                <a16:creationId xmlns:a16="http://schemas.microsoft.com/office/drawing/2014/main" id="{032913F4-E1B6-4E78-A78B-CF51E38B4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000250"/>
            <a:ext cx="666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73F5F"/>
                </a:solidFill>
                <a:latin typeface="PingFang SC"/>
                <a:ea typeface="PingFang SC"/>
                <a:cs typeface="PingFang SC"/>
              </a:defRPr>
            </a:pPr>
            <a:r>
              <a:rPr b="1"/>
              <a:t>02</a:t>
            </a:r>
          </a:p>
        </p:txBody>
      </p:sp>
      <p:sp>
        <p:nvSpPr>
          <p:cNvPr id="12" name="shape-28">
            <a:extLst xmlns:a="http://schemas.openxmlformats.org/drawingml/2006/main">
              <a:ext uri="{FF2B5EF4-FFF2-40B4-BE49-F238E27FC236}">
                <a16:creationId xmlns:a16="http://schemas.microsoft.com/office/drawing/2014/main" id="{71311E3B-C05F-410F-AFB7-B522995EB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476500"/>
            <a:ext cx="3086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F5F"/>
          </a:solidFill>
          <a:ln xmlns:a="http://schemas.openxmlformats.org/drawingml/2006/main" w="0">
            <a:solidFill>
              <a:srgbClr val="173F5F"/>
            </a:solidFill>
            <a:prstDash val="solid"/>
          </a:ln>
        </p:spPr>
      </p:sp>
      <p:sp>
        <p:nvSpPr>
          <p:cNvPr id="13" name="text-29">
            <a:extLst xmlns:a="http://schemas.openxmlformats.org/drawingml/2006/main">
              <a:ext uri="{FF2B5EF4-FFF2-40B4-BE49-F238E27FC236}">
                <a16:creationId xmlns:a16="http://schemas.microsoft.com/office/drawing/2014/main" id="{C8099B8D-471C-4A09-9B2B-DBCFFA55E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62250"/>
            <a:ext cx="30480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0B1F33"/>
                </a:solidFill>
                <a:latin typeface="PingFang SC"/>
                <a:ea typeface="PingFang SC"/>
                <a:cs typeface="PingFang SC"/>
              </a:defRPr>
            </a:pPr>
            <a:r>
              <a:rPr b="1"/>
              <a:t>情绪历史</a:t>
            </a:r>
          </a:p>
        </p:txBody>
      </p:sp>
      <p:sp>
        <p:nvSpPr>
          <p:cNvPr id="14" name="text-30">
            <a:extLst xmlns:a="http://schemas.openxmlformats.org/drawingml/2006/main">
              <a:ext uri="{FF2B5EF4-FFF2-40B4-BE49-F238E27FC236}">
                <a16:creationId xmlns:a16="http://schemas.microsoft.com/office/drawing/2014/main" id="{C31BFEF6-CBBB-4A32-A559-4AFEEB918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543300"/>
            <a:ext cx="30480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t>历史情绪先验是否
提升当前轮判别？</a:t>
            </a:r>
          </a:p>
        </p:txBody>
      </p:sp>
      <p:sp>
        <p:nvSpPr>
          <p:cNvPr id="15" name="shape-31">
            <a:extLst xmlns:a="http://schemas.openxmlformats.org/drawingml/2006/main">
              <a:ext uri="{FF2B5EF4-FFF2-40B4-BE49-F238E27FC236}">
                <a16:creationId xmlns:a16="http://schemas.microsoft.com/office/drawing/2014/main" id="{0FE9A608-073F-48B1-AAEF-751B0C941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752600"/>
            <a:ext cx="3581400" cy="302895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5DBE1"/>
            </a:solidFill>
            <a:prstDash val="solid"/>
          </a:ln>
        </p:spPr>
      </p:sp>
      <p:sp>
        <p:nvSpPr>
          <p:cNvPr id="16" name="text-32">
            <a:extLst xmlns:a="http://schemas.openxmlformats.org/drawingml/2006/main">
              <a:ext uri="{FF2B5EF4-FFF2-40B4-BE49-F238E27FC236}">
                <a16:creationId xmlns:a16="http://schemas.microsoft.com/office/drawing/2014/main" id="{6116606A-68E0-445B-A06C-258F9E590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000250"/>
            <a:ext cx="666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F59E0B"/>
                </a:solidFill>
                <a:latin typeface="PingFang SC"/>
                <a:ea typeface="PingFang SC"/>
                <a:cs typeface="PingFang SC"/>
              </a:defRPr>
            </a:pPr>
            <a:r>
              <a:rPr b="1"/>
              <a:t>03</a:t>
            </a:r>
          </a:p>
        </p:txBody>
      </p:sp>
      <p:sp>
        <p:nvSpPr>
          <p:cNvPr id="17" name="shape-33">
            <a:extLst xmlns:a="http://schemas.openxmlformats.org/drawingml/2006/main">
              <a:ext uri="{FF2B5EF4-FFF2-40B4-BE49-F238E27FC236}">
                <a16:creationId xmlns:a16="http://schemas.microsoft.com/office/drawing/2014/main" id="{3542EB0E-BA92-4107-9563-4E4B5F335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76500"/>
            <a:ext cx="3086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18" name="text-34">
            <a:extLst xmlns:a="http://schemas.openxmlformats.org/drawingml/2006/main">
              <a:ext uri="{FF2B5EF4-FFF2-40B4-BE49-F238E27FC236}">
                <a16:creationId xmlns:a16="http://schemas.microsoft.com/office/drawing/2014/main" id="{71AC3335-0192-4DD4-9E18-C7F70847C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762250"/>
            <a:ext cx="30480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0B1F33"/>
                </a:solidFill>
                <a:latin typeface="PingFang SC"/>
                <a:ea typeface="PingFang SC"/>
                <a:cs typeface="PingFang SC"/>
              </a:defRPr>
            </a:pPr>
            <a:r>
              <a:rPr b="1"/>
              <a:t>上下文长度</a:t>
            </a:r>
          </a:p>
        </p:txBody>
      </p:sp>
      <p:sp>
        <p:nvSpPr>
          <p:cNvPr id="19" name="text-35">
            <a:extLst xmlns:a="http://schemas.openxmlformats.org/drawingml/2006/main">
              <a:ext uri="{FF2B5EF4-FFF2-40B4-BE49-F238E27FC236}">
                <a16:creationId xmlns:a16="http://schemas.microsoft.com/office/drawing/2014/main" id="{0C3F86CC-423A-487C-94B1-944630C90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543300"/>
            <a:ext cx="30480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t>更多对话历史是否
带来稳定收益？</a:t>
            </a:r>
          </a:p>
        </p:txBody>
      </p:sp>
      <p:sp>
        <p:nvSpPr>
          <p:cNvPr id="20" name="shape-36">
            <a:extLst xmlns:a="http://schemas.openxmlformats.org/drawingml/2006/main">
              <a:ext uri="{FF2B5EF4-FFF2-40B4-BE49-F238E27FC236}">
                <a16:creationId xmlns:a16="http://schemas.microsoft.com/office/drawing/2014/main" id="{E7E18F1D-07A0-478B-8EEA-97374197F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62550"/>
            <a:ext cx="112776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solidFill>
              <a:srgbClr val="0B1F33"/>
            </a:solidFill>
            <a:prstDash val="solid"/>
          </a:ln>
        </p:spPr>
      </p:sp>
      <p:sp>
        <p:nvSpPr>
          <p:cNvPr id="21" name="text-37">
            <a:extLst xmlns:a="http://schemas.openxmlformats.org/drawingml/2006/main">
              <a:ext uri="{FF2B5EF4-FFF2-40B4-BE49-F238E27FC236}">
                <a16:creationId xmlns:a16="http://schemas.microsoft.com/office/drawing/2014/main" id="{58CCD6E8-FC1D-4FFA-8DA7-3317DFB0D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81625"/>
            <a:ext cx="106299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b="1"/>
              <a:t>消融实验不只看指标变化，还必须先证明：处理真的改变了模型输入。</a:t>
            </a:r>
          </a:p>
        </p:txBody>
      </p:sp>
      <p:sp>
        <p:nvSpPr>
          <p:cNvPr id="22" name="shape-38">
            <a:extLst xmlns:a="http://schemas.openxmlformats.org/drawingml/2006/main">
              <a:ext uri="{FF2B5EF4-FFF2-40B4-BE49-F238E27FC236}">
                <a16:creationId xmlns:a16="http://schemas.microsoft.com/office/drawing/2014/main" id="{08FE99A0-3F3B-45B5-A218-F5C0B70E0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BE1"/>
          </a:solidFill>
          <a:ln xmlns:a="http://schemas.openxmlformats.org/drawingml/2006/main" w="0">
            <a:solidFill>
              <a:srgbClr val="D5DBE1"/>
            </a:solidFill>
            <a:prstDash val="solid"/>
          </a:ln>
        </p:spPr>
      </p:sp>
      <p:sp>
        <p:nvSpPr>
          <p:cNvPr id="23" name="text-39">
            <a:extLst xmlns:a="http://schemas.openxmlformats.org/drawingml/2006/main">
              <a:ext uri="{FF2B5EF4-FFF2-40B4-BE49-F238E27FC236}">
                <a16:creationId xmlns:a16="http://schemas.microsoft.com/office/drawing/2014/main" id="{367AD41E-C070-4553-AE57-443B88BB5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5905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5F6B76"/>
                </a:solidFill>
                <a:latin typeface="PingFang SC"/>
                <a:ea typeface="PingFang SC"/>
                <a:cs typeface="PingFang SC"/>
              </a:defRPr>
            </a:pPr>
            <a:r>
              <a:t>来源：本地 Seed-64 实验记录</a:t>
            </a:r>
          </a:p>
        </p:txBody>
      </p:sp>
    </p:spTree>
    <p:extLst>
      <p:ext uri="{BB962C8B-B14F-4D97-AF65-F5344CB8AC3E}">
        <p14:creationId xmlns:p14="http://schemas.microsoft.com/office/powerpoint/2010/main" val="13154007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-40">
            <a:extLst xmlns:a="http://schemas.openxmlformats.org/drawingml/2006/main">
              <a:ext uri="{FF2B5EF4-FFF2-40B4-BE49-F238E27FC236}">
                <a16:creationId xmlns:a16="http://schemas.microsoft.com/office/drawing/2014/main" id="{345F6C7D-6D38-4F04-8101-5B44001C8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6858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14B8A6"/>
                </a:solidFill>
                <a:latin typeface="PingFang SC"/>
                <a:ea typeface="PingFang SC"/>
                <a:cs typeface="PingFang SC"/>
              </a:defRPr>
            </a:pPr>
            <a:r>
              <a:rPr b="1"/>
              <a:t>EMOTION RECOGNITION · ABLATION STUDY</a:t>
            </a:r>
          </a:p>
        </p:txBody>
      </p:sp>
      <p:sp>
        <p:nvSpPr>
          <p:cNvPr id="2" name="text-41">
            <a:extLst xmlns:a="http://schemas.openxmlformats.org/drawingml/2006/main">
              <a:ext uri="{FF2B5EF4-FFF2-40B4-BE49-F238E27FC236}">
                <a16:creationId xmlns:a16="http://schemas.microsoft.com/office/drawing/2014/main" id="{9BE6B79A-BB32-4C23-A008-941B529D9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0075"/>
            <a:ext cx="10668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75">
                <a:solidFill>
                  <a:srgbClr val="0B1F33"/>
                </a:solidFill>
                <a:latin typeface="PingFang SC"/>
                <a:ea typeface="PingFang SC"/>
                <a:cs typeface="PingFang SC"/>
              </a:defRPr>
            </a:pPr>
            <a:r>
              <a:rPr b="1"/>
              <a:t>实验对象：干预的是 Prompt 构造链路</a:t>
            </a:r>
          </a:p>
        </p:txBody>
      </p:sp>
      <p:sp>
        <p:nvSpPr>
          <p:cNvPr id="3" name="shape-42">
            <a:extLst xmlns:a="http://schemas.openxmlformats.org/drawingml/2006/main">
              <a:ext uri="{FF2B5EF4-FFF2-40B4-BE49-F238E27FC236}">
                <a16:creationId xmlns:a16="http://schemas.microsoft.com/office/drawing/2014/main" id="{9632DBC4-0F36-4415-B970-FE3A77D29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668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BE1"/>
          </a:solidFill>
          <a:ln xmlns:a="http://schemas.openxmlformats.org/drawingml/2006/main" w="0">
            <a:solidFill>
              <a:srgbClr val="D5DBE1"/>
            </a:solidFill>
            <a:prstDash val="solid"/>
          </a:ln>
        </p:spPr>
      </p:sp>
      <p:sp>
        <p:nvSpPr>
          <p:cNvPr id="4" name="text-43">
            <a:extLst xmlns:a="http://schemas.openxmlformats.org/drawingml/2006/main">
              <a:ext uri="{FF2B5EF4-FFF2-40B4-BE49-F238E27FC236}">
                <a16:creationId xmlns:a16="http://schemas.microsoft.com/office/drawing/2014/main" id="{161D3E7A-70D4-4857-B601-744D7BF65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85750"/>
            <a:ext cx="495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F6B76"/>
                </a:solidFill>
                <a:latin typeface="PingFang SC"/>
                <a:ea typeface="PingFang SC"/>
                <a:cs typeface="PingFang SC"/>
              </a:defRPr>
            </a:pPr>
            <a:r>
              <a:rPr b="1"/>
              <a:t>03</a:t>
            </a:r>
          </a:p>
        </p:txBody>
      </p:sp>
      <p:sp>
        <p:nvSpPr>
          <p:cNvPr id="5" name="shape-44">
            <a:extLst xmlns:a="http://schemas.openxmlformats.org/drawingml/2006/main">
              <a:ext uri="{FF2B5EF4-FFF2-40B4-BE49-F238E27FC236}">
                <a16:creationId xmlns:a16="http://schemas.microsoft.com/office/drawing/2014/main" id="{903B73F0-E833-4E30-84C3-A8097564D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390650"/>
            <a:ext cx="36004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2D6"/>
          </a:solidFill>
          <a:ln xmlns:a="http://schemas.openxmlformats.org/drawingml/2006/main" w="0">
            <a:solidFill>
              <a:srgbClr val="FFF2D6"/>
            </a:solidFill>
            <a:prstDash val="solid"/>
          </a:ln>
        </p:spPr>
      </p:sp>
      <p:sp>
        <p:nvSpPr>
          <p:cNvPr id="6" name="text-45">
            <a:extLst xmlns:a="http://schemas.openxmlformats.org/drawingml/2006/main">
              <a:ext uri="{FF2B5EF4-FFF2-40B4-BE49-F238E27FC236}">
                <a16:creationId xmlns:a16="http://schemas.microsoft.com/office/drawing/2014/main" id="{B6B2FE1F-FBC5-4C16-8530-EF1B8595C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438275"/>
            <a:ext cx="3409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C2413B"/>
                </a:solidFill>
                <a:latin typeface="PingFang SC"/>
                <a:ea typeface="PingFang SC"/>
                <a:cs typeface="PingFang SC"/>
              </a:defRPr>
            </a:pPr>
            <a:r>
              <a:rPr b="1"/>
              <a:t>评估 Codex CLI Agent 链路，而非裸模型 API</a:t>
            </a:r>
          </a:p>
        </p:txBody>
      </p:sp>
      <p:sp>
        <p:nvSpPr>
          <p:cNvPr id="7" name="shape-46">
            <a:extLst xmlns:a="http://schemas.openxmlformats.org/drawingml/2006/main">
              <a:ext uri="{FF2B5EF4-FFF2-40B4-BE49-F238E27FC236}">
                <a16:creationId xmlns:a16="http://schemas.microsoft.com/office/drawing/2014/main" id="{973D9EB3-4A2D-4273-89BF-DA2F0E439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33625"/>
            <a:ext cx="1962150" cy="203835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3F5F"/>
            </a:solidFill>
            <a:prstDash val="solid"/>
          </a:ln>
        </p:spPr>
      </p:sp>
      <p:sp>
        <p:nvSpPr>
          <p:cNvPr id="8" name="shape-47">
            <a:extLst xmlns:a="http://schemas.openxmlformats.org/drawingml/2006/main">
              <a:ext uri="{FF2B5EF4-FFF2-40B4-BE49-F238E27FC236}">
                <a16:creationId xmlns:a16="http://schemas.microsoft.com/office/drawing/2014/main" id="{D8F930CF-B967-4147-8C47-0C8B5BA7B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33625"/>
            <a:ext cx="19621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3F5F"/>
          </a:solidFill>
          <a:ln xmlns:a="http://schemas.openxmlformats.org/drawingml/2006/main" w="0">
            <a:solidFill>
              <a:srgbClr val="173F5F"/>
            </a:solidFill>
            <a:prstDash val="solid"/>
          </a:ln>
        </p:spPr>
      </p:sp>
      <p:sp>
        <p:nvSpPr>
          <p:cNvPr id="9" name="text-48">
            <a:extLst xmlns:a="http://schemas.openxmlformats.org/drawingml/2006/main">
              <a:ext uri="{FF2B5EF4-FFF2-40B4-BE49-F238E27FC236}">
                <a16:creationId xmlns:a16="http://schemas.microsoft.com/office/drawing/2014/main" id="{8E8A6772-EE1B-4C9C-BBE3-60A5CE819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57475"/>
            <a:ext cx="476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173F5F"/>
                </a:solidFill>
                <a:latin typeface="PingFang SC"/>
                <a:ea typeface="PingFang SC"/>
                <a:cs typeface="PingFang SC"/>
              </a:defRPr>
            </a:pPr>
            <a:r>
              <a:rPr b="1"/>
              <a:t>01</a:t>
            </a:r>
          </a:p>
        </p:txBody>
      </p:sp>
      <p:sp>
        <p:nvSpPr>
          <p:cNvPr id="10" name="text-49">
            <a:extLst xmlns:a="http://schemas.openxmlformats.org/drawingml/2006/main">
              <a:ext uri="{FF2B5EF4-FFF2-40B4-BE49-F238E27FC236}">
                <a16:creationId xmlns:a16="http://schemas.microsoft.com/office/drawing/2014/main" id="{F85D36C7-D137-42C2-B010-191241653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05150"/>
            <a:ext cx="16192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0B1F33"/>
                </a:solidFill>
                <a:latin typeface="PingFang SC"/>
                <a:ea typeface="PingFang SC"/>
                <a:cs typeface="PingFang SC"/>
              </a:defRPr>
            </a:pPr>
            <a:r>
              <a:rPr b="1"/>
              <a:t>对话输入</a:t>
            </a:r>
          </a:p>
        </p:txBody>
      </p:sp>
      <p:sp>
        <p:nvSpPr>
          <p:cNvPr id="11" name="text-50">
            <a:extLst xmlns:a="http://schemas.openxmlformats.org/drawingml/2006/main">
              <a:ext uri="{FF2B5EF4-FFF2-40B4-BE49-F238E27FC236}">
                <a16:creationId xmlns:a16="http://schemas.microsoft.com/office/drawing/2014/main" id="{50A8453C-AD4F-4581-9217-E524F7299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14750"/>
            <a:ext cx="16192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F6B76"/>
                </a:solidFill>
                <a:latin typeface="PingFang SC"/>
                <a:ea typeface="PingFang SC"/>
                <a:cs typeface="PingFang SC"/>
              </a:defRPr>
            </a:pPr>
            <a:r>
              <a:t>当前话语 + 历史</a:t>
            </a:r>
          </a:p>
        </p:txBody>
      </p:sp>
      <p:sp>
        <p:nvSpPr>
          <p:cNvPr id="12" name="text-51">
            <a:extLst xmlns:a="http://schemas.openxmlformats.org/drawingml/2006/main">
              <a:ext uri="{FF2B5EF4-FFF2-40B4-BE49-F238E27FC236}">
                <a16:creationId xmlns:a16="http://schemas.microsoft.com/office/drawing/2014/main" id="{F8527A52-85B9-4AA0-BA5F-A84B14181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3133725"/>
            <a:ext cx="2476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86682"/>
          </a:bodyPr>
          <a:lstStyle xmlns:a="http://schemas.openxmlformats.org/drawingml/2006/main"/>
          <a:p xmlns:a="http://schemas.openxmlformats.org/drawingml/2006/main">
            <a:pPr algn="ctr">
              <a:defRPr sz="2250">
                <a:solidFill>
                  <a:srgbClr val="9AA5B1"/>
                </a:solidFill>
                <a:latin typeface="PingFang SC"/>
                <a:ea typeface="PingFang SC"/>
                <a:cs typeface="PingFang SC"/>
              </a:defRPr>
            </a:pPr>
            <a:r>
              <a:rPr b="1"/>
              <a:t>→</a:t>
            </a:r>
          </a:p>
        </p:txBody>
      </p:sp>
      <p:sp>
        <p:nvSpPr>
          <p:cNvPr id="13" name="shape-52">
            <a:extLst xmlns:a="http://schemas.openxmlformats.org/drawingml/2006/main">
              <a:ext uri="{FF2B5EF4-FFF2-40B4-BE49-F238E27FC236}">
                <a16:creationId xmlns:a16="http://schemas.microsoft.com/office/drawing/2014/main" id="{902A1F27-E736-4AE5-87E1-38FC411F5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333625"/>
            <a:ext cx="1962150" cy="203835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3F5F"/>
            </a:solidFill>
            <a:prstDash val="solid"/>
          </a:ln>
        </p:spPr>
      </p:sp>
      <p:sp>
        <p:nvSpPr>
          <p:cNvPr id="14" name="shape-53">
            <a:extLst xmlns:a="http://schemas.openxmlformats.org/drawingml/2006/main">
              <a:ext uri="{FF2B5EF4-FFF2-40B4-BE49-F238E27FC236}">
                <a16:creationId xmlns:a16="http://schemas.microsoft.com/office/drawing/2014/main" id="{930257E5-FCDD-4D81-B59C-A00B3F078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333625"/>
            <a:ext cx="19621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3F5F"/>
          </a:solidFill>
          <a:ln xmlns:a="http://schemas.openxmlformats.org/drawingml/2006/main" w="0">
            <a:solidFill>
              <a:srgbClr val="173F5F"/>
            </a:solidFill>
            <a:prstDash val="solid"/>
          </a:ln>
        </p:spPr>
      </p:sp>
      <p:sp>
        <p:nvSpPr>
          <p:cNvPr id="15" name="text-54">
            <a:extLst xmlns:a="http://schemas.openxmlformats.org/drawingml/2006/main">
              <a:ext uri="{FF2B5EF4-FFF2-40B4-BE49-F238E27FC236}">
                <a16:creationId xmlns:a16="http://schemas.microsoft.com/office/drawing/2014/main" id="{0526570C-A084-4C1F-AA54-0D882A93A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657475"/>
            <a:ext cx="476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173F5F"/>
                </a:solidFill>
                <a:latin typeface="PingFang SC"/>
                <a:ea typeface="PingFang SC"/>
                <a:cs typeface="PingFang SC"/>
              </a:defRPr>
            </a:pPr>
            <a:r>
              <a:rPr b="1"/>
              <a:t>02</a:t>
            </a:r>
          </a:p>
        </p:txBody>
      </p:sp>
      <p:sp>
        <p:nvSpPr>
          <p:cNvPr id="16" name="text-55">
            <a:extLst xmlns:a="http://schemas.openxmlformats.org/drawingml/2006/main">
              <a:ext uri="{FF2B5EF4-FFF2-40B4-BE49-F238E27FC236}">
                <a16:creationId xmlns:a16="http://schemas.microsoft.com/office/drawing/2014/main" id="{28F134A0-15A0-4A40-95EB-4776C3E6D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105150"/>
            <a:ext cx="16192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0B1F33"/>
                </a:solidFill>
                <a:latin typeface="PingFang SC"/>
                <a:ea typeface="PingFang SC"/>
                <a:cs typeface="PingFang SC"/>
              </a:defRPr>
            </a:pPr>
            <a:r>
              <a:rPr b="1"/>
              <a:t>上下文组织</a:t>
            </a:r>
          </a:p>
        </p:txBody>
      </p:sp>
      <p:sp>
        <p:nvSpPr>
          <p:cNvPr id="17" name="text-56">
            <a:extLst xmlns:a="http://schemas.openxmlformats.org/drawingml/2006/main">
              <a:ext uri="{FF2B5EF4-FFF2-40B4-BE49-F238E27FC236}">
                <a16:creationId xmlns:a16="http://schemas.microsoft.com/office/drawing/2014/main" id="{2219E3CE-3793-4BCA-916E-26B0D3C6F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714750"/>
            <a:ext cx="16192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F6B76"/>
                </a:solidFill>
                <a:latin typeface="PingFang SC"/>
                <a:ea typeface="PingFang SC"/>
                <a:cs typeface="PingFang SC"/>
              </a:defRPr>
            </a:pPr>
            <a:r>
              <a:t>窗口与历史字段</a:t>
            </a:r>
          </a:p>
        </p:txBody>
      </p:sp>
      <p:sp>
        <p:nvSpPr>
          <p:cNvPr id="18" name="text-57">
            <a:extLst xmlns:a="http://schemas.openxmlformats.org/drawingml/2006/main">
              <a:ext uri="{FF2B5EF4-FFF2-40B4-BE49-F238E27FC236}">
                <a16:creationId xmlns:a16="http://schemas.microsoft.com/office/drawing/2014/main" id="{F4D919B5-39BE-485E-9476-7AB559F82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133725"/>
            <a:ext cx="2476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86682"/>
          </a:bodyPr>
          <a:lstStyle xmlns:a="http://schemas.openxmlformats.org/drawingml/2006/main"/>
          <a:p xmlns:a="http://schemas.openxmlformats.org/drawingml/2006/main">
            <a:pPr algn="ctr">
              <a:defRPr sz="2250">
                <a:solidFill>
                  <a:srgbClr val="9AA5B1"/>
                </a:solidFill>
                <a:latin typeface="PingFang SC"/>
                <a:ea typeface="PingFang SC"/>
                <a:cs typeface="PingFang SC"/>
              </a:defRPr>
            </a:pPr>
            <a:r>
              <a:rPr b="1"/>
              <a:t>→</a:t>
            </a:r>
          </a:p>
        </p:txBody>
      </p:sp>
      <p:sp>
        <p:nvSpPr>
          <p:cNvPr id="19" name="shape-58">
            <a:extLst xmlns:a="http://schemas.openxmlformats.org/drawingml/2006/main">
              <a:ext uri="{FF2B5EF4-FFF2-40B4-BE49-F238E27FC236}">
                <a16:creationId xmlns:a16="http://schemas.microsoft.com/office/drawing/2014/main" id="{0B01879C-6F13-47A4-9D24-108BCE92A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333625"/>
            <a:ext cx="1962150" cy="203835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4B8A6"/>
            </a:solidFill>
            <a:prstDash val="solid"/>
          </a:ln>
        </p:spPr>
      </p:sp>
      <p:sp>
        <p:nvSpPr>
          <p:cNvPr id="20" name="shape-59">
            <a:extLst xmlns:a="http://schemas.openxmlformats.org/drawingml/2006/main">
              <a:ext uri="{FF2B5EF4-FFF2-40B4-BE49-F238E27FC236}">
                <a16:creationId xmlns:a16="http://schemas.microsoft.com/office/drawing/2014/main" id="{80705FA5-0862-49CB-85B2-B77E4D29D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333625"/>
            <a:ext cx="19621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  <a:prstDash val="solid"/>
          </a:ln>
        </p:spPr>
      </p:sp>
      <p:sp>
        <p:nvSpPr>
          <p:cNvPr id="21" name="text-60">
            <a:extLst xmlns:a="http://schemas.openxmlformats.org/drawingml/2006/main">
              <a:ext uri="{FF2B5EF4-FFF2-40B4-BE49-F238E27FC236}">
                <a16:creationId xmlns:a16="http://schemas.microsoft.com/office/drawing/2014/main" id="{9B0C847B-8DA2-49C4-B2B9-35FB55A4D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657475"/>
            <a:ext cx="476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14B8A6"/>
                </a:solidFill>
                <a:latin typeface="PingFang SC"/>
                <a:ea typeface="PingFang SC"/>
                <a:cs typeface="PingFang SC"/>
              </a:defRPr>
            </a:pPr>
            <a:r>
              <a:rPr b="1"/>
              <a:t>03</a:t>
            </a:r>
          </a:p>
        </p:txBody>
      </p:sp>
      <p:sp>
        <p:nvSpPr>
          <p:cNvPr id="22" name="text-61">
            <a:extLst xmlns:a="http://schemas.openxmlformats.org/drawingml/2006/main">
              <a:ext uri="{FF2B5EF4-FFF2-40B4-BE49-F238E27FC236}">
                <a16:creationId xmlns:a16="http://schemas.microsoft.com/office/drawing/2014/main" id="{296111F3-FEC3-416A-ACFF-7FD0FC9C1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105150"/>
            <a:ext cx="16192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6682"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0B1F33"/>
                </a:solidFill>
                <a:latin typeface="PingFang SC"/>
                <a:ea typeface="PingFang SC"/>
                <a:cs typeface="PingFang SC"/>
              </a:defRPr>
            </a:pPr>
            <a:r>
              <a:rPr b="1"/>
              <a:t>few-shot 示例</a:t>
            </a:r>
          </a:p>
        </p:txBody>
      </p:sp>
      <p:sp>
        <p:nvSpPr>
          <p:cNvPr id="23" name="text-62">
            <a:extLst xmlns:a="http://schemas.openxmlformats.org/drawingml/2006/main">
              <a:ext uri="{FF2B5EF4-FFF2-40B4-BE49-F238E27FC236}">
                <a16:creationId xmlns:a16="http://schemas.microsoft.com/office/drawing/2014/main" id="{9EF5B958-D39F-44F5-9999-D0BCA2D20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714750"/>
            <a:ext cx="16192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F6B76"/>
                </a:solidFill>
                <a:latin typeface="PingFang SC"/>
                <a:ea typeface="PingFang SC"/>
                <a:cs typeface="PingFang SC"/>
              </a:defRPr>
            </a:pPr>
            <a:r>
              <a:t>动态检索 / 静态</a:t>
            </a:r>
          </a:p>
        </p:txBody>
      </p:sp>
      <p:sp>
        <p:nvSpPr>
          <p:cNvPr id="24" name="text-63">
            <a:extLst xmlns:a="http://schemas.openxmlformats.org/drawingml/2006/main">
              <a:ext uri="{FF2B5EF4-FFF2-40B4-BE49-F238E27FC236}">
                <a16:creationId xmlns:a16="http://schemas.microsoft.com/office/drawing/2014/main" id="{839679E6-5B02-4B4A-8571-B989BEA5E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3133725"/>
            <a:ext cx="2476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86682"/>
          </a:bodyPr>
          <a:lstStyle xmlns:a="http://schemas.openxmlformats.org/drawingml/2006/main"/>
          <a:p xmlns:a="http://schemas.openxmlformats.org/drawingml/2006/main">
            <a:pPr algn="ctr">
              <a:defRPr sz="2250">
                <a:solidFill>
                  <a:srgbClr val="9AA5B1"/>
                </a:solidFill>
                <a:latin typeface="PingFang SC"/>
                <a:ea typeface="PingFang SC"/>
                <a:cs typeface="PingFang SC"/>
              </a:defRPr>
            </a:pPr>
            <a:r>
              <a:rPr b="1"/>
              <a:t>→</a:t>
            </a:r>
          </a:p>
        </p:txBody>
      </p:sp>
      <p:sp>
        <p:nvSpPr>
          <p:cNvPr id="25" name="shape-64">
            <a:extLst xmlns:a="http://schemas.openxmlformats.org/drawingml/2006/main">
              <a:ext uri="{FF2B5EF4-FFF2-40B4-BE49-F238E27FC236}">
                <a16:creationId xmlns:a16="http://schemas.microsoft.com/office/drawing/2014/main" id="{FD4F49ED-F3BA-444C-BC9B-E33E01861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333625"/>
            <a:ext cx="1962150" cy="203835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1F33"/>
            </a:solidFill>
            <a:prstDash val="solid"/>
          </a:ln>
        </p:spPr>
      </p:sp>
      <p:sp>
        <p:nvSpPr>
          <p:cNvPr id="26" name="shape-65">
            <a:extLst xmlns:a="http://schemas.openxmlformats.org/drawingml/2006/main">
              <a:ext uri="{FF2B5EF4-FFF2-40B4-BE49-F238E27FC236}">
                <a16:creationId xmlns:a16="http://schemas.microsoft.com/office/drawing/2014/main" id="{D333B44E-9B8B-436F-9E92-7563226FD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333625"/>
            <a:ext cx="19621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solidFill>
              <a:srgbClr val="0B1F33"/>
            </a:solidFill>
            <a:prstDash val="solid"/>
          </a:ln>
        </p:spPr>
      </p:sp>
      <p:sp>
        <p:nvSpPr>
          <p:cNvPr id="27" name="text-66">
            <a:extLst xmlns:a="http://schemas.openxmlformats.org/drawingml/2006/main">
              <a:ext uri="{FF2B5EF4-FFF2-40B4-BE49-F238E27FC236}">
                <a16:creationId xmlns:a16="http://schemas.microsoft.com/office/drawing/2014/main" id="{8EF505DB-55FD-473F-BC9C-BB374525B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657475"/>
            <a:ext cx="476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0B1F33"/>
                </a:solidFill>
                <a:latin typeface="PingFang SC"/>
                <a:ea typeface="PingFang SC"/>
                <a:cs typeface="PingFang SC"/>
              </a:defRPr>
            </a:pPr>
            <a:r>
              <a:rPr b="1"/>
              <a:t>04</a:t>
            </a:r>
          </a:p>
        </p:txBody>
      </p:sp>
      <p:sp>
        <p:nvSpPr>
          <p:cNvPr id="28" name="text-67">
            <a:extLst xmlns:a="http://schemas.openxmlformats.org/drawingml/2006/main">
              <a:ext uri="{FF2B5EF4-FFF2-40B4-BE49-F238E27FC236}">
                <a16:creationId xmlns:a16="http://schemas.microsoft.com/office/drawing/2014/main" id="{C1338EF3-5E60-4E46-BEFD-D277846B3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105150"/>
            <a:ext cx="16192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0B1F33"/>
                </a:solidFill>
                <a:latin typeface="PingFang SC"/>
                <a:ea typeface="PingFang SC"/>
                <a:cs typeface="PingFang SC"/>
              </a:defRPr>
            </a:pPr>
            <a:r>
              <a:rPr b="1"/>
              <a:t>Codex CLI</a:t>
            </a:r>
          </a:p>
        </p:txBody>
      </p:sp>
      <p:sp>
        <p:nvSpPr>
          <p:cNvPr id="29" name="text-68">
            <a:extLst xmlns:a="http://schemas.openxmlformats.org/drawingml/2006/main">
              <a:ext uri="{FF2B5EF4-FFF2-40B4-BE49-F238E27FC236}">
                <a16:creationId xmlns:a16="http://schemas.microsoft.com/office/drawing/2014/main" id="{4233DA0E-D8A5-46F2-B9C1-981A21B1B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714750"/>
            <a:ext cx="16192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F6B76"/>
                </a:solidFill>
                <a:latin typeface="PingFang SC"/>
                <a:ea typeface="PingFang SC"/>
                <a:cs typeface="PingFang SC"/>
              </a:defRPr>
            </a:pPr>
            <a:r>
              <a:t>Agent 执行链路</a:t>
            </a:r>
          </a:p>
        </p:txBody>
      </p:sp>
      <p:sp>
        <p:nvSpPr>
          <p:cNvPr id="30" name="text-69">
            <a:extLst xmlns:a="http://schemas.openxmlformats.org/drawingml/2006/main">
              <a:ext uri="{FF2B5EF4-FFF2-40B4-BE49-F238E27FC236}">
                <a16:creationId xmlns:a16="http://schemas.microsoft.com/office/drawing/2014/main" id="{162F296A-8C1F-4E04-B42A-2F8332D8E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3133725"/>
            <a:ext cx="2476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86682"/>
          </a:bodyPr>
          <a:lstStyle xmlns:a="http://schemas.openxmlformats.org/drawingml/2006/main"/>
          <a:p xmlns:a="http://schemas.openxmlformats.org/drawingml/2006/main">
            <a:pPr algn="ctr">
              <a:defRPr sz="2250">
                <a:solidFill>
                  <a:srgbClr val="9AA5B1"/>
                </a:solidFill>
                <a:latin typeface="PingFang SC"/>
                <a:ea typeface="PingFang SC"/>
                <a:cs typeface="PingFang SC"/>
              </a:defRPr>
            </a:pPr>
            <a:r>
              <a:rPr b="1"/>
              <a:t>→</a:t>
            </a:r>
          </a:p>
        </p:txBody>
      </p:sp>
      <p:sp>
        <p:nvSpPr>
          <p:cNvPr id="31" name="shape-70">
            <a:extLst xmlns:a="http://schemas.openxmlformats.org/drawingml/2006/main">
              <a:ext uri="{FF2B5EF4-FFF2-40B4-BE49-F238E27FC236}">
                <a16:creationId xmlns:a16="http://schemas.microsoft.com/office/drawing/2014/main" id="{6483D9CE-AA43-44DB-8BD4-1E71D7243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333625"/>
            <a:ext cx="1962150" cy="203835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97732"/>
            </a:solidFill>
            <a:prstDash val="solid"/>
          </a:ln>
        </p:spPr>
      </p:sp>
      <p:sp>
        <p:nvSpPr>
          <p:cNvPr id="32" name="shape-71">
            <a:extLst xmlns:a="http://schemas.openxmlformats.org/drawingml/2006/main">
              <a:ext uri="{FF2B5EF4-FFF2-40B4-BE49-F238E27FC236}">
                <a16:creationId xmlns:a16="http://schemas.microsoft.com/office/drawing/2014/main" id="{94DB51BE-91F0-412D-B8D7-3E3249238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333625"/>
            <a:ext cx="19621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7732"/>
          </a:solidFill>
          <a:ln xmlns:a="http://schemas.openxmlformats.org/drawingml/2006/main" w="0">
            <a:solidFill>
              <a:srgbClr val="E97732"/>
            </a:solidFill>
            <a:prstDash val="solid"/>
          </a:ln>
        </p:spPr>
      </p:sp>
      <p:sp>
        <p:nvSpPr>
          <p:cNvPr id="33" name="text-72">
            <a:extLst xmlns:a="http://schemas.openxmlformats.org/drawingml/2006/main">
              <a:ext uri="{FF2B5EF4-FFF2-40B4-BE49-F238E27FC236}">
                <a16:creationId xmlns:a16="http://schemas.microsoft.com/office/drawing/2014/main" id="{4B2184C7-9B5A-487A-A966-3EA5D77BD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657475"/>
            <a:ext cx="476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E97732"/>
                </a:solidFill>
                <a:latin typeface="PingFang SC"/>
                <a:ea typeface="PingFang SC"/>
                <a:cs typeface="PingFang SC"/>
              </a:defRPr>
            </a:pPr>
            <a:r>
              <a:rPr b="1"/>
              <a:t>05</a:t>
            </a:r>
          </a:p>
        </p:txBody>
      </p:sp>
      <p:sp>
        <p:nvSpPr>
          <p:cNvPr id="34" name="text-73">
            <a:extLst xmlns:a="http://schemas.openxmlformats.org/drawingml/2006/main">
              <a:ext uri="{FF2B5EF4-FFF2-40B4-BE49-F238E27FC236}">
                <a16:creationId xmlns:a16="http://schemas.microsoft.com/office/drawing/2014/main" id="{4305B3C3-97D8-466A-8441-8A3B84EB3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105150"/>
            <a:ext cx="16192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0B1F33"/>
                </a:solidFill>
                <a:latin typeface="PingFang SC"/>
                <a:ea typeface="PingFang SC"/>
                <a:cs typeface="PingFang SC"/>
              </a:defRPr>
            </a:pPr>
            <a:r>
              <a:rPr b="1"/>
              <a:t>情绪标签</a:t>
            </a:r>
          </a:p>
        </p:txBody>
      </p:sp>
      <p:sp>
        <p:nvSpPr>
          <p:cNvPr id="35" name="text-74">
            <a:extLst xmlns:a="http://schemas.openxmlformats.org/drawingml/2006/main">
              <a:ext uri="{FF2B5EF4-FFF2-40B4-BE49-F238E27FC236}">
                <a16:creationId xmlns:a16="http://schemas.microsoft.com/office/drawing/2014/main" id="{482746F5-FEC1-450E-A39B-04B8F821F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714750"/>
            <a:ext cx="16192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F6B76"/>
                </a:solidFill>
                <a:latin typeface="PingFang SC"/>
                <a:ea typeface="PingFang SC"/>
                <a:cs typeface="PingFang SC"/>
              </a:defRPr>
            </a:pPr>
            <a:r>
              <a:t>32 类预测</a:t>
            </a:r>
          </a:p>
        </p:txBody>
      </p:sp>
      <p:sp>
        <p:nvSpPr>
          <p:cNvPr id="36" name="shape-75">
            <a:extLst xmlns:a="http://schemas.openxmlformats.org/drawingml/2006/main">
              <a:ext uri="{FF2B5EF4-FFF2-40B4-BE49-F238E27FC236}">
                <a16:creationId xmlns:a16="http://schemas.microsoft.com/office/drawing/2014/main" id="{E4539136-C83C-4446-9FCA-06B59ABD8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00600"/>
            <a:ext cx="11277600" cy="1085850"/>
          </a:xfrm>
          <a:prstGeom xmlns:a="http://schemas.openxmlformats.org/drawingml/2006/main" prst="roundRect">
            <a:avLst>
              <a:gd name="adj" fmla="val 7018"/>
            </a:avLst>
          </a:prstGeom>
          <a:solidFill xmlns:a="http://schemas.openxmlformats.org/drawingml/2006/main">
            <a:srgbClr val="DDF7F3"/>
          </a:solidFill>
          <a:ln xmlns:a="http://schemas.openxmlformats.org/drawingml/2006/main" w="0">
            <a:solidFill>
              <a:srgbClr val="DDF7F3"/>
            </a:solidFill>
            <a:prstDash val="solid"/>
          </a:ln>
        </p:spPr>
      </p:sp>
      <p:sp>
        <p:nvSpPr>
          <p:cNvPr id="37" name="text-76">
            <a:extLst xmlns:a="http://schemas.openxmlformats.org/drawingml/2006/main">
              <a:ext uri="{FF2B5EF4-FFF2-40B4-BE49-F238E27FC236}">
                <a16:creationId xmlns:a16="http://schemas.microsoft.com/office/drawing/2014/main" id="{A30291FC-2365-4E0F-A435-35F79EC8F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6350"/>
            <a:ext cx="10668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173F5F"/>
                </a:solidFill>
                <a:latin typeface="PingFang SC"/>
                <a:ea typeface="PingFang SC"/>
                <a:cs typeface="PingFang SC"/>
              </a:defRPr>
            </a:pPr>
            <a:r>
              <a:rPr b="1"/>
              <a:t>本次消融的唯一目标变量应当是 Prompt 中的组件；因此逐 case_id 比较实际输入，是解释指标前的必要步骤。</a:t>
            </a:r>
          </a:p>
        </p:txBody>
      </p:sp>
      <p:sp>
        <p:nvSpPr>
          <p:cNvPr id="38" name="shape-77">
            <a:extLst xmlns:a="http://schemas.openxmlformats.org/drawingml/2006/main">
              <a:ext uri="{FF2B5EF4-FFF2-40B4-BE49-F238E27FC236}">
                <a16:creationId xmlns:a16="http://schemas.microsoft.com/office/drawing/2014/main" id="{9C4C1062-A143-4684-A619-66180B5E6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BE1"/>
          </a:solidFill>
          <a:ln xmlns:a="http://schemas.openxmlformats.org/drawingml/2006/main" w="0">
            <a:solidFill>
              <a:srgbClr val="D5DBE1"/>
            </a:solidFill>
            <a:prstDash val="solid"/>
          </a:ln>
        </p:spPr>
      </p:sp>
      <p:sp>
        <p:nvSpPr>
          <p:cNvPr id="39" name="text-78">
            <a:extLst xmlns:a="http://schemas.openxmlformats.org/drawingml/2006/main">
              <a:ext uri="{FF2B5EF4-FFF2-40B4-BE49-F238E27FC236}">
                <a16:creationId xmlns:a16="http://schemas.microsoft.com/office/drawing/2014/main" id="{55D47F23-FFA8-423C-8367-7A348FB74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5905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5F6B76"/>
                </a:solidFill>
                <a:latin typeface="PingFang SC"/>
                <a:ea typeface="PingFang SC"/>
                <a:cs typeface="PingFang SC"/>
              </a:defRPr>
            </a:pPr>
            <a:r>
              <a:t>来源：本地 Seed-64 实验记录</a:t>
            </a:r>
          </a:p>
        </p:txBody>
      </p:sp>
    </p:spTree>
    <p:extLst>
      <p:ext uri="{BB962C8B-B14F-4D97-AF65-F5344CB8AC3E}">
        <p14:creationId xmlns:p14="http://schemas.microsoft.com/office/powerpoint/2010/main" val="42211610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-79">
            <a:extLst xmlns:a="http://schemas.openxmlformats.org/drawingml/2006/main">
              <a:ext uri="{FF2B5EF4-FFF2-40B4-BE49-F238E27FC236}">
                <a16:creationId xmlns:a16="http://schemas.microsoft.com/office/drawing/2014/main" id="{2295E10E-779A-45F6-A512-F730283C1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6858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14B8A6"/>
                </a:solidFill>
                <a:latin typeface="PingFang SC"/>
                <a:ea typeface="PingFang SC"/>
                <a:cs typeface="PingFang SC"/>
              </a:defRPr>
            </a:pPr>
            <a:r>
              <a:rPr b="1"/>
              <a:t>EMOTION RECOGNITION · ABLATION STUDY</a:t>
            </a:r>
          </a:p>
        </p:txBody>
      </p:sp>
      <p:sp>
        <p:nvSpPr>
          <p:cNvPr id="2" name="text-80">
            <a:extLst xmlns:a="http://schemas.openxmlformats.org/drawingml/2006/main">
              <a:ext uri="{FF2B5EF4-FFF2-40B4-BE49-F238E27FC236}">
                <a16:creationId xmlns:a16="http://schemas.microsoft.com/office/drawing/2014/main" id="{B00DE47A-C44A-406F-A328-EAB5E6D49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0075"/>
            <a:ext cx="10668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75">
                <a:solidFill>
                  <a:srgbClr val="0B1F33"/>
                </a:solidFill>
                <a:latin typeface="PingFang SC"/>
                <a:ea typeface="PingFang SC"/>
                <a:cs typeface="PingFang SC"/>
              </a:defRPr>
            </a:pPr>
            <a:r>
              <a:rPr b="1"/>
              <a:t>五组配置：原计划拆解三个组件的贡献</a:t>
            </a:r>
          </a:p>
        </p:txBody>
      </p:sp>
      <p:sp>
        <p:nvSpPr>
          <p:cNvPr id="3" name="shape-81">
            <a:extLst xmlns:a="http://schemas.openxmlformats.org/drawingml/2006/main">
              <a:ext uri="{FF2B5EF4-FFF2-40B4-BE49-F238E27FC236}">
                <a16:creationId xmlns:a16="http://schemas.microsoft.com/office/drawing/2014/main" id="{444A3F73-B62E-41DC-877C-D507EA1B8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668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BE1"/>
          </a:solidFill>
          <a:ln xmlns:a="http://schemas.openxmlformats.org/drawingml/2006/main" w="0">
            <a:solidFill>
              <a:srgbClr val="D5DBE1"/>
            </a:solidFill>
            <a:prstDash val="solid"/>
          </a:ln>
        </p:spPr>
      </p:sp>
      <p:sp>
        <p:nvSpPr>
          <p:cNvPr id="4" name="text-82">
            <a:extLst xmlns:a="http://schemas.openxmlformats.org/drawingml/2006/main">
              <a:ext uri="{FF2B5EF4-FFF2-40B4-BE49-F238E27FC236}">
                <a16:creationId xmlns:a16="http://schemas.microsoft.com/office/drawing/2014/main" id="{102A478A-019D-49F4-8DFE-F865E9FB4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85750"/>
            <a:ext cx="495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F6B76"/>
                </a:solidFill>
                <a:latin typeface="PingFang SC"/>
                <a:ea typeface="PingFang SC"/>
                <a:cs typeface="PingFang SC"/>
              </a:defRPr>
            </a:pPr>
            <a:r>
              <a:rPr b="1"/>
              <a:t>04</a:t>
            </a:r>
          </a:p>
        </p:txBody>
      </p:sp>
      <p:sp>
        <p:nvSpPr>
          <p:cNvPr id="5" name="shape-83">
            <a:extLst xmlns:a="http://schemas.openxmlformats.org/drawingml/2006/main">
              <a:ext uri="{FF2B5EF4-FFF2-40B4-BE49-F238E27FC236}">
                <a16:creationId xmlns:a16="http://schemas.microsoft.com/office/drawing/2014/main" id="{DE81E893-00E0-4472-BB6E-E7379A361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52600"/>
            <a:ext cx="285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solidFill>
              <a:srgbClr val="0B1F33"/>
            </a:solidFill>
            <a:prstDash val="solid"/>
          </a:ln>
        </p:spPr>
      </p:sp>
      <p:sp>
        <p:nvSpPr>
          <p:cNvPr id="6" name="text-84">
            <a:extLst xmlns:a="http://schemas.openxmlformats.org/drawingml/2006/main">
              <a:ext uri="{FF2B5EF4-FFF2-40B4-BE49-F238E27FC236}">
                <a16:creationId xmlns:a16="http://schemas.microsoft.com/office/drawing/2014/main" id="{E831084A-416D-4E6D-B3B0-877E1D234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66900"/>
            <a:ext cx="2628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b="1"/>
              <a:t>实验组</a:t>
            </a:r>
          </a:p>
        </p:txBody>
      </p:sp>
      <p:sp>
        <p:nvSpPr>
          <p:cNvPr id="7" name="shape-85">
            <a:extLst xmlns:a="http://schemas.openxmlformats.org/drawingml/2006/main">
              <a:ext uri="{FF2B5EF4-FFF2-40B4-BE49-F238E27FC236}">
                <a16:creationId xmlns:a16="http://schemas.microsoft.com/office/drawing/2014/main" id="{B30066DD-A996-4B22-9DDE-DCC49ED98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752600"/>
            <a:ext cx="209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F5F"/>
          </a:solidFill>
          <a:ln xmlns:a="http://schemas.openxmlformats.org/drawingml/2006/main" w="0">
            <a:solidFill>
              <a:srgbClr val="173F5F"/>
            </a:solidFill>
            <a:prstDash val="solid"/>
          </a:ln>
        </p:spPr>
      </p:sp>
      <p:sp>
        <p:nvSpPr>
          <p:cNvPr id="8" name="text-86">
            <a:extLst xmlns:a="http://schemas.openxmlformats.org/drawingml/2006/main">
              <a:ext uri="{FF2B5EF4-FFF2-40B4-BE49-F238E27FC236}">
                <a16:creationId xmlns:a16="http://schemas.microsoft.com/office/drawing/2014/main" id="{B49964D1-6698-4C30-A2B0-D73B12930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866900"/>
            <a:ext cx="1866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b="1"/>
              <a:t>示例策略</a:t>
            </a:r>
          </a:p>
        </p:txBody>
      </p:sp>
      <p:sp>
        <p:nvSpPr>
          <p:cNvPr id="9" name="shape-87">
            <a:extLst xmlns:a="http://schemas.openxmlformats.org/drawingml/2006/main">
              <a:ext uri="{FF2B5EF4-FFF2-40B4-BE49-F238E27FC236}">
                <a16:creationId xmlns:a16="http://schemas.microsoft.com/office/drawing/2014/main" id="{C19BEA03-39F5-44D9-8339-C6935F87C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175260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F5F"/>
          </a:solidFill>
          <a:ln xmlns:a="http://schemas.openxmlformats.org/drawingml/2006/main" w="0">
            <a:solidFill>
              <a:srgbClr val="173F5F"/>
            </a:solidFill>
            <a:prstDash val="solid"/>
          </a:ln>
        </p:spPr>
      </p:sp>
      <p:sp>
        <p:nvSpPr>
          <p:cNvPr id="10" name="text-88">
            <a:extLst xmlns:a="http://schemas.openxmlformats.org/drawingml/2006/main">
              <a:ext uri="{FF2B5EF4-FFF2-40B4-BE49-F238E27FC236}">
                <a16:creationId xmlns:a16="http://schemas.microsoft.com/office/drawing/2014/main" id="{8CDCB1AF-FF6F-46D3-889B-F9A38A784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866900"/>
            <a:ext cx="17716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b="1"/>
              <a:t>情绪历史</a:t>
            </a:r>
          </a:p>
        </p:txBody>
      </p:sp>
      <p:sp>
        <p:nvSpPr>
          <p:cNvPr id="11" name="shape-89">
            <a:extLst xmlns:a="http://schemas.openxmlformats.org/drawingml/2006/main">
              <a:ext uri="{FF2B5EF4-FFF2-40B4-BE49-F238E27FC236}">
                <a16:creationId xmlns:a16="http://schemas.microsoft.com/office/drawing/2014/main" id="{154FE023-33BB-4CD7-AD2B-C81865BBC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75260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F5F"/>
          </a:solidFill>
          <a:ln xmlns:a="http://schemas.openxmlformats.org/drawingml/2006/main" w="0">
            <a:solidFill>
              <a:srgbClr val="173F5F"/>
            </a:solidFill>
            <a:prstDash val="solid"/>
          </a:ln>
        </p:spPr>
      </p:sp>
      <p:sp>
        <p:nvSpPr>
          <p:cNvPr id="12" name="text-90">
            <a:extLst xmlns:a="http://schemas.openxmlformats.org/drawingml/2006/main">
              <a:ext uri="{FF2B5EF4-FFF2-40B4-BE49-F238E27FC236}">
                <a16:creationId xmlns:a16="http://schemas.microsoft.com/office/drawing/2014/main" id="{7F85677D-650C-4B5B-BD3C-59CB16417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866900"/>
            <a:ext cx="17716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b="1"/>
              <a:t>长上下文</a:t>
            </a:r>
          </a:p>
        </p:txBody>
      </p:sp>
      <p:sp>
        <p:nvSpPr>
          <p:cNvPr id="13" name="shape-91">
            <a:extLst xmlns:a="http://schemas.openxmlformats.org/drawingml/2006/main">
              <a:ext uri="{FF2B5EF4-FFF2-40B4-BE49-F238E27FC236}">
                <a16:creationId xmlns:a16="http://schemas.microsoft.com/office/drawing/2014/main" id="{A7543012-E8F5-4895-81DA-D385209D2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752600"/>
            <a:ext cx="2324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F5F"/>
          </a:solidFill>
          <a:ln xmlns:a="http://schemas.openxmlformats.org/drawingml/2006/main" w="0">
            <a:solidFill>
              <a:srgbClr val="173F5F"/>
            </a:solidFill>
            <a:prstDash val="solid"/>
          </a:ln>
        </p:spPr>
      </p:sp>
      <p:sp>
        <p:nvSpPr>
          <p:cNvPr id="14" name="text-92">
            <a:extLst xmlns:a="http://schemas.openxmlformats.org/drawingml/2006/main">
              <a:ext uri="{FF2B5EF4-FFF2-40B4-BE49-F238E27FC236}">
                <a16:creationId xmlns:a16="http://schemas.microsoft.com/office/drawing/2014/main" id="{FB54D1D5-1000-4AFA-83D5-8E75FEC8C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866900"/>
            <a:ext cx="2095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b="1"/>
              <a:t>处理性质</a:t>
            </a:r>
          </a:p>
        </p:txBody>
      </p:sp>
      <p:sp>
        <p:nvSpPr>
          <p:cNvPr id="15" name="shape-93">
            <a:extLst xmlns:a="http://schemas.openxmlformats.org/drawingml/2006/main">
              <a:ext uri="{FF2B5EF4-FFF2-40B4-BE49-F238E27FC236}">
                <a16:creationId xmlns:a16="http://schemas.microsoft.com/office/drawing/2014/main" id="{22E49CD1-32F0-4AB0-AB8E-AAABE8999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66950"/>
            <a:ext cx="285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BE1"/>
            </a:solidFill>
            <a:prstDash val="solid"/>
          </a:ln>
        </p:spPr>
      </p:sp>
      <p:sp>
        <p:nvSpPr>
          <p:cNvPr id="16" name="text-94">
            <a:extLst xmlns:a="http://schemas.openxmlformats.org/drawingml/2006/main">
              <a:ext uri="{FF2B5EF4-FFF2-40B4-BE49-F238E27FC236}">
                <a16:creationId xmlns:a16="http://schemas.microsoft.com/office/drawing/2014/main" id="{DC37FB56-F144-4C80-A099-F1B4C9528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38400"/>
            <a:ext cx="2628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b="1"/>
              <a:t>full</a:t>
            </a:r>
          </a:p>
        </p:txBody>
      </p:sp>
      <p:sp>
        <p:nvSpPr>
          <p:cNvPr id="17" name="shape-95">
            <a:extLst xmlns:a="http://schemas.openxmlformats.org/drawingml/2006/main">
              <a:ext uri="{FF2B5EF4-FFF2-40B4-BE49-F238E27FC236}">
                <a16:creationId xmlns:a16="http://schemas.microsoft.com/office/drawing/2014/main" id="{B7487C42-2B53-4CAF-B520-0530CB17E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266950"/>
            <a:ext cx="2095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BE1"/>
            </a:solidFill>
            <a:prstDash val="solid"/>
          </a:ln>
        </p:spPr>
      </p:sp>
      <p:sp>
        <p:nvSpPr>
          <p:cNvPr id="18" name="text-96">
            <a:extLst xmlns:a="http://schemas.openxmlformats.org/drawingml/2006/main">
              <a:ext uri="{FF2B5EF4-FFF2-40B4-BE49-F238E27FC236}">
                <a16:creationId xmlns:a16="http://schemas.microsoft.com/office/drawing/2014/main" id="{63FDC7E1-0934-451A-9C4C-BAFFCBA41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38400"/>
            <a:ext cx="1866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t>动态检索</a:t>
            </a:r>
          </a:p>
        </p:txBody>
      </p:sp>
      <p:sp>
        <p:nvSpPr>
          <p:cNvPr id="19" name="shape-97">
            <a:extLst xmlns:a="http://schemas.openxmlformats.org/drawingml/2006/main">
              <a:ext uri="{FF2B5EF4-FFF2-40B4-BE49-F238E27FC236}">
                <a16:creationId xmlns:a16="http://schemas.microsoft.com/office/drawing/2014/main" id="{E1BC3907-DF48-4FF3-BB3A-8DF98ECD8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266950"/>
            <a:ext cx="2000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BE1"/>
            </a:solidFill>
            <a:prstDash val="solid"/>
          </a:ln>
        </p:spPr>
      </p:sp>
      <p:sp>
        <p:nvSpPr>
          <p:cNvPr id="20" name="text-98">
            <a:extLst xmlns:a="http://schemas.openxmlformats.org/drawingml/2006/main">
              <a:ext uri="{FF2B5EF4-FFF2-40B4-BE49-F238E27FC236}">
                <a16:creationId xmlns:a16="http://schemas.microsoft.com/office/drawing/2014/main" id="{C6BC2071-C905-48FC-8D4B-707460D17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438400"/>
            <a:ext cx="1771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t>● 保留</a:t>
            </a:r>
          </a:p>
        </p:txBody>
      </p:sp>
      <p:sp>
        <p:nvSpPr>
          <p:cNvPr id="21" name="shape-99">
            <a:extLst xmlns:a="http://schemas.openxmlformats.org/drawingml/2006/main">
              <a:ext uri="{FF2B5EF4-FFF2-40B4-BE49-F238E27FC236}">
                <a16:creationId xmlns:a16="http://schemas.microsoft.com/office/drawing/2014/main" id="{35766309-DD82-4FD8-A94F-A257C3F12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266950"/>
            <a:ext cx="2000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BE1"/>
            </a:solidFill>
            <a:prstDash val="solid"/>
          </a:ln>
        </p:spPr>
      </p:sp>
      <p:sp>
        <p:nvSpPr>
          <p:cNvPr id="22" name="text-100">
            <a:extLst xmlns:a="http://schemas.openxmlformats.org/drawingml/2006/main">
              <a:ext uri="{FF2B5EF4-FFF2-40B4-BE49-F238E27FC236}">
                <a16:creationId xmlns:a16="http://schemas.microsoft.com/office/drawing/2014/main" id="{4FB06C77-358A-4285-B231-DA94CE6C3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438400"/>
            <a:ext cx="1771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t>● 保留</a:t>
            </a:r>
          </a:p>
        </p:txBody>
      </p:sp>
      <p:sp>
        <p:nvSpPr>
          <p:cNvPr id="23" name="shape-101">
            <a:extLst xmlns:a="http://schemas.openxmlformats.org/drawingml/2006/main">
              <a:ext uri="{FF2B5EF4-FFF2-40B4-BE49-F238E27FC236}">
                <a16:creationId xmlns:a16="http://schemas.microsoft.com/office/drawing/2014/main" id="{AD7E43A0-1120-4252-A39A-FD6F8A7BC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266950"/>
            <a:ext cx="23241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BE1"/>
            </a:solidFill>
            <a:prstDash val="solid"/>
          </a:ln>
        </p:spPr>
      </p:sp>
      <p:sp>
        <p:nvSpPr>
          <p:cNvPr id="24" name="text-102">
            <a:extLst xmlns:a="http://schemas.openxmlformats.org/drawingml/2006/main">
              <a:ext uri="{FF2B5EF4-FFF2-40B4-BE49-F238E27FC236}">
                <a16:creationId xmlns:a16="http://schemas.microsoft.com/office/drawing/2014/main" id="{8EF05565-C32B-467C-B6C4-0D9601C05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438400"/>
            <a:ext cx="2095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b="1"/>
              <a:t>基线</a:t>
            </a:r>
          </a:p>
        </p:txBody>
      </p:sp>
      <p:sp>
        <p:nvSpPr>
          <p:cNvPr id="25" name="shape-103">
            <a:extLst xmlns:a="http://schemas.openxmlformats.org/drawingml/2006/main">
              <a:ext uri="{FF2B5EF4-FFF2-40B4-BE49-F238E27FC236}">
                <a16:creationId xmlns:a16="http://schemas.microsoft.com/office/drawing/2014/main" id="{10D9A4CB-990E-4046-89A8-3679F14FE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33700"/>
            <a:ext cx="285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5DBE1"/>
            </a:solidFill>
            <a:prstDash val="solid"/>
          </a:ln>
        </p:spPr>
      </p:sp>
      <p:sp>
        <p:nvSpPr>
          <p:cNvPr id="26" name="text-104">
            <a:extLst xmlns:a="http://schemas.openxmlformats.org/drawingml/2006/main">
              <a:ext uri="{FF2B5EF4-FFF2-40B4-BE49-F238E27FC236}">
                <a16:creationId xmlns:a16="http://schemas.microsoft.com/office/drawing/2014/main" id="{93CF65EF-B4C0-47A9-BEE4-176625E87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05150"/>
            <a:ext cx="2628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b="1"/>
              <a:t>no_dynamic_examples</a:t>
            </a:r>
          </a:p>
        </p:txBody>
      </p:sp>
      <p:sp>
        <p:nvSpPr>
          <p:cNvPr id="27" name="shape-105">
            <a:extLst xmlns:a="http://schemas.openxmlformats.org/drawingml/2006/main">
              <a:ext uri="{FF2B5EF4-FFF2-40B4-BE49-F238E27FC236}">
                <a16:creationId xmlns:a16="http://schemas.microsoft.com/office/drawing/2014/main" id="{45D9A978-8CE1-49EE-8098-C21605DDD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933700"/>
            <a:ext cx="2095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5DBE1"/>
            </a:solidFill>
            <a:prstDash val="solid"/>
          </a:ln>
        </p:spPr>
      </p:sp>
      <p:sp>
        <p:nvSpPr>
          <p:cNvPr id="28" name="text-106">
            <a:extLst xmlns:a="http://schemas.openxmlformats.org/drawingml/2006/main">
              <a:ext uri="{FF2B5EF4-FFF2-40B4-BE49-F238E27FC236}">
                <a16:creationId xmlns:a16="http://schemas.microsoft.com/office/drawing/2014/main" id="{5E8284B5-3938-4977-B621-708530719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105150"/>
            <a:ext cx="1866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t>静态示例</a:t>
            </a:r>
          </a:p>
        </p:txBody>
      </p:sp>
      <p:sp>
        <p:nvSpPr>
          <p:cNvPr id="29" name="shape-107">
            <a:extLst xmlns:a="http://schemas.openxmlformats.org/drawingml/2006/main">
              <a:ext uri="{FF2B5EF4-FFF2-40B4-BE49-F238E27FC236}">
                <a16:creationId xmlns:a16="http://schemas.microsoft.com/office/drawing/2014/main" id="{6FC6CE4E-4326-4FDB-99E5-D48A6B498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933700"/>
            <a:ext cx="2000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5DBE1"/>
            </a:solidFill>
            <a:prstDash val="solid"/>
          </a:ln>
        </p:spPr>
      </p:sp>
      <p:sp>
        <p:nvSpPr>
          <p:cNvPr id="30" name="text-108">
            <a:extLst xmlns:a="http://schemas.openxmlformats.org/drawingml/2006/main">
              <a:ext uri="{FF2B5EF4-FFF2-40B4-BE49-F238E27FC236}">
                <a16:creationId xmlns:a16="http://schemas.microsoft.com/office/drawing/2014/main" id="{DAD8D5E5-5209-434B-A68A-A51D60487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105150"/>
            <a:ext cx="1771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t>● 保留</a:t>
            </a:r>
          </a:p>
        </p:txBody>
      </p:sp>
      <p:sp>
        <p:nvSpPr>
          <p:cNvPr id="31" name="shape-109">
            <a:extLst xmlns:a="http://schemas.openxmlformats.org/drawingml/2006/main">
              <a:ext uri="{FF2B5EF4-FFF2-40B4-BE49-F238E27FC236}">
                <a16:creationId xmlns:a16="http://schemas.microsoft.com/office/drawing/2014/main" id="{1432F926-7F72-4C5A-B049-0DD047204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933700"/>
            <a:ext cx="2000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5DBE1"/>
            </a:solidFill>
            <a:prstDash val="solid"/>
          </a:ln>
        </p:spPr>
      </p:sp>
      <p:sp>
        <p:nvSpPr>
          <p:cNvPr id="32" name="text-110">
            <a:extLst xmlns:a="http://schemas.openxmlformats.org/drawingml/2006/main">
              <a:ext uri="{FF2B5EF4-FFF2-40B4-BE49-F238E27FC236}">
                <a16:creationId xmlns:a16="http://schemas.microsoft.com/office/drawing/2014/main" id="{6408E22D-A16C-485C-AD38-3B4252913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05150"/>
            <a:ext cx="1771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t>● 保留</a:t>
            </a:r>
          </a:p>
        </p:txBody>
      </p:sp>
      <p:sp>
        <p:nvSpPr>
          <p:cNvPr id="33" name="shape-111">
            <a:extLst xmlns:a="http://schemas.openxmlformats.org/drawingml/2006/main">
              <a:ext uri="{FF2B5EF4-FFF2-40B4-BE49-F238E27FC236}">
                <a16:creationId xmlns:a16="http://schemas.microsoft.com/office/drawing/2014/main" id="{34E4502A-D33B-49BD-8344-A6D4F274D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933700"/>
            <a:ext cx="23241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5DBE1"/>
            </a:solidFill>
            <a:prstDash val="solid"/>
          </a:ln>
        </p:spPr>
      </p:sp>
      <p:sp>
        <p:nvSpPr>
          <p:cNvPr id="34" name="text-112">
            <a:extLst xmlns:a="http://schemas.openxmlformats.org/drawingml/2006/main">
              <a:ext uri="{FF2B5EF4-FFF2-40B4-BE49-F238E27FC236}">
                <a16:creationId xmlns:a16="http://schemas.microsoft.com/office/drawing/2014/main" id="{BCD29912-3700-4446-B747-66ACADDE5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05150"/>
            <a:ext cx="2095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14B8A6"/>
                </a:solidFill>
                <a:latin typeface="PingFang SC"/>
                <a:ea typeface="PingFang SC"/>
                <a:cs typeface="PingFang SC"/>
              </a:defRPr>
            </a:pPr>
            <a:r>
              <a:rPr b="1"/>
              <a:t>有效单项处理</a:t>
            </a:r>
          </a:p>
        </p:txBody>
      </p:sp>
      <p:sp>
        <p:nvSpPr>
          <p:cNvPr id="35" name="shape-113">
            <a:extLst xmlns:a="http://schemas.openxmlformats.org/drawingml/2006/main">
              <a:ext uri="{FF2B5EF4-FFF2-40B4-BE49-F238E27FC236}">
                <a16:creationId xmlns:a16="http://schemas.microsoft.com/office/drawing/2014/main" id="{4FFA7A04-DEC6-498E-A7BE-579ACDEAC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00450"/>
            <a:ext cx="285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BE1"/>
            </a:solidFill>
            <a:prstDash val="solid"/>
          </a:ln>
        </p:spPr>
      </p:sp>
      <p:sp>
        <p:nvSpPr>
          <p:cNvPr id="36" name="text-114">
            <a:extLst xmlns:a="http://schemas.openxmlformats.org/drawingml/2006/main">
              <a:ext uri="{FF2B5EF4-FFF2-40B4-BE49-F238E27FC236}">
                <a16:creationId xmlns:a16="http://schemas.microsoft.com/office/drawing/2014/main" id="{66E24ADD-A891-477D-99E3-2B772C7F5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71900"/>
            <a:ext cx="2628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b="1"/>
              <a:t>no_emotion_history</a:t>
            </a:r>
          </a:p>
        </p:txBody>
      </p:sp>
      <p:sp>
        <p:nvSpPr>
          <p:cNvPr id="37" name="shape-115">
            <a:extLst xmlns:a="http://schemas.openxmlformats.org/drawingml/2006/main">
              <a:ext uri="{FF2B5EF4-FFF2-40B4-BE49-F238E27FC236}">
                <a16:creationId xmlns:a16="http://schemas.microsoft.com/office/drawing/2014/main" id="{149BD1A6-1948-4D6A-A105-2557D3827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600450"/>
            <a:ext cx="2095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BE1"/>
            </a:solidFill>
            <a:prstDash val="solid"/>
          </a:ln>
        </p:spPr>
      </p:sp>
      <p:sp>
        <p:nvSpPr>
          <p:cNvPr id="38" name="text-116">
            <a:extLst xmlns:a="http://schemas.openxmlformats.org/drawingml/2006/main">
              <a:ext uri="{FF2B5EF4-FFF2-40B4-BE49-F238E27FC236}">
                <a16:creationId xmlns:a16="http://schemas.microsoft.com/office/drawing/2014/main" id="{EFEC3E3E-23ED-4D36-B48F-940212327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771900"/>
            <a:ext cx="1866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t>动态检索</a:t>
            </a:r>
          </a:p>
        </p:txBody>
      </p:sp>
      <p:sp>
        <p:nvSpPr>
          <p:cNvPr id="39" name="shape-117">
            <a:extLst xmlns:a="http://schemas.openxmlformats.org/drawingml/2006/main">
              <a:ext uri="{FF2B5EF4-FFF2-40B4-BE49-F238E27FC236}">
                <a16:creationId xmlns:a16="http://schemas.microsoft.com/office/drawing/2014/main" id="{F42CB188-4099-4B8C-A56B-9450C9A31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600450"/>
            <a:ext cx="2000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BE1"/>
            </a:solidFill>
            <a:prstDash val="solid"/>
          </a:ln>
        </p:spPr>
      </p:sp>
      <p:sp>
        <p:nvSpPr>
          <p:cNvPr id="40" name="text-118">
            <a:extLst xmlns:a="http://schemas.openxmlformats.org/drawingml/2006/main">
              <a:ext uri="{FF2B5EF4-FFF2-40B4-BE49-F238E27FC236}">
                <a16:creationId xmlns:a16="http://schemas.microsoft.com/office/drawing/2014/main" id="{E37AE4E0-A211-429A-9E69-972FEBB22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771900"/>
            <a:ext cx="1771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t>○ 计划移除</a:t>
            </a:r>
          </a:p>
        </p:txBody>
      </p:sp>
      <p:sp>
        <p:nvSpPr>
          <p:cNvPr id="41" name="shape-119">
            <a:extLst xmlns:a="http://schemas.openxmlformats.org/drawingml/2006/main">
              <a:ext uri="{FF2B5EF4-FFF2-40B4-BE49-F238E27FC236}">
                <a16:creationId xmlns:a16="http://schemas.microsoft.com/office/drawing/2014/main" id="{D8ACA610-E700-4E81-9FC0-5834BA2C0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600450"/>
            <a:ext cx="2000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BE1"/>
            </a:solidFill>
            <a:prstDash val="solid"/>
          </a:ln>
        </p:spPr>
      </p:sp>
      <p:sp>
        <p:nvSpPr>
          <p:cNvPr id="42" name="text-120">
            <a:extLst xmlns:a="http://schemas.openxmlformats.org/drawingml/2006/main">
              <a:ext uri="{FF2B5EF4-FFF2-40B4-BE49-F238E27FC236}">
                <a16:creationId xmlns:a16="http://schemas.microsoft.com/office/drawing/2014/main" id="{F88B2548-0CA6-4306-BEA7-F5A923DA0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771900"/>
            <a:ext cx="1771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t>● 保留</a:t>
            </a:r>
          </a:p>
        </p:txBody>
      </p:sp>
      <p:sp>
        <p:nvSpPr>
          <p:cNvPr id="43" name="shape-121">
            <a:extLst xmlns:a="http://schemas.openxmlformats.org/drawingml/2006/main">
              <a:ext uri="{FF2B5EF4-FFF2-40B4-BE49-F238E27FC236}">
                <a16:creationId xmlns:a16="http://schemas.microsoft.com/office/drawing/2014/main" id="{69663AAA-A3DC-4A46-9B66-A262C9C63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600450"/>
            <a:ext cx="23241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BE1"/>
            </a:solidFill>
            <a:prstDash val="solid"/>
          </a:ln>
        </p:spPr>
      </p:sp>
      <p:sp>
        <p:nvSpPr>
          <p:cNvPr id="44" name="text-122">
            <a:extLst xmlns:a="http://schemas.openxmlformats.org/drawingml/2006/main">
              <a:ext uri="{FF2B5EF4-FFF2-40B4-BE49-F238E27FC236}">
                <a16:creationId xmlns:a16="http://schemas.microsoft.com/office/drawing/2014/main" id="{05DF0ACE-B750-41F9-B894-03F3DF08C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771900"/>
            <a:ext cx="2095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C2413B"/>
                </a:solidFill>
                <a:latin typeface="PingFang SC"/>
                <a:ea typeface="PingFang SC"/>
                <a:cs typeface="PingFang SC"/>
              </a:defRPr>
            </a:pPr>
            <a:r>
              <a:rPr b="1"/>
              <a:t>实际 no-op</a:t>
            </a:r>
          </a:p>
        </p:txBody>
      </p:sp>
      <p:sp>
        <p:nvSpPr>
          <p:cNvPr id="45" name="shape-123">
            <a:extLst xmlns:a="http://schemas.openxmlformats.org/drawingml/2006/main">
              <a:ext uri="{FF2B5EF4-FFF2-40B4-BE49-F238E27FC236}">
                <a16:creationId xmlns:a16="http://schemas.microsoft.com/office/drawing/2014/main" id="{78BDE53E-ABEF-494F-81D3-C36077355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67200"/>
            <a:ext cx="285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5DBE1"/>
            </a:solidFill>
            <a:prstDash val="solid"/>
          </a:ln>
        </p:spPr>
      </p:sp>
      <p:sp>
        <p:nvSpPr>
          <p:cNvPr id="46" name="text-124">
            <a:extLst xmlns:a="http://schemas.openxmlformats.org/drawingml/2006/main">
              <a:ext uri="{FF2B5EF4-FFF2-40B4-BE49-F238E27FC236}">
                <a16:creationId xmlns:a16="http://schemas.microsoft.com/office/drawing/2014/main" id="{8857AAA5-66D1-4208-B108-340DC524B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38650"/>
            <a:ext cx="2628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b="1"/>
              <a:t>short_context</a:t>
            </a:r>
          </a:p>
        </p:txBody>
      </p:sp>
      <p:sp>
        <p:nvSpPr>
          <p:cNvPr id="47" name="shape-125">
            <a:extLst xmlns:a="http://schemas.openxmlformats.org/drawingml/2006/main">
              <a:ext uri="{FF2B5EF4-FFF2-40B4-BE49-F238E27FC236}">
                <a16:creationId xmlns:a16="http://schemas.microsoft.com/office/drawing/2014/main" id="{BF66398F-2A59-49CE-AC8A-9A943C562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267200"/>
            <a:ext cx="2095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5DBE1"/>
            </a:solidFill>
            <a:prstDash val="solid"/>
          </a:ln>
        </p:spPr>
      </p:sp>
      <p:sp>
        <p:nvSpPr>
          <p:cNvPr id="48" name="text-126">
            <a:extLst xmlns:a="http://schemas.openxmlformats.org/drawingml/2006/main">
              <a:ext uri="{FF2B5EF4-FFF2-40B4-BE49-F238E27FC236}">
                <a16:creationId xmlns:a16="http://schemas.microsoft.com/office/drawing/2014/main" id="{2639A652-B08C-4B8F-BCF0-85C5E4174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438650"/>
            <a:ext cx="1866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t>动态检索</a:t>
            </a:r>
          </a:p>
        </p:txBody>
      </p:sp>
      <p:sp>
        <p:nvSpPr>
          <p:cNvPr id="49" name="shape-127">
            <a:extLst xmlns:a="http://schemas.openxmlformats.org/drawingml/2006/main">
              <a:ext uri="{FF2B5EF4-FFF2-40B4-BE49-F238E27FC236}">
                <a16:creationId xmlns:a16="http://schemas.microsoft.com/office/drawing/2014/main" id="{7FACA213-E8DE-472C-9CDF-BDB4CF860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267200"/>
            <a:ext cx="2000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5DBE1"/>
            </a:solidFill>
            <a:prstDash val="solid"/>
          </a:ln>
        </p:spPr>
      </p:sp>
      <p:sp>
        <p:nvSpPr>
          <p:cNvPr id="50" name="text-128">
            <a:extLst xmlns:a="http://schemas.openxmlformats.org/drawingml/2006/main">
              <a:ext uri="{FF2B5EF4-FFF2-40B4-BE49-F238E27FC236}">
                <a16:creationId xmlns:a16="http://schemas.microsoft.com/office/drawing/2014/main" id="{1ABA97F7-1FE8-4D81-9EEF-EDCDEE8D4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438650"/>
            <a:ext cx="1771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t>● 保留</a:t>
            </a:r>
          </a:p>
        </p:txBody>
      </p:sp>
      <p:sp>
        <p:nvSpPr>
          <p:cNvPr id="51" name="shape-129">
            <a:extLst xmlns:a="http://schemas.openxmlformats.org/drawingml/2006/main">
              <a:ext uri="{FF2B5EF4-FFF2-40B4-BE49-F238E27FC236}">
                <a16:creationId xmlns:a16="http://schemas.microsoft.com/office/drawing/2014/main" id="{B0FF8C39-227B-484F-8C9B-B2D58D381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267200"/>
            <a:ext cx="2000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5DBE1"/>
            </a:solidFill>
            <a:prstDash val="solid"/>
          </a:ln>
        </p:spPr>
      </p:sp>
      <p:sp>
        <p:nvSpPr>
          <p:cNvPr id="52" name="text-130">
            <a:extLst xmlns:a="http://schemas.openxmlformats.org/drawingml/2006/main">
              <a:ext uri="{FF2B5EF4-FFF2-40B4-BE49-F238E27FC236}">
                <a16:creationId xmlns:a16="http://schemas.microsoft.com/office/drawing/2014/main" id="{F0EC16A7-7FBD-44A2-B937-C3A4A959A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438650"/>
            <a:ext cx="1771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t>○ 计划截短</a:t>
            </a:r>
          </a:p>
        </p:txBody>
      </p:sp>
      <p:sp>
        <p:nvSpPr>
          <p:cNvPr id="53" name="shape-131">
            <a:extLst xmlns:a="http://schemas.openxmlformats.org/drawingml/2006/main">
              <a:ext uri="{FF2B5EF4-FFF2-40B4-BE49-F238E27FC236}">
                <a16:creationId xmlns:a16="http://schemas.microsoft.com/office/drawing/2014/main" id="{72749113-DE1A-4945-93A0-E96710DCD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267200"/>
            <a:ext cx="23241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5DBE1"/>
            </a:solidFill>
            <a:prstDash val="solid"/>
          </a:ln>
        </p:spPr>
      </p:sp>
      <p:sp>
        <p:nvSpPr>
          <p:cNvPr id="54" name="text-132">
            <a:extLst xmlns:a="http://schemas.openxmlformats.org/drawingml/2006/main">
              <a:ext uri="{FF2B5EF4-FFF2-40B4-BE49-F238E27FC236}">
                <a16:creationId xmlns:a16="http://schemas.microsoft.com/office/drawing/2014/main" id="{9CC9F3CE-70FE-4E52-90D4-F4B09A1B5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438650"/>
            <a:ext cx="2095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C2413B"/>
                </a:solidFill>
                <a:latin typeface="PingFang SC"/>
                <a:ea typeface="PingFang SC"/>
                <a:cs typeface="PingFang SC"/>
              </a:defRPr>
            </a:pPr>
            <a:r>
              <a:rPr b="1"/>
              <a:t>实际 no-op</a:t>
            </a:r>
          </a:p>
        </p:txBody>
      </p:sp>
      <p:sp>
        <p:nvSpPr>
          <p:cNvPr id="55" name="shape-133">
            <a:extLst xmlns:a="http://schemas.openxmlformats.org/drawingml/2006/main">
              <a:ext uri="{FF2B5EF4-FFF2-40B4-BE49-F238E27FC236}">
                <a16:creationId xmlns:a16="http://schemas.microsoft.com/office/drawing/2014/main" id="{726AF978-41F2-4844-B4A4-894DE479C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33950"/>
            <a:ext cx="285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BE1"/>
            </a:solidFill>
            <a:prstDash val="solid"/>
          </a:ln>
        </p:spPr>
      </p:sp>
      <p:sp>
        <p:nvSpPr>
          <p:cNvPr id="56" name="text-134">
            <a:extLst xmlns:a="http://schemas.openxmlformats.org/drawingml/2006/main">
              <a:ext uri="{FF2B5EF4-FFF2-40B4-BE49-F238E27FC236}">
                <a16:creationId xmlns:a16="http://schemas.microsoft.com/office/drawing/2014/main" id="{859AB0F7-30DE-42FC-AD52-2BD0DFF58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05400"/>
            <a:ext cx="2628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b="1"/>
              <a:t>zero_shot</a:t>
            </a:r>
          </a:p>
        </p:txBody>
      </p:sp>
      <p:sp>
        <p:nvSpPr>
          <p:cNvPr id="57" name="shape-135">
            <a:extLst xmlns:a="http://schemas.openxmlformats.org/drawingml/2006/main">
              <a:ext uri="{FF2B5EF4-FFF2-40B4-BE49-F238E27FC236}">
                <a16:creationId xmlns:a16="http://schemas.microsoft.com/office/drawing/2014/main" id="{305EB3CD-2E30-4628-810C-9D2C11C79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933950"/>
            <a:ext cx="2095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BE1"/>
            </a:solidFill>
            <a:prstDash val="solid"/>
          </a:ln>
        </p:spPr>
      </p:sp>
      <p:sp>
        <p:nvSpPr>
          <p:cNvPr id="58" name="text-136">
            <a:extLst xmlns:a="http://schemas.openxmlformats.org/drawingml/2006/main">
              <a:ext uri="{FF2B5EF4-FFF2-40B4-BE49-F238E27FC236}">
                <a16:creationId xmlns:a16="http://schemas.microsoft.com/office/drawing/2014/main" id="{57519D64-D972-4EC4-8D3E-176DDE69A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105400"/>
            <a:ext cx="1866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t>○ 无示例</a:t>
            </a:r>
          </a:p>
        </p:txBody>
      </p:sp>
      <p:sp>
        <p:nvSpPr>
          <p:cNvPr id="59" name="shape-137">
            <a:extLst xmlns:a="http://schemas.openxmlformats.org/drawingml/2006/main">
              <a:ext uri="{FF2B5EF4-FFF2-40B4-BE49-F238E27FC236}">
                <a16:creationId xmlns:a16="http://schemas.microsoft.com/office/drawing/2014/main" id="{FBC4EDD1-E2AC-4230-BEC0-0150209A2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933950"/>
            <a:ext cx="2000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BE1"/>
            </a:solidFill>
            <a:prstDash val="solid"/>
          </a:ln>
        </p:spPr>
      </p:sp>
      <p:sp>
        <p:nvSpPr>
          <p:cNvPr id="60" name="text-138">
            <a:extLst xmlns:a="http://schemas.openxmlformats.org/drawingml/2006/main">
              <a:ext uri="{FF2B5EF4-FFF2-40B4-BE49-F238E27FC236}">
                <a16:creationId xmlns:a16="http://schemas.microsoft.com/office/drawing/2014/main" id="{E4511AEE-D17A-4F59-8604-233BF3542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105400"/>
            <a:ext cx="1771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t>○ 移除</a:t>
            </a:r>
          </a:p>
        </p:txBody>
      </p:sp>
      <p:sp>
        <p:nvSpPr>
          <p:cNvPr id="61" name="shape-139">
            <a:extLst xmlns:a="http://schemas.openxmlformats.org/drawingml/2006/main">
              <a:ext uri="{FF2B5EF4-FFF2-40B4-BE49-F238E27FC236}">
                <a16:creationId xmlns:a16="http://schemas.microsoft.com/office/drawing/2014/main" id="{18E2FCFC-D466-42EB-9EA6-B6362C54A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933950"/>
            <a:ext cx="2000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BE1"/>
            </a:solidFill>
            <a:prstDash val="solid"/>
          </a:ln>
        </p:spPr>
      </p:sp>
      <p:sp>
        <p:nvSpPr>
          <p:cNvPr id="62" name="text-140">
            <a:extLst xmlns:a="http://schemas.openxmlformats.org/drawingml/2006/main">
              <a:ext uri="{FF2B5EF4-FFF2-40B4-BE49-F238E27FC236}">
                <a16:creationId xmlns:a16="http://schemas.microsoft.com/office/drawing/2014/main" id="{916B3063-B235-4E5F-8C70-A27E2D71E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105400"/>
            <a:ext cx="1771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t>● 保留</a:t>
            </a:r>
          </a:p>
        </p:txBody>
      </p:sp>
      <p:sp>
        <p:nvSpPr>
          <p:cNvPr id="63" name="shape-141">
            <a:extLst xmlns:a="http://schemas.openxmlformats.org/drawingml/2006/main">
              <a:ext uri="{FF2B5EF4-FFF2-40B4-BE49-F238E27FC236}">
                <a16:creationId xmlns:a16="http://schemas.microsoft.com/office/drawing/2014/main" id="{57833114-849E-4EDA-8057-2188567C2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933950"/>
            <a:ext cx="23241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BE1"/>
            </a:solidFill>
            <a:prstDash val="solid"/>
          </a:ln>
        </p:spPr>
      </p:sp>
      <p:sp>
        <p:nvSpPr>
          <p:cNvPr id="64" name="text-142">
            <a:extLst xmlns:a="http://schemas.openxmlformats.org/drawingml/2006/main">
              <a:ext uri="{FF2B5EF4-FFF2-40B4-BE49-F238E27FC236}">
                <a16:creationId xmlns:a16="http://schemas.microsoft.com/office/drawing/2014/main" id="{73569ABA-C24B-4BFD-8139-707ACD234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105400"/>
            <a:ext cx="2095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E97732"/>
                </a:solidFill>
                <a:latin typeface="PingFang SC"/>
                <a:ea typeface="PingFang SC"/>
                <a:cs typeface="PingFang SC"/>
              </a:defRPr>
            </a:pPr>
            <a:r>
              <a:rPr b="1"/>
              <a:t>组合消融</a:t>
            </a:r>
          </a:p>
        </p:txBody>
      </p:sp>
      <p:sp>
        <p:nvSpPr>
          <p:cNvPr id="65" name="shape-143">
            <a:extLst xmlns:a="http://schemas.openxmlformats.org/drawingml/2006/main">
              <a:ext uri="{FF2B5EF4-FFF2-40B4-BE49-F238E27FC236}">
                <a16:creationId xmlns:a16="http://schemas.microsoft.com/office/drawing/2014/main" id="{5904A235-7E40-4CE1-81A2-34015BCCF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791200"/>
            <a:ext cx="55435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2D6"/>
          </a:solidFill>
          <a:ln xmlns:a="http://schemas.openxmlformats.org/drawingml/2006/main" w="0">
            <a:solidFill>
              <a:srgbClr val="FFF2D6"/>
            </a:solidFill>
            <a:prstDash val="solid"/>
          </a:ln>
        </p:spPr>
      </p:sp>
      <p:sp>
        <p:nvSpPr>
          <p:cNvPr id="66" name="text-144">
            <a:extLst xmlns:a="http://schemas.openxmlformats.org/drawingml/2006/main">
              <a:ext uri="{FF2B5EF4-FFF2-40B4-BE49-F238E27FC236}">
                <a16:creationId xmlns:a16="http://schemas.microsoft.com/office/drawing/2014/main" id="{9A516A3B-46E4-4350-B1C8-8BEBE9D81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838825"/>
            <a:ext cx="53530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C2413B"/>
                </a:solidFill>
                <a:latin typeface="PingFang SC"/>
                <a:ea typeface="PingFang SC"/>
                <a:cs typeface="PingFang SC"/>
              </a:defRPr>
            </a:pPr>
            <a:r>
              <a:rPr b="1"/>
              <a:t>注意：zero_shot 同时移除示例与历史，不能归因到单一组件</a:t>
            </a:r>
          </a:p>
        </p:txBody>
      </p:sp>
      <p:sp>
        <p:nvSpPr>
          <p:cNvPr id="67" name="shape-145">
            <a:extLst xmlns:a="http://schemas.openxmlformats.org/drawingml/2006/main">
              <a:ext uri="{FF2B5EF4-FFF2-40B4-BE49-F238E27FC236}">
                <a16:creationId xmlns:a16="http://schemas.microsoft.com/office/drawing/2014/main" id="{C84D105D-A069-4FD4-8099-4FFBE895D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BE1"/>
          </a:solidFill>
          <a:ln xmlns:a="http://schemas.openxmlformats.org/drawingml/2006/main" w="0">
            <a:solidFill>
              <a:srgbClr val="D5DBE1"/>
            </a:solidFill>
            <a:prstDash val="solid"/>
          </a:ln>
        </p:spPr>
      </p:sp>
      <p:sp>
        <p:nvSpPr>
          <p:cNvPr id="68" name="text-146">
            <a:extLst xmlns:a="http://schemas.openxmlformats.org/drawingml/2006/main">
              <a:ext uri="{FF2B5EF4-FFF2-40B4-BE49-F238E27FC236}">
                <a16:creationId xmlns:a16="http://schemas.microsoft.com/office/drawing/2014/main" id="{3468EB14-5086-428F-90AB-374AEB8B8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5905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5F6B76"/>
                </a:solidFill>
                <a:latin typeface="PingFang SC"/>
                <a:ea typeface="PingFang SC"/>
                <a:cs typeface="PingFang SC"/>
              </a:defRPr>
            </a:pPr>
            <a:r>
              <a:t>来源：本地 Seed-64 实验记录</a:t>
            </a:r>
          </a:p>
        </p:txBody>
      </p:sp>
    </p:spTree>
    <p:extLst>
      <p:ext uri="{BB962C8B-B14F-4D97-AF65-F5344CB8AC3E}">
        <p14:creationId xmlns:p14="http://schemas.microsoft.com/office/powerpoint/2010/main" val="122594347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-147">
            <a:extLst xmlns:a="http://schemas.openxmlformats.org/drawingml/2006/main">
              <a:ext uri="{FF2B5EF4-FFF2-40B4-BE49-F238E27FC236}">
                <a16:creationId xmlns:a16="http://schemas.microsoft.com/office/drawing/2014/main" id="{6A128643-E2FE-4124-9376-5B794EE3B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6858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14B8A6"/>
                </a:solidFill>
                <a:latin typeface="PingFang SC"/>
                <a:ea typeface="PingFang SC"/>
                <a:cs typeface="PingFang SC"/>
              </a:defRPr>
            </a:pPr>
            <a:r>
              <a:rPr b="1"/>
              <a:t>EMOTION RECOGNITION · ABLATION STUDY</a:t>
            </a:r>
          </a:p>
        </p:txBody>
      </p:sp>
      <p:sp>
        <p:nvSpPr>
          <p:cNvPr id="2" name="text-148">
            <a:extLst xmlns:a="http://schemas.openxmlformats.org/drawingml/2006/main">
              <a:ext uri="{FF2B5EF4-FFF2-40B4-BE49-F238E27FC236}">
                <a16:creationId xmlns:a16="http://schemas.microsoft.com/office/drawing/2014/main" id="{F8D22541-C7E0-4AB2-917F-E1B560F55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0075"/>
            <a:ext cx="10668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75">
                <a:solidFill>
                  <a:srgbClr val="0B1F33"/>
                </a:solidFill>
                <a:latin typeface="PingFang SC"/>
                <a:ea typeface="PingFang SC"/>
                <a:cs typeface="PingFang SC"/>
              </a:defRPr>
            </a:pPr>
            <a:r>
              <a:rPr b="1"/>
              <a:t>数据与评测：小规模、双语、全部调用成功</a:t>
            </a:r>
          </a:p>
        </p:txBody>
      </p:sp>
      <p:sp>
        <p:nvSpPr>
          <p:cNvPr id="3" name="shape-149">
            <a:extLst xmlns:a="http://schemas.openxmlformats.org/drawingml/2006/main">
              <a:ext uri="{FF2B5EF4-FFF2-40B4-BE49-F238E27FC236}">
                <a16:creationId xmlns:a16="http://schemas.microsoft.com/office/drawing/2014/main" id="{2694C5C7-4153-4F87-A16B-42636822C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668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BE1"/>
          </a:solidFill>
          <a:ln xmlns:a="http://schemas.openxmlformats.org/drawingml/2006/main" w="0">
            <a:solidFill>
              <a:srgbClr val="D5DBE1"/>
            </a:solidFill>
            <a:prstDash val="solid"/>
          </a:ln>
        </p:spPr>
      </p:sp>
      <p:sp>
        <p:nvSpPr>
          <p:cNvPr id="4" name="text-150">
            <a:extLst xmlns:a="http://schemas.openxmlformats.org/drawingml/2006/main">
              <a:ext uri="{FF2B5EF4-FFF2-40B4-BE49-F238E27FC236}">
                <a16:creationId xmlns:a16="http://schemas.microsoft.com/office/drawing/2014/main" id="{5D0E9FF9-2288-4F8B-87B2-8DDBB22E9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85750"/>
            <a:ext cx="495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F6B76"/>
                </a:solidFill>
                <a:latin typeface="PingFang SC"/>
                <a:ea typeface="PingFang SC"/>
                <a:cs typeface="PingFang SC"/>
              </a:defRPr>
            </a:pPr>
            <a:r>
              <a:rPr b="1"/>
              <a:t>05</a:t>
            </a:r>
          </a:p>
        </p:txBody>
      </p:sp>
      <p:sp>
        <p:nvSpPr>
          <p:cNvPr id="5" name="shape-151">
            <a:extLst xmlns:a="http://schemas.openxmlformats.org/drawingml/2006/main">
              <a:ext uri="{FF2B5EF4-FFF2-40B4-BE49-F238E27FC236}">
                <a16:creationId xmlns:a16="http://schemas.microsoft.com/office/drawing/2014/main" id="{A3B7E911-E7F4-402F-B0BB-E8E45B9EC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259080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5DBE1"/>
            </a:solidFill>
            <a:prstDash val="solid"/>
          </a:ln>
        </p:spPr>
      </p:sp>
      <p:sp>
        <p:nvSpPr>
          <p:cNvPr id="6" name="text-152">
            <a:extLst xmlns:a="http://schemas.openxmlformats.org/drawingml/2006/main">
              <a:ext uri="{FF2B5EF4-FFF2-40B4-BE49-F238E27FC236}">
                <a16:creationId xmlns:a16="http://schemas.microsoft.com/office/drawing/2014/main" id="{D57454C1-21BB-4BB6-98E3-79686C1A3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21717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>
                <a:solidFill>
                  <a:srgbClr val="173F5F"/>
                </a:solidFill>
                <a:latin typeface="PingFang SC"/>
                <a:ea typeface="PingFang SC"/>
                <a:cs typeface="PingFang SC"/>
              </a:defRPr>
            </a:pPr>
            <a:r>
              <a:rPr b="1"/>
              <a:t>64</a:t>
            </a:r>
          </a:p>
        </p:txBody>
      </p:sp>
      <p:sp>
        <p:nvSpPr>
          <p:cNvPr id="7" name="text-153">
            <a:extLst xmlns:a="http://schemas.openxmlformats.org/drawingml/2006/main">
              <a:ext uri="{FF2B5EF4-FFF2-40B4-BE49-F238E27FC236}">
                <a16:creationId xmlns:a16="http://schemas.microsoft.com/office/drawing/2014/main" id="{E667DA9E-60B9-46DB-98A0-3A204350D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76525"/>
            <a:ext cx="21717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5F6B76"/>
                </a:solidFill>
                <a:latin typeface="PingFang SC"/>
                <a:ea typeface="PingFang SC"/>
                <a:cs typeface="PingFang SC"/>
              </a:defRPr>
            </a:pPr>
            <a:r>
              <a:t>合成 seed 样本</a:t>
            </a:r>
          </a:p>
        </p:txBody>
      </p:sp>
      <p:sp>
        <p:nvSpPr>
          <p:cNvPr id="8" name="shape-154">
            <a:extLst xmlns:a="http://schemas.openxmlformats.org/drawingml/2006/main">
              <a:ext uri="{FF2B5EF4-FFF2-40B4-BE49-F238E27FC236}">
                <a16:creationId xmlns:a16="http://schemas.microsoft.com/office/drawing/2014/main" id="{0AEFBC0D-8F0D-4E6B-86AC-5925E6D61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676400"/>
            <a:ext cx="259080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5DBE1"/>
            </a:solidFill>
            <a:prstDash val="solid"/>
          </a:ln>
        </p:spPr>
      </p:sp>
      <p:sp>
        <p:nvSpPr>
          <p:cNvPr id="9" name="text-155">
            <a:extLst xmlns:a="http://schemas.openxmlformats.org/drawingml/2006/main">
              <a:ext uri="{FF2B5EF4-FFF2-40B4-BE49-F238E27FC236}">
                <a16:creationId xmlns:a16="http://schemas.microsoft.com/office/drawing/2014/main" id="{3E2E7931-51CE-4E7A-ACBA-1E66F7F6B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952625"/>
            <a:ext cx="21717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>
                <a:solidFill>
                  <a:srgbClr val="14B8A6"/>
                </a:solidFill>
                <a:latin typeface="PingFang SC"/>
                <a:ea typeface="PingFang SC"/>
                <a:cs typeface="PingFang SC"/>
              </a:defRPr>
            </a:pPr>
            <a:r>
              <a:rPr b="1"/>
              <a:t>32 + 32</a:t>
            </a:r>
          </a:p>
        </p:txBody>
      </p:sp>
      <p:sp>
        <p:nvSpPr>
          <p:cNvPr id="10" name="text-156">
            <a:extLst xmlns:a="http://schemas.openxmlformats.org/drawingml/2006/main">
              <a:ext uri="{FF2B5EF4-FFF2-40B4-BE49-F238E27FC236}">
                <a16:creationId xmlns:a16="http://schemas.microsoft.com/office/drawing/2014/main" id="{AEE8BA2F-81F5-456A-99F5-A139E8F47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676525"/>
            <a:ext cx="21717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5F6B76"/>
                </a:solidFill>
                <a:latin typeface="PingFang SC"/>
                <a:ea typeface="PingFang SC"/>
                <a:cs typeface="PingFang SC"/>
              </a:defRPr>
            </a:pPr>
            <a:r>
              <a:t>中文 + 英文</a:t>
            </a:r>
          </a:p>
        </p:txBody>
      </p:sp>
      <p:sp>
        <p:nvSpPr>
          <p:cNvPr id="11" name="shape-157">
            <a:extLst xmlns:a="http://schemas.openxmlformats.org/drawingml/2006/main">
              <a:ext uri="{FF2B5EF4-FFF2-40B4-BE49-F238E27FC236}">
                <a16:creationId xmlns:a16="http://schemas.microsoft.com/office/drawing/2014/main" id="{B9AD42AA-1046-48A8-805B-9C7C7837E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76400"/>
            <a:ext cx="259080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5DBE1"/>
            </a:solidFill>
            <a:prstDash val="solid"/>
          </a:ln>
        </p:spPr>
      </p:sp>
      <p:sp>
        <p:nvSpPr>
          <p:cNvPr id="12" name="text-158">
            <a:extLst xmlns:a="http://schemas.openxmlformats.org/drawingml/2006/main">
              <a:ext uri="{FF2B5EF4-FFF2-40B4-BE49-F238E27FC236}">
                <a16:creationId xmlns:a16="http://schemas.microsoft.com/office/drawing/2014/main" id="{9A0FF4BE-460C-4BD3-8CFC-702AB41C7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952625"/>
            <a:ext cx="21717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>
                <a:solidFill>
                  <a:srgbClr val="F59E0B"/>
                </a:solidFill>
                <a:latin typeface="PingFang SC"/>
                <a:ea typeface="PingFang SC"/>
                <a:cs typeface="PingFang SC"/>
              </a:defRPr>
            </a:pPr>
            <a:r>
              <a:rPr b="1"/>
              <a:t>32</a:t>
            </a:r>
          </a:p>
        </p:txBody>
      </p:sp>
      <p:sp>
        <p:nvSpPr>
          <p:cNvPr id="13" name="text-159">
            <a:extLst xmlns:a="http://schemas.openxmlformats.org/drawingml/2006/main">
              <a:ext uri="{FF2B5EF4-FFF2-40B4-BE49-F238E27FC236}">
                <a16:creationId xmlns:a16="http://schemas.microsoft.com/office/drawing/2014/main" id="{97D396E9-C7A4-473A-AEF6-FF64F55C3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676525"/>
            <a:ext cx="21717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5F6B76"/>
                </a:solidFill>
                <a:latin typeface="PingFang SC"/>
                <a:ea typeface="PingFang SC"/>
                <a:cs typeface="PingFang SC"/>
              </a:defRPr>
            </a:pPr>
            <a:r>
              <a:t>情绪标签类别</a:t>
            </a:r>
          </a:p>
        </p:txBody>
      </p:sp>
      <p:sp>
        <p:nvSpPr>
          <p:cNvPr id="14" name="shape-160">
            <a:extLst xmlns:a="http://schemas.openxmlformats.org/drawingml/2006/main">
              <a:ext uri="{FF2B5EF4-FFF2-40B4-BE49-F238E27FC236}">
                <a16:creationId xmlns:a16="http://schemas.microsoft.com/office/drawing/2014/main" id="{FE360D1F-F490-432E-B93C-008C4CB5F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676400"/>
            <a:ext cx="259080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5DBE1"/>
            </a:solidFill>
            <a:prstDash val="solid"/>
          </a:ln>
        </p:spPr>
      </p:sp>
      <p:sp>
        <p:nvSpPr>
          <p:cNvPr id="15" name="text-161">
            <a:extLst xmlns:a="http://schemas.openxmlformats.org/drawingml/2006/main">
              <a:ext uri="{FF2B5EF4-FFF2-40B4-BE49-F238E27FC236}">
                <a16:creationId xmlns:a16="http://schemas.microsoft.com/office/drawing/2014/main" id="{7EB88E43-E402-43D5-859C-2CFDA2805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952625"/>
            <a:ext cx="21717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>
                <a:solidFill>
                  <a:srgbClr val="E97732"/>
                </a:solidFill>
                <a:latin typeface="PingFang SC"/>
                <a:ea typeface="PingFang SC"/>
                <a:cs typeface="PingFang SC"/>
              </a:defRPr>
            </a:pPr>
            <a:r>
              <a:rPr b="1"/>
              <a:t>320 / 320</a:t>
            </a:r>
          </a:p>
        </p:txBody>
      </p:sp>
      <p:sp>
        <p:nvSpPr>
          <p:cNvPr id="16" name="text-162">
            <a:extLst xmlns:a="http://schemas.openxmlformats.org/drawingml/2006/main">
              <a:ext uri="{FF2B5EF4-FFF2-40B4-BE49-F238E27FC236}">
                <a16:creationId xmlns:a16="http://schemas.microsoft.com/office/drawing/2014/main" id="{08D271EA-0828-4C42-9BCB-57F2C9B62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676525"/>
            <a:ext cx="21717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5F6B76"/>
                </a:solidFill>
                <a:latin typeface="PingFang SC"/>
                <a:ea typeface="PingFang SC"/>
                <a:cs typeface="PingFang SC"/>
              </a:defRPr>
            </a:pPr>
            <a:r>
              <a:t>成功调用</a:t>
            </a:r>
          </a:p>
        </p:txBody>
      </p:sp>
      <p:sp>
        <p:nvSpPr>
          <p:cNvPr id="17" name="text-163">
            <a:extLst xmlns:a="http://schemas.openxmlformats.org/drawingml/2006/main">
              <a:ext uri="{FF2B5EF4-FFF2-40B4-BE49-F238E27FC236}">
                <a16:creationId xmlns:a16="http://schemas.microsoft.com/office/drawing/2014/main" id="{2F3DB144-9AEE-400E-8B0D-2F5D9FC79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00450"/>
            <a:ext cx="2857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0B1F33"/>
                </a:solidFill>
                <a:latin typeface="PingFang SC"/>
                <a:ea typeface="PingFang SC"/>
                <a:cs typeface="PingFang SC"/>
              </a:defRPr>
            </a:pPr>
            <a:r>
              <a:rPr b="1"/>
              <a:t>上下文依赖分布</a:t>
            </a:r>
          </a:p>
        </p:txBody>
      </p:sp>
      <p:sp>
        <p:nvSpPr>
          <p:cNvPr id="18" name="text-164">
            <a:extLst xmlns:a="http://schemas.openxmlformats.org/drawingml/2006/main">
              <a:ext uri="{FF2B5EF4-FFF2-40B4-BE49-F238E27FC236}">
                <a16:creationId xmlns:a16="http://schemas.microsoft.com/office/drawing/2014/main" id="{61625F0F-3918-4C61-B43D-4FFEFE018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57650"/>
            <a:ext cx="857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b="1"/>
              <a:t>none</a:t>
            </a:r>
          </a:p>
        </p:txBody>
      </p:sp>
      <p:sp>
        <p:nvSpPr>
          <p:cNvPr id="19" name="shape-165">
            <a:extLst xmlns:a="http://schemas.openxmlformats.org/drawingml/2006/main">
              <a:ext uri="{FF2B5EF4-FFF2-40B4-BE49-F238E27FC236}">
                <a16:creationId xmlns:a16="http://schemas.microsoft.com/office/drawing/2014/main" id="{A1FEE244-E4A7-4EB5-A026-B68663A97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076700"/>
            <a:ext cx="4000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0">
            <a:solidFill>
              <a:srgbClr val="EEF1F4"/>
            </a:solidFill>
            <a:prstDash val="solid"/>
          </a:ln>
        </p:spPr>
      </p:sp>
      <p:sp>
        <p:nvSpPr>
          <p:cNvPr id="20" name="shape-166">
            <a:extLst xmlns:a="http://schemas.openxmlformats.org/drawingml/2006/main">
              <a:ext uri="{FF2B5EF4-FFF2-40B4-BE49-F238E27FC236}">
                <a16:creationId xmlns:a16="http://schemas.microsoft.com/office/drawing/2014/main" id="{F59212AA-82B8-4999-8D93-AE34124BA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076700"/>
            <a:ext cx="200025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9AA5B1"/>
          </a:solidFill>
          <a:ln xmlns:a="http://schemas.openxmlformats.org/drawingml/2006/main" w="0">
            <a:solidFill>
              <a:srgbClr val="9AA5B1"/>
            </a:solidFill>
            <a:prstDash val="solid"/>
          </a:ln>
        </p:spPr>
      </p:sp>
      <p:sp>
        <p:nvSpPr>
          <p:cNvPr id="21" name="text-167">
            <a:extLst xmlns:a="http://schemas.openxmlformats.org/drawingml/2006/main">
              <a:ext uri="{FF2B5EF4-FFF2-40B4-BE49-F238E27FC236}">
                <a16:creationId xmlns:a16="http://schemas.microsoft.com/office/drawing/2014/main" id="{27B0903F-EABF-44B8-8522-8EFFBE790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038600"/>
            <a:ext cx="476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>
                <a:solidFill>
                  <a:srgbClr val="9AA5B1"/>
                </a:solidFill>
                <a:latin typeface="PingFang SC"/>
                <a:ea typeface="PingFang SC"/>
                <a:cs typeface="PingFang SC"/>
              </a:defRPr>
            </a:pPr>
            <a:r>
              <a:rPr b="1"/>
              <a:t>14</a:t>
            </a:r>
          </a:p>
        </p:txBody>
      </p:sp>
      <p:sp>
        <p:nvSpPr>
          <p:cNvPr id="22" name="text-168">
            <a:extLst xmlns:a="http://schemas.openxmlformats.org/drawingml/2006/main">
              <a:ext uri="{FF2B5EF4-FFF2-40B4-BE49-F238E27FC236}">
                <a16:creationId xmlns:a16="http://schemas.microsoft.com/office/drawing/2014/main" id="{313F2828-615B-4C78-AC03-15F8833DD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95800"/>
            <a:ext cx="857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b="1"/>
              <a:t>low</a:t>
            </a:r>
          </a:p>
        </p:txBody>
      </p:sp>
      <p:sp>
        <p:nvSpPr>
          <p:cNvPr id="23" name="shape-169">
            <a:extLst xmlns:a="http://schemas.openxmlformats.org/drawingml/2006/main">
              <a:ext uri="{FF2B5EF4-FFF2-40B4-BE49-F238E27FC236}">
                <a16:creationId xmlns:a16="http://schemas.microsoft.com/office/drawing/2014/main" id="{A6CFDC28-F5FF-4AA1-842C-661441425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14850"/>
            <a:ext cx="4000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0">
            <a:solidFill>
              <a:srgbClr val="EEF1F4"/>
            </a:solidFill>
            <a:prstDash val="solid"/>
          </a:ln>
        </p:spPr>
      </p:sp>
      <p:sp>
        <p:nvSpPr>
          <p:cNvPr id="24" name="shape-170">
            <a:extLst xmlns:a="http://schemas.openxmlformats.org/drawingml/2006/main">
              <a:ext uri="{FF2B5EF4-FFF2-40B4-BE49-F238E27FC236}">
                <a16:creationId xmlns:a16="http://schemas.microsoft.com/office/drawing/2014/main" id="{082721CE-0D9C-42EC-94EA-1C49B1CC2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14850"/>
            <a:ext cx="314325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  <a:prstDash val="solid"/>
          </a:ln>
        </p:spPr>
      </p:sp>
      <p:sp>
        <p:nvSpPr>
          <p:cNvPr id="25" name="text-171">
            <a:extLst xmlns:a="http://schemas.openxmlformats.org/drawingml/2006/main">
              <a:ext uri="{FF2B5EF4-FFF2-40B4-BE49-F238E27FC236}">
                <a16:creationId xmlns:a16="http://schemas.microsoft.com/office/drawing/2014/main" id="{979515E6-F556-4C1B-A03A-97555B0BD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476750"/>
            <a:ext cx="476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>
                <a:solidFill>
                  <a:srgbClr val="14B8A6"/>
                </a:solidFill>
                <a:latin typeface="PingFang SC"/>
                <a:ea typeface="PingFang SC"/>
                <a:cs typeface="PingFang SC"/>
              </a:defRPr>
            </a:pPr>
            <a:r>
              <a:rPr b="1"/>
              <a:t>22</a:t>
            </a:r>
          </a:p>
        </p:txBody>
      </p:sp>
      <p:sp>
        <p:nvSpPr>
          <p:cNvPr id="26" name="text-172">
            <a:extLst xmlns:a="http://schemas.openxmlformats.org/drawingml/2006/main">
              <a:ext uri="{FF2B5EF4-FFF2-40B4-BE49-F238E27FC236}">
                <a16:creationId xmlns:a16="http://schemas.microsoft.com/office/drawing/2014/main" id="{4E5D2191-C2AD-4B0C-9754-1196F9D5C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33950"/>
            <a:ext cx="857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b="1"/>
              <a:t>medium</a:t>
            </a:r>
          </a:p>
        </p:txBody>
      </p:sp>
      <p:sp>
        <p:nvSpPr>
          <p:cNvPr id="27" name="shape-173">
            <a:extLst xmlns:a="http://schemas.openxmlformats.org/drawingml/2006/main">
              <a:ext uri="{FF2B5EF4-FFF2-40B4-BE49-F238E27FC236}">
                <a16:creationId xmlns:a16="http://schemas.microsoft.com/office/drawing/2014/main" id="{38D53987-1D42-4B9C-B416-C4854CFFB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953000"/>
            <a:ext cx="4000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0">
            <a:solidFill>
              <a:srgbClr val="EEF1F4"/>
            </a:solidFill>
            <a:prstDash val="solid"/>
          </a:ln>
        </p:spPr>
      </p:sp>
      <p:sp>
        <p:nvSpPr>
          <p:cNvPr id="28" name="shape-174">
            <a:extLst xmlns:a="http://schemas.openxmlformats.org/drawingml/2006/main">
              <a:ext uri="{FF2B5EF4-FFF2-40B4-BE49-F238E27FC236}">
                <a16:creationId xmlns:a16="http://schemas.microsoft.com/office/drawing/2014/main" id="{FA6ECA20-817E-40B2-A389-099D0A3F4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953000"/>
            <a:ext cx="4000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73F5F"/>
          </a:solidFill>
          <a:ln xmlns:a="http://schemas.openxmlformats.org/drawingml/2006/main" w="0">
            <a:solidFill>
              <a:srgbClr val="173F5F"/>
            </a:solidFill>
            <a:prstDash val="solid"/>
          </a:ln>
        </p:spPr>
      </p:sp>
      <p:sp>
        <p:nvSpPr>
          <p:cNvPr id="29" name="text-175">
            <a:extLst xmlns:a="http://schemas.openxmlformats.org/drawingml/2006/main">
              <a:ext uri="{FF2B5EF4-FFF2-40B4-BE49-F238E27FC236}">
                <a16:creationId xmlns:a16="http://schemas.microsoft.com/office/drawing/2014/main" id="{51250E8A-6280-4C6C-8F82-7BDC4EF1A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914900"/>
            <a:ext cx="476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>
                <a:solidFill>
                  <a:srgbClr val="173F5F"/>
                </a:solidFill>
                <a:latin typeface="PingFang SC"/>
                <a:ea typeface="PingFang SC"/>
                <a:cs typeface="PingFang SC"/>
              </a:defRPr>
            </a:pPr>
            <a:r>
              <a:rPr b="1"/>
              <a:t>28</a:t>
            </a:r>
          </a:p>
        </p:txBody>
      </p:sp>
      <p:sp>
        <p:nvSpPr>
          <p:cNvPr id="30" name="text-176">
            <a:extLst xmlns:a="http://schemas.openxmlformats.org/drawingml/2006/main">
              <a:ext uri="{FF2B5EF4-FFF2-40B4-BE49-F238E27FC236}">
                <a16:creationId xmlns:a16="http://schemas.microsoft.com/office/drawing/2014/main" id="{04FD5D22-8D8F-4B13-AB62-7FB2D1892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72100"/>
            <a:ext cx="857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b="1"/>
              <a:t>high</a:t>
            </a:r>
          </a:p>
        </p:txBody>
      </p:sp>
      <p:sp>
        <p:nvSpPr>
          <p:cNvPr id="31" name="shape-177">
            <a:extLst xmlns:a="http://schemas.openxmlformats.org/drawingml/2006/main">
              <a:ext uri="{FF2B5EF4-FFF2-40B4-BE49-F238E27FC236}">
                <a16:creationId xmlns:a16="http://schemas.microsoft.com/office/drawing/2014/main" id="{C5F888E0-0014-4BB0-BB13-73D587071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391150"/>
            <a:ext cx="4000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0">
            <a:solidFill>
              <a:srgbClr val="EEF1F4"/>
            </a:solidFill>
            <a:prstDash val="solid"/>
          </a:ln>
        </p:spPr>
      </p:sp>
      <p:sp>
        <p:nvSpPr>
          <p:cNvPr id="32" name="text-178">
            <a:extLst xmlns:a="http://schemas.openxmlformats.org/drawingml/2006/main">
              <a:ext uri="{FF2B5EF4-FFF2-40B4-BE49-F238E27FC236}">
                <a16:creationId xmlns:a16="http://schemas.microsoft.com/office/drawing/2014/main" id="{FA7AF2D2-F859-4E8C-B100-DA1658B6B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5353050"/>
            <a:ext cx="476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>
                <a:solidFill>
                  <a:srgbClr val="C2413B"/>
                </a:solidFill>
                <a:latin typeface="PingFang SC"/>
                <a:ea typeface="PingFang SC"/>
                <a:cs typeface="PingFang SC"/>
              </a:defRPr>
            </a:pPr>
            <a:r>
              <a:rPr b="1"/>
              <a:t>0</a:t>
            </a:r>
          </a:p>
        </p:txBody>
      </p:sp>
      <p:sp>
        <p:nvSpPr>
          <p:cNvPr id="33" name="shape-179">
            <a:extLst xmlns:a="http://schemas.openxmlformats.org/drawingml/2006/main">
              <a:ext uri="{FF2B5EF4-FFF2-40B4-BE49-F238E27FC236}">
                <a16:creationId xmlns:a16="http://schemas.microsoft.com/office/drawing/2014/main" id="{308AA9AB-F816-4109-BB50-F382D199F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00450"/>
            <a:ext cx="5257800" cy="2114550"/>
          </a:xfrm>
          <a:prstGeom xmlns:a="http://schemas.openxmlformats.org/drawingml/2006/main" prst="roundRect">
            <a:avLst>
              <a:gd name="adj" fmla="val 3604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solidFill>
              <a:srgbClr val="0B1F33"/>
            </a:solidFill>
            <a:prstDash val="solid"/>
          </a:ln>
        </p:spPr>
      </p:sp>
      <p:sp>
        <p:nvSpPr>
          <p:cNvPr id="34" name="text-180">
            <a:extLst xmlns:a="http://schemas.openxmlformats.org/drawingml/2006/main">
              <a:ext uri="{FF2B5EF4-FFF2-40B4-BE49-F238E27FC236}">
                <a16:creationId xmlns:a16="http://schemas.microsoft.com/office/drawing/2014/main" id="{0B977EE1-0EFD-4DFA-91BA-6D56ADDC7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886200"/>
            <a:ext cx="2095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b="1"/>
              <a:t>评测设置</a:t>
            </a:r>
          </a:p>
        </p:txBody>
      </p:sp>
      <p:sp>
        <p:nvSpPr>
          <p:cNvPr id="35" name="text-181">
            <a:extLst xmlns:a="http://schemas.openxmlformats.org/drawingml/2006/main">
              <a:ext uri="{FF2B5EF4-FFF2-40B4-BE49-F238E27FC236}">
                <a16:creationId xmlns:a16="http://schemas.microsoft.com/office/drawing/2014/main" id="{47ABCF50-412C-45F2-9090-A9CDD831E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419600"/>
            <a:ext cx="4572000" cy="1123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• Accuracy + Macro F1
• 逐 case_id 比较实际 Prompt
• Codex CLI 0.142.4 · gpt-5.5
• 容量中断后保留成功记录并断点续跑</a:t>
            </a:r>
          </a:p>
        </p:txBody>
      </p:sp>
      <p:sp>
        <p:nvSpPr>
          <p:cNvPr id="36" name="shape-182">
            <a:extLst xmlns:a="http://schemas.openxmlformats.org/drawingml/2006/main">
              <a:ext uri="{FF2B5EF4-FFF2-40B4-BE49-F238E27FC236}">
                <a16:creationId xmlns:a16="http://schemas.microsoft.com/office/drawing/2014/main" id="{2D34B1EE-DC65-41FD-B1AE-AA83F6D4D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819775"/>
            <a:ext cx="32575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BE8E6"/>
          </a:solidFill>
          <a:ln xmlns:a="http://schemas.openxmlformats.org/drawingml/2006/main" w="0">
            <a:solidFill>
              <a:srgbClr val="FBE8E6"/>
            </a:solidFill>
            <a:prstDash val="solid"/>
          </a:ln>
        </p:spPr>
      </p:sp>
      <p:sp>
        <p:nvSpPr>
          <p:cNvPr id="37" name="text-183">
            <a:extLst xmlns:a="http://schemas.openxmlformats.org/drawingml/2006/main">
              <a:ext uri="{FF2B5EF4-FFF2-40B4-BE49-F238E27FC236}">
                <a16:creationId xmlns:a16="http://schemas.microsoft.com/office/drawing/2014/main" id="{63E47E85-23FF-4582-827E-F77E37114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867400"/>
            <a:ext cx="3067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C2413B"/>
                </a:solidFill>
                <a:latin typeface="PingFang SC"/>
                <a:ea typeface="PingFang SC"/>
                <a:cs typeface="PingFang SC"/>
              </a:defRPr>
            </a:pPr>
            <a:r>
              <a:rPr b="1"/>
              <a:t>局限：high-context 样本为 0</a:t>
            </a:r>
          </a:p>
        </p:txBody>
      </p:sp>
      <p:sp>
        <p:nvSpPr>
          <p:cNvPr id="38" name="shape-184">
            <a:extLst xmlns:a="http://schemas.openxmlformats.org/drawingml/2006/main">
              <a:ext uri="{FF2B5EF4-FFF2-40B4-BE49-F238E27FC236}">
                <a16:creationId xmlns:a16="http://schemas.microsoft.com/office/drawing/2014/main" id="{5D3BF264-4D6B-466C-8FB7-50A8B2441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BE1"/>
          </a:solidFill>
          <a:ln xmlns:a="http://schemas.openxmlformats.org/drawingml/2006/main" w="0">
            <a:solidFill>
              <a:srgbClr val="D5DBE1"/>
            </a:solidFill>
            <a:prstDash val="solid"/>
          </a:ln>
        </p:spPr>
      </p:sp>
      <p:sp>
        <p:nvSpPr>
          <p:cNvPr id="39" name="text-185">
            <a:extLst xmlns:a="http://schemas.openxmlformats.org/drawingml/2006/main">
              <a:ext uri="{FF2B5EF4-FFF2-40B4-BE49-F238E27FC236}">
                <a16:creationId xmlns:a16="http://schemas.microsoft.com/office/drawing/2014/main" id="{EA3C5A02-5696-415F-BB5B-9CD365965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5905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5F6B76"/>
                </a:solidFill>
                <a:latin typeface="PingFang SC"/>
                <a:ea typeface="PingFang SC"/>
                <a:cs typeface="PingFang SC"/>
              </a:defRPr>
            </a:pPr>
            <a:r>
              <a:t>来源：本地 Seed-64 实验记录</a:t>
            </a:r>
          </a:p>
        </p:txBody>
      </p:sp>
    </p:spTree>
    <p:extLst>
      <p:ext uri="{BB962C8B-B14F-4D97-AF65-F5344CB8AC3E}">
        <p14:creationId xmlns:p14="http://schemas.microsoft.com/office/powerpoint/2010/main" val="71101746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-186">
            <a:extLst xmlns:a="http://schemas.openxmlformats.org/drawingml/2006/main">
              <a:ext uri="{FF2B5EF4-FFF2-40B4-BE49-F238E27FC236}">
                <a16:creationId xmlns:a16="http://schemas.microsoft.com/office/drawing/2014/main" id="{76DEC38F-633B-4D3A-A745-8F2750C10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6858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14B8A6"/>
                </a:solidFill>
                <a:latin typeface="PingFang SC"/>
                <a:ea typeface="PingFang SC"/>
                <a:cs typeface="PingFang SC"/>
              </a:defRPr>
            </a:pPr>
            <a:r>
              <a:rPr b="1"/>
              <a:t>EMOTION RECOGNITION · ABLATION STUDY</a:t>
            </a:r>
          </a:p>
        </p:txBody>
      </p:sp>
      <p:sp>
        <p:nvSpPr>
          <p:cNvPr id="2" name="text-187">
            <a:extLst xmlns:a="http://schemas.openxmlformats.org/drawingml/2006/main">
              <a:ext uri="{FF2B5EF4-FFF2-40B4-BE49-F238E27FC236}">
                <a16:creationId xmlns:a16="http://schemas.microsoft.com/office/drawing/2014/main" id="{E34CF2D9-EEE6-42BA-B583-2BCCF8C72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0075"/>
            <a:ext cx="10668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75">
                <a:solidFill>
                  <a:srgbClr val="0B1F33"/>
                </a:solidFill>
                <a:latin typeface="PingFang SC"/>
                <a:ea typeface="PingFang SC"/>
                <a:cs typeface="PingFang SC"/>
              </a:defRPr>
            </a:pPr>
            <a:r>
              <a:rPr b="1"/>
              <a:t>主结果：静态示例配置在 Seed-64 上最好</a:t>
            </a:r>
          </a:p>
        </p:txBody>
      </p:sp>
      <p:sp>
        <p:nvSpPr>
          <p:cNvPr id="3" name="shape-188">
            <a:extLst xmlns:a="http://schemas.openxmlformats.org/drawingml/2006/main">
              <a:ext uri="{FF2B5EF4-FFF2-40B4-BE49-F238E27FC236}">
                <a16:creationId xmlns:a16="http://schemas.microsoft.com/office/drawing/2014/main" id="{96B13231-C6F2-4074-BC9A-5B1C88E13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668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BE1"/>
          </a:solidFill>
          <a:ln xmlns:a="http://schemas.openxmlformats.org/drawingml/2006/main" w="0">
            <a:solidFill>
              <a:srgbClr val="D5DBE1"/>
            </a:solidFill>
            <a:prstDash val="solid"/>
          </a:ln>
        </p:spPr>
      </p:sp>
      <p:sp>
        <p:nvSpPr>
          <p:cNvPr id="4" name="text-189">
            <a:extLst xmlns:a="http://schemas.openxmlformats.org/drawingml/2006/main">
              <a:ext uri="{FF2B5EF4-FFF2-40B4-BE49-F238E27FC236}">
                <a16:creationId xmlns:a16="http://schemas.microsoft.com/office/drawing/2014/main" id="{F1F961FE-B00D-47D0-A97F-43BCF8697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85750"/>
            <a:ext cx="495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F6B76"/>
                </a:solidFill>
                <a:latin typeface="PingFang SC"/>
                <a:ea typeface="PingFang SC"/>
                <a:cs typeface="PingFang SC"/>
              </a:defRPr>
            </a:pPr>
            <a:r>
              <a:rPr b="1"/>
              <a:t>06</a:t>
            </a:r>
          </a:p>
        </p:txBody>
      </p:sp>
      <p:sp>
        <p:nvSpPr>
          <p:cNvPr id="5" name="text-190">
            <a:extLst xmlns:a="http://schemas.openxmlformats.org/drawingml/2006/main">
              <a:ext uri="{FF2B5EF4-FFF2-40B4-BE49-F238E27FC236}">
                <a16:creationId xmlns:a16="http://schemas.microsoft.com/office/drawing/2014/main" id="{BA497591-31C5-446A-AE01-504B97017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438275"/>
            <a:ext cx="1143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173F5F"/>
                </a:solidFill>
                <a:latin typeface="PingFang SC"/>
                <a:ea typeface="PingFang SC"/>
                <a:cs typeface="PingFang SC"/>
              </a:defRPr>
            </a:pPr>
            <a:r>
              <a:rPr b="1"/>
              <a:t>Accuracy</a:t>
            </a:r>
          </a:p>
        </p:txBody>
      </p:sp>
      <p:sp>
        <p:nvSpPr>
          <p:cNvPr id="6" name="text-191">
            <a:extLst xmlns:a="http://schemas.openxmlformats.org/drawingml/2006/main">
              <a:ext uri="{FF2B5EF4-FFF2-40B4-BE49-F238E27FC236}">
                <a16:creationId xmlns:a16="http://schemas.microsoft.com/office/drawing/2014/main" id="{8D4E8CA1-0B1F-466F-AA7B-D34D10B31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438275"/>
            <a:ext cx="1143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14B8A6"/>
                </a:solidFill>
                <a:latin typeface="PingFang SC"/>
                <a:ea typeface="PingFang SC"/>
                <a:cs typeface="PingFang SC"/>
              </a:defRPr>
            </a:pPr>
            <a:r>
              <a:rPr b="1"/>
              <a:t>Macro F1</a:t>
            </a:r>
          </a:p>
        </p:txBody>
      </p:sp>
      <p:sp>
        <p:nvSpPr>
          <p:cNvPr id="7" name="shape-192">
            <a:extLst xmlns:a="http://schemas.openxmlformats.org/drawingml/2006/main">
              <a:ext uri="{FF2B5EF4-FFF2-40B4-BE49-F238E27FC236}">
                <a16:creationId xmlns:a16="http://schemas.microsoft.com/office/drawing/2014/main" id="{4BE98953-ED16-4F84-B8F6-EFA5A1C12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112776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BE1"/>
            </a:solidFill>
            <a:prstDash val="solid"/>
          </a:ln>
        </p:spPr>
      </p:sp>
      <p:sp>
        <p:nvSpPr>
          <p:cNvPr id="8" name="text-193">
            <a:extLst xmlns:a="http://schemas.openxmlformats.org/drawingml/2006/main">
              <a:ext uri="{FF2B5EF4-FFF2-40B4-BE49-F238E27FC236}">
                <a16:creationId xmlns:a16="http://schemas.microsoft.com/office/drawing/2014/main" id="{CDBA89C8-EA57-4D38-859C-254AB3359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85950"/>
            <a:ext cx="2000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b="1"/>
              <a:t>完整配置</a:t>
            </a:r>
          </a:p>
        </p:txBody>
      </p:sp>
      <p:sp>
        <p:nvSpPr>
          <p:cNvPr id="9" name="shape-194">
            <a:extLst xmlns:a="http://schemas.openxmlformats.org/drawingml/2006/main">
              <a:ext uri="{FF2B5EF4-FFF2-40B4-BE49-F238E27FC236}">
                <a16:creationId xmlns:a16="http://schemas.microsoft.com/office/drawing/2014/main" id="{AD76D082-0E3D-41AC-BB08-7DCD33D94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924050"/>
            <a:ext cx="36195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" name="shape-195">
            <a:extLst xmlns:a="http://schemas.openxmlformats.org/drawingml/2006/main">
              <a:ext uri="{FF2B5EF4-FFF2-40B4-BE49-F238E27FC236}">
                <a16:creationId xmlns:a16="http://schemas.microsoft.com/office/drawing/2014/main" id="{1007B2F2-ADD2-4297-8249-B32E4C292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924050"/>
            <a:ext cx="2944025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73F5F"/>
          </a:solidFill>
          <a:ln xmlns:a="http://schemas.openxmlformats.org/drawingml/2006/main" w="0">
            <a:solidFill>
              <a:srgbClr val="173F5F"/>
            </a:solidFill>
            <a:prstDash val="solid"/>
          </a:ln>
        </p:spPr>
      </p:sp>
      <p:sp>
        <p:nvSpPr>
          <p:cNvPr id="11" name="text-196">
            <a:extLst xmlns:a="http://schemas.openxmlformats.org/drawingml/2006/main">
              <a:ext uri="{FF2B5EF4-FFF2-40B4-BE49-F238E27FC236}">
                <a16:creationId xmlns:a16="http://schemas.microsoft.com/office/drawing/2014/main" id="{D35465D7-EC36-4F8B-B4CD-0729CB502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57375"/>
            <a:ext cx="876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>
                <a:solidFill>
                  <a:srgbClr val="173F5F"/>
                </a:solidFill>
                <a:latin typeface="PingFang SC"/>
                <a:ea typeface="PingFang SC"/>
                <a:cs typeface="PingFang SC"/>
              </a:defRPr>
            </a:pPr>
            <a:r>
              <a:rPr b="1"/>
              <a:t>71.88%</a:t>
            </a:r>
          </a:p>
        </p:txBody>
      </p:sp>
      <p:sp>
        <p:nvSpPr>
          <p:cNvPr id="12" name="shape-197">
            <a:extLst xmlns:a="http://schemas.openxmlformats.org/drawingml/2006/main">
              <a:ext uri="{FF2B5EF4-FFF2-40B4-BE49-F238E27FC236}">
                <a16:creationId xmlns:a16="http://schemas.microsoft.com/office/drawing/2014/main" id="{B73765F7-24F9-4A4C-BA9A-C74B9CE55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924050"/>
            <a:ext cx="31432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3" name="shape-198">
            <a:extLst xmlns:a="http://schemas.openxmlformats.org/drawingml/2006/main">
              <a:ext uri="{FF2B5EF4-FFF2-40B4-BE49-F238E27FC236}">
                <a16:creationId xmlns:a16="http://schemas.microsoft.com/office/drawing/2014/main" id="{0055E079-A868-46D9-8F1A-13D11F86F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924050"/>
            <a:ext cx="2348865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73F5F"/>
          </a:solidFill>
          <a:ln xmlns:a="http://schemas.openxmlformats.org/drawingml/2006/main" w="0">
            <a:solidFill>
              <a:srgbClr val="173F5F"/>
            </a:solidFill>
            <a:prstDash val="solid"/>
          </a:ln>
        </p:spPr>
      </p:sp>
      <p:sp>
        <p:nvSpPr>
          <p:cNvPr id="14" name="text-199">
            <a:extLst xmlns:a="http://schemas.openxmlformats.org/drawingml/2006/main">
              <a:ext uri="{FF2B5EF4-FFF2-40B4-BE49-F238E27FC236}">
                <a16:creationId xmlns:a16="http://schemas.microsoft.com/office/drawing/2014/main" id="{59E6FFC7-A918-4683-93BC-200626738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1857375"/>
            <a:ext cx="742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>
                <a:solidFill>
                  <a:srgbClr val="173F5F"/>
                </a:solidFill>
                <a:latin typeface="PingFang SC"/>
                <a:ea typeface="PingFang SC"/>
                <a:cs typeface="PingFang SC"/>
              </a:defRPr>
            </a:pPr>
            <a:r>
              <a:rPr b="1"/>
              <a:t>65.76%</a:t>
            </a:r>
          </a:p>
        </p:txBody>
      </p:sp>
      <p:sp>
        <p:nvSpPr>
          <p:cNvPr id="15" name="shape-200">
            <a:extLst xmlns:a="http://schemas.openxmlformats.org/drawingml/2006/main">
              <a:ext uri="{FF2B5EF4-FFF2-40B4-BE49-F238E27FC236}">
                <a16:creationId xmlns:a16="http://schemas.microsoft.com/office/drawing/2014/main" id="{10DB608C-08AB-4E6E-926A-2E503DF5F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0"/>
            <a:ext cx="112776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DDF7F3"/>
          </a:solidFill>
          <a:ln xmlns:a="http://schemas.openxmlformats.org/drawingml/2006/main" w="0">
            <a:solidFill>
              <a:srgbClr val="DDF7F3"/>
            </a:solidFill>
            <a:prstDash val="solid"/>
          </a:ln>
        </p:spPr>
      </p:sp>
      <p:sp>
        <p:nvSpPr>
          <p:cNvPr id="16" name="text-201">
            <a:extLst xmlns:a="http://schemas.openxmlformats.org/drawingml/2006/main">
              <a:ext uri="{FF2B5EF4-FFF2-40B4-BE49-F238E27FC236}">
                <a16:creationId xmlns:a16="http://schemas.microsoft.com/office/drawing/2014/main" id="{F4D09E69-B93B-4035-A610-F1D4CEAB9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28900"/>
            <a:ext cx="2000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b="1"/>
              <a:t>静态示例</a:t>
            </a:r>
          </a:p>
        </p:txBody>
      </p:sp>
      <p:sp>
        <p:nvSpPr>
          <p:cNvPr id="17" name="shape-202">
            <a:extLst xmlns:a="http://schemas.openxmlformats.org/drawingml/2006/main">
              <a:ext uri="{FF2B5EF4-FFF2-40B4-BE49-F238E27FC236}">
                <a16:creationId xmlns:a16="http://schemas.microsoft.com/office/drawing/2014/main" id="{9C1738B6-8152-4029-A2F5-1715845C3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667000"/>
            <a:ext cx="36195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8" name="shape-203">
            <a:extLst xmlns:a="http://schemas.openxmlformats.org/drawingml/2006/main">
              <a:ext uri="{FF2B5EF4-FFF2-40B4-BE49-F238E27FC236}">
                <a16:creationId xmlns:a16="http://schemas.microsoft.com/office/drawing/2014/main" id="{66CB27CB-3EF1-466E-A4D2-C1234597C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667000"/>
            <a:ext cx="3263903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  <a:prstDash val="solid"/>
          </a:ln>
        </p:spPr>
      </p:sp>
      <p:sp>
        <p:nvSpPr>
          <p:cNvPr id="19" name="text-204">
            <a:extLst xmlns:a="http://schemas.openxmlformats.org/drawingml/2006/main">
              <a:ext uri="{FF2B5EF4-FFF2-40B4-BE49-F238E27FC236}">
                <a16:creationId xmlns:a16="http://schemas.microsoft.com/office/drawing/2014/main" id="{6B9C4B0B-2123-4D61-9348-69DABDD74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00325"/>
            <a:ext cx="876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>
                <a:solidFill>
                  <a:srgbClr val="14B8A6"/>
                </a:solidFill>
                <a:latin typeface="PingFang SC"/>
                <a:ea typeface="PingFang SC"/>
                <a:cs typeface="PingFang SC"/>
              </a:defRPr>
            </a:pPr>
            <a:r>
              <a:rPr b="1"/>
              <a:t>79.69%</a:t>
            </a:r>
          </a:p>
        </p:txBody>
      </p:sp>
      <p:sp>
        <p:nvSpPr>
          <p:cNvPr id="20" name="shape-205">
            <a:extLst xmlns:a="http://schemas.openxmlformats.org/drawingml/2006/main">
              <a:ext uri="{FF2B5EF4-FFF2-40B4-BE49-F238E27FC236}">
                <a16:creationId xmlns:a16="http://schemas.microsoft.com/office/drawing/2014/main" id="{E4E0CC6B-3852-408E-B737-6EE3B53C5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667000"/>
            <a:ext cx="31432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1" name="shape-206">
            <a:extLst xmlns:a="http://schemas.openxmlformats.org/drawingml/2006/main">
              <a:ext uri="{FF2B5EF4-FFF2-40B4-BE49-F238E27FC236}">
                <a16:creationId xmlns:a16="http://schemas.microsoft.com/office/drawing/2014/main" id="{D81E4B48-6C29-4220-A263-767EB86D7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667000"/>
            <a:ext cx="2664619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  <a:prstDash val="solid"/>
          </a:ln>
        </p:spPr>
      </p:sp>
      <p:sp>
        <p:nvSpPr>
          <p:cNvPr id="22" name="text-207">
            <a:extLst xmlns:a="http://schemas.openxmlformats.org/drawingml/2006/main">
              <a:ext uri="{FF2B5EF4-FFF2-40B4-BE49-F238E27FC236}">
                <a16:creationId xmlns:a16="http://schemas.microsoft.com/office/drawing/2014/main" id="{F334E85F-C271-4428-995F-6C5276675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2600325"/>
            <a:ext cx="742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>
                <a:solidFill>
                  <a:srgbClr val="14B8A6"/>
                </a:solidFill>
                <a:latin typeface="PingFang SC"/>
                <a:ea typeface="PingFang SC"/>
                <a:cs typeface="PingFang SC"/>
              </a:defRPr>
            </a:pPr>
            <a:r>
              <a:rPr b="1"/>
              <a:t>74.60%</a:t>
            </a:r>
          </a:p>
        </p:txBody>
      </p:sp>
      <p:sp>
        <p:nvSpPr>
          <p:cNvPr id="23" name="shape-208">
            <a:extLst xmlns:a="http://schemas.openxmlformats.org/drawingml/2006/main">
              <a:ext uri="{FF2B5EF4-FFF2-40B4-BE49-F238E27FC236}">
                <a16:creationId xmlns:a16="http://schemas.microsoft.com/office/drawing/2014/main" id="{6E9D94A1-198F-423D-9EC9-5E7AD1766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19450"/>
            <a:ext cx="112776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0">
            <a:solidFill>
              <a:srgbClr val="EEF1F4"/>
            </a:solidFill>
            <a:prstDash val="solid"/>
          </a:ln>
        </p:spPr>
      </p:sp>
      <p:sp>
        <p:nvSpPr>
          <p:cNvPr id="24" name="text-209">
            <a:extLst xmlns:a="http://schemas.openxmlformats.org/drawingml/2006/main">
              <a:ext uri="{FF2B5EF4-FFF2-40B4-BE49-F238E27FC236}">
                <a16:creationId xmlns:a16="http://schemas.microsoft.com/office/drawing/2014/main" id="{6D3809F7-F832-403E-BB6B-D8705F6BD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71850"/>
            <a:ext cx="2000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b="1"/>
              <a:t>移除情绪历史</a:t>
            </a:r>
          </a:p>
        </p:txBody>
      </p:sp>
      <p:sp>
        <p:nvSpPr>
          <p:cNvPr id="25" name="shape-210">
            <a:extLst xmlns:a="http://schemas.openxmlformats.org/drawingml/2006/main">
              <a:ext uri="{FF2B5EF4-FFF2-40B4-BE49-F238E27FC236}">
                <a16:creationId xmlns:a16="http://schemas.microsoft.com/office/drawing/2014/main" id="{A4A16684-8F97-48F9-9A5D-D02657D23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409950"/>
            <a:ext cx="36195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6" name="shape-211">
            <a:extLst xmlns:a="http://schemas.openxmlformats.org/drawingml/2006/main">
              <a:ext uri="{FF2B5EF4-FFF2-40B4-BE49-F238E27FC236}">
                <a16:creationId xmlns:a16="http://schemas.microsoft.com/office/drawing/2014/main" id="{6191A6AF-D2A0-47DD-9663-14A1D217F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409950"/>
            <a:ext cx="3007919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9AA5B1"/>
          </a:solidFill>
          <a:ln xmlns:a="http://schemas.openxmlformats.org/drawingml/2006/main" w="0">
            <a:solidFill>
              <a:srgbClr val="9AA5B1"/>
            </a:solidFill>
            <a:prstDash val="solid"/>
          </a:ln>
        </p:spPr>
      </p:sp>
      <p:sp>
        <p:nvSpPr>
          <p:cNvPr id="27" name="text-212">
            <a:extLst xmlns:a="http://schemas.openxmlformats.org/drawingml/2006/main">
              <a:ext uri="{FF2B5EF4-FFF2-40B4-BE49-F238E27FC236}">
                <a16:creationId xmlns:a16="http://schemas.microsoft.com/office/drawing/2014/main" id="{7E6952C7-C800-4E2C-91E9-8D6CE0910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43275"/>
            <a:ext cx="876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>
                <a:solidFill>
                  <a:srgbClr val="9AA5B1"/>
                </a:solidFill>
                <a:latin typeface="PingFang SC"/>
                <a:ea typeface="PingFang SC"/>
                <a:cs typeface="PingFang SC"/>
              </a:defRPr>
            </a:pPr>
            <a:r>
              <a:rPr b="1"/>
              <a:t>73.44%</a:t>
            </a:r>
          </a:p>
        </p:txBody>
      </p:sp>
      <p:sp>
        <p:nvSpPr>
          <p:cNvPr id="28" name="shape-213">
            <a:extLst xmlns:a="http://schemas.openxmlformats.org/drawingml/2006/main">
              <a:ext uri="{FF2B5EF4-FFF2-40B4-BE49-F238E27FC236}">
                <a16:creationId xmlns:a16="http://schemas.microsoft.com/office/drawing/2014/main" id="{C6EC4763-7C65-42BD-86C9-6B37F0261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409950"/>
            <a:ext cx="31432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9" name="shape-214">
            <a:extLst xmlns:a="http://schemas.openxmlformats.org/drawingml/2006/main">
              <a:ext uri="{FF2B5EF4-FFF2-40B4-BE49-F238E27FC236}">
                <a16:creationId xmlns:a16="http://schemas.microsoft.com/office/drawing/2014/main" id="{E45A1898-C8A6-4554-918C-47AE7BED2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409950"/>
            <a:ext cx="2460665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9AA5B1"/>
          </a:solidFill>
          <a:ln xmlns:a="http://schemas.openxmlformats.org/drawingml/2006/main" w="0">
            <a:solidFill>
              <a:srgbClr val="9AA5B1"/>
            </a:solidFill>
            <a:prstDash val="solid"/>
          </a:ln>
        </p:spPr>
      </p:sp>
      <p:sp>
        <p:nvSpPr>
          <p:cNvPr id="30" name="text-215">
            <a:extLst xmlns:a="http://schemas.openxmlformats.org/drawingml/2006/main">
              <a:ext uri="{FF2B5EF4-FFF2-40B4-BE49-F238E27FC236}">
                <a16:creationId xmlns:a16="http://schemas.microsoft.com/office/drawing/2014/main" id="{57A21B21-3FE1-4623-98DB-A3D4A486B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3343275"/>
            <a:ext cx="742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>
                <a:solidFill>
                  <a:srgbClr val="9AA5B1"/>
                </a:solidFill>
                <a:latin typeface="PingFang SC"/>
                <a:ea typeface="PingFang SC"/>
                <a:cs typeface="PingFang SC"/>
              </a:defRPr>
            </a:pPr>
            <a:r>
              <a:rPr b="1"/>
              <a:t>68.89%</a:t>
            </a:r>
          </a:p>
        </p:txBody>
      </p:sp>
      <p:sp>
        <p:nvSpPr>
          <p:cNvPr id="31" name="shape-216">
            <a:extLst xmlns:a="http://schemas.openxmlformats.org/drawingml/2006/main">
              <a:ext uri="{FF2B5EF4-FFF2-40B4-BE49-F238E27FC236}">
                <a16:creationId xmlns:a16="http://schemas.microsoft.com/office/drawing/2014/main" id="{697AC72B-72C1-4C05-9101-B8225C76A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314700"/>
            <a:ext cx="7048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2413B"/>
            </a:solidFill>
            <a:prstDash val="solid"/>
          </a:ln>
        </p:spPr>
      </p:sp>
      <p:sp>
        <p:nvSpPr>
          <p:cNvPr id="32" name="text-217">
            <a:extLst xmlns:a="http://schemas.openxmlformats.org/drawingml/2006/main">
              <a:ext uri="{FF2B5EF4-FFF2-40B4-BE49-F238E27FC236}">
                <a16:creationId xmlns:a16="http://schemas.microsoft.com/office/drawing/2014/main" id="{494FB5C2-98A2-42CD-BEC8-CE23B6E12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362325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C2413B"/>
                </a:solidFill>
                <a:latin typeface="PingFang SC"/>
                <a:ea typeface="PingFang SC"/>
                <a:cs typeface="PingFang SC"/>
              </a:defRPr>
            </a:pPr>
            <a:r>
              <a:rPr b="1"/>
              <a:t>no-op</a:t>
            </a:r>
          </a:p>
        </p:txBody>
      </p:sp>
      <p:sp>
        <p:nvSpPr>
          <p:cNvPr id="33" name="shape-218">
            <a:extLst xmlns:a="http://schemas.openxmlformats.org/drawingml/2006/main">
              <a:ext uri="{FF2B5EF4-FFF2-40B4-BE49-F238E27FC236}">
                <a16:creationId xmlns:a16="http://schemas.microsoft.com/office/drawing/2014/main" id="{086FD5F2-CBCB-4F5B-8D8E-6C8478C70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62400"/>
            <a:ext cx="112776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0">
            <a:solidFill>
              <a:srgbClr val="EEF1F4"/>
            </a:solidFill>
            <a:prstDash val="solid"/>
          </a:ln>
        </p:spPr>
      </p:sp>
      <p:sp>
        <p:nvSpPr>
          <p:cNvPr id="34" name="text-219">
            <a:extLst xmlns:a="http://schemas.openxmlformats.org/drawingml/2006/main">
              <a:ext uri="{FF2B5EF4-FFF2-40B4-BE49-F238E27FC236}">
                <a16:creationId xmlns:a16="http://schemas.microsoft.com/office/drawing/2014/main" id="{5E0ED1B6-F6DE-401A-BE5A-AE2EA4A63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14800"/>
            <a:ext cx="2000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b="1"/>
              <a:t>缩短上下文</a:t>
            </a:r>
          </a:p>
        </p:txBody>
      </p:sp>
      <p:sp>
        <p:nvSpPr>
          <p:cNvPr id="35" name="shape-220">
            <a:extLst xmlns:a="http://schemas.openxmlformats.org/drawingml/2006/main">
              <a:ext uri="{FF2B5EF4-FFF2-40B4-BE49-F238E27FC236}">
                <a16:creationId xmlns:a16="http://schemas.microsoft.com/office/drawing/2014/main" id="{45E83CC1-9713-4A8D-B2C2-3F56BF4BE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152900"/>
            <a:ext cx="36195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6" name="shape-221">
            <a:extLst xmlns:a="http://schemas.openxmlformats.org/drawingml/2006/main">
              <a:ext uri="{FF2B5EF4-FFF2-40B4-BE49-F238E27FC236}">
                <a16:creationId xmlns:a16="http://schemas.microsoft.com/office/drawing/2014/main" id="{2CBE0B71-0D07-4F02-989E-7775B829F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152900"/>
            <a:ext cx="3007919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9AA5B1"/>
          </a:solidFill>
          <a:ln xmlns:a="http://schemas.openxmlformats.org/drawingml/2006/main" w="0">
            <a:solidFill>
              <a:srgbClr val="9AA5B1"/>
            </a:solidFill>
            <a:prstDash val="solid"/>
          </a:ln>
        </p:spPr>
      </p:sp>
      <p:sp>
        <p:nvSpPr>
          <p:cNvPr id="37" name="text-222">
            <a:extLst xmlns:a="http://schemas.openxmlformats.org/drawingml/2006/main">
              <a:ext uri="{FF2B5EF4-FFF2-40B4-BE49-F238E27FC236}">
                <a16:creationId xmlns:a16="http://schemas.microsoft.com/office/drawing/2014/main" id="{CA90155D-2432-48AF-83CA-09FB48856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86225"/>
            <a:ext cx="876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>
                <a:solidFill>
                  <a:srgbClr val="9AA5B1"/>
                </a:solidFill>
                <a:latin typeface="PingFang SC"/>
                <a:ea typeface="PingFang SC"/>
                <a:cs typeface="PingFang SC"/>
              </a:defRPr>
            </a:pPr>
            <a:r>
              <a:rPr b="1"/>
              <a:t>73.44%</a:t>
            </a:r>
          </a:p>
        </p:txBody>
      </p:sp>
      <p:sp>
        <p:nvSpPr>
          <p:cNvPr id="38" name="shape-223">
            <a:extLst xmlns:a="http://schemas.openxmlformats.org/drawingml/2006/main">
              <a:ext uri="{FF2B5EF4-FFF2-40B4-BE49-F238E27FC236}">
                <a16:creationId xmlns:a16="http://schemas.microsoft.com/office/drawing/2014/main" id="{4C6FC252-A944-464B-8E51-AB5A88F94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152900"/>
            <a:ext cx="31432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9" name="shape-224">
            <a:extLst xmlns:a="http://schemas.openxmlformats.org/drawingml/2006/main">
              <a:ext uri="{FF2B5EF4-FFF2-40B4-BE49-F238E27FC236}">
                <a16:creationId xmlns:a16="http://schemas.microsoft.com/office/drawing/2014/main" id="{891E6390-E277-4A6B-99AE-C5D1B3D11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152900"/>
            <a:ext cx="2418517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9AA5B1"/>
          </a:solidFill>
          <a:ln xmlns:a="http://schemas.openxmlformats.org/drawingml/2006/main" w="0">
            <a:solidFill>
              <a:srgbClr val="9AA5B1"/>
            </a:solidFill>
            <a:prstDash val="solid"/>
          </a:ln>
        </p:spPr>
      </p:sp>
      <p:sp>
        <p:nvSpPr>
          <p:cNvPr id="40" name="text-225">
            <a:extLst xmlns:a="http://schemas.openxmlformats.org/drawingml/2006/main">
              <a:ext uri="{FF2B5EF4-FFF2-40B4-BE49-F238E27FC236}">
                <a16:creationId xmlns:a16="http://schemas.microsoft.com/office/drawing/2014/main" id="{D1B6E8CC-7A44-4F23-AA1A-A1B922944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4086225"/>
            <a:ext cx="742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>
                <a:solidFill>
                  <a:srgbClr val="9AA5B1"/>
                </a:solidFill>
                <a:latin typeface="PingFang SC"/>
                <a:ea typeface="PingFang SC"/>
                <a:cs typeface="PingFang SC"/>
              </a:defRPr>
            </a:pPr>
            <a:r>
              <a:rPr b="1"/>
              <a:t>67.71%</a:t>
            </a:r>
          </a:p>
        </p:txBody>
      </p:sp>
      <p:sp>
        <p:nvSpPr>
          <p:cNvPr id="41" name="shape-226">
            <a:extLst xmlns:a="http://schemas.openxmlformats.org/drawingml/2006/main">
              <a:ext uri="{FF2B5EF4-FFF2-40B4-BE49-F238E27FC236}">
                <a16:creationId xmlns:a16="http://schemas.microsoft.com/office/drawing/2014/main" id="{2941B364-D5D2-4F0B-BCC7-4905FE0ED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057650"/>
            <a:ext cx="7048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2413B"/>
            </a:solidFill>
            <a:prstDash val="solid"/>
          </a:ln>
        </p:spPr>
      </p:sp>
      <p:sp>
        <p:nvSpPr>
          <p:cNvPr id="42" name="text-227">
            <a:extLst xmlns:a="http://schemas.openxmlformats.org/drawingml/2006/main">
              <a:ext uri="{FF2B5EF4-FFF2-40B4-BE49-F238E27FC236}">
                <a16:creationId xmlns:a16="http://schemas.microsoft.com/office/drawing/2014/main" id="{AE2D222B-7AAB-4778-98AE-1C90520F2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105275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C2413B"/>
                </a:solidFill>
                <a:latin typeface="PingFang SC"/>
                <a:ea typeface="PingFang SC"/>
                <a:cs typeface="PingFang SC"/>
              </a:defRPr>
            </a:pPr>
            <a:r>
              <a:rPr b="1"/>
              <a:t>no-op</a:t>
            </a:r>
          </a:p>
        </p:txBody>
      </p:sp>
      <p:sp>
        <p:nvSpPr>
          <p:cNvPr id="43" name="shape-228">
            <a:extLst xmlns:a="http://schemas.openxmlformats.org/drawingml/2006/main">
              <a:ext uri="{FF2B5EF4-FFF2-40B4-BE49-F238E27FC236}">
                <a16:creationId xmlns:a16="http://schemas.microsoft.com/office/drawing/2014/main" id="{8280ACAF-F22B-452E-B658-ECD8DF468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05350"/>
            <a:ext cx="112776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DE8DB"/>
          </a:solidFill>
          <a:ln xmlns:a="http://schemas.openxmlformats.org/drawingml/2006/main" w="0">
            <a:solidFill>
              <a:srgbClr val="FDE8DB"/>
            </a:solidFill>
            <a:prstDash val="solid"/>
          </a:ln>
        </p:spPr>
      </p:sp>
      <p:sp>
        <p:nvSpPr>
          <p:cNvPr id="44" name="text-229">
            <a:extLst xmlns:a="http://schemas.openxmlformats.org/drawingml/2006/main">
              <a:ext uri="{FF2B5EF4-FFF2-40B4-BE49-F238E27FC236}">
                <a16:creationId xmlns:a16="http://schemas.microsoft.com/office/drawing/2014/main" id="{6E5F146A-18AD-4C30-B14B-2EF17F360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57750"/>
            <a:ext cx="2000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b="1"/>
              <a:t>零样本组合</a:t>
            </a:r>
          </a:p>
        </p:txBody>
      </p:sp>
      <p:sp>
        <p:nvSpPr>
          <p:cNvPr id="45" name="shape-230">
            <a:extLst xmlns:a="http://schemas.openxmlformats.org/drawingml/2006/main">
              <a:ext uri="{FF2B5EF4-FFF2-40B4-BE49-F238E27FC236}">
                <a16:creationId xmlns:a16="http://schemas.microsoft.com/office/drawing/2014/main" id="{3E94BD15-1013-4163-A059-A0405C7EC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895850"/>
            <a:ext cx="36195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6" name="shape-231">
            <a:extLst xmlns:a="http://schemas.openxmlformats.org/drawingml/2006/main">
              <a:ext uri="{FF2B5EF4-FFF2-40B4-BE49-F238E27FC236}">
                <a16:creationId xmlns:a16="http://schemas.microsoft.com/office/drawing/2014/main" id="{E417C5CF-233D-4290-AF31-1E6EB3F49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895850"/>
            <a:ext cx="2751934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97732"/>
          </a:solidFill>
          <a:ln xmlns:a="http://schemas.openxmlformats.org/drawingml/2006/main" w="0">
            <a:solidFill>
              <a:srgbClr val="E97732"/>
            </a:solidFill>
            <a:prstDash val="solid"/>
          </a:ln>
        </p:spPr>
      </p:sp>
      <p:sp>
        <p:nvSpPr>
          <p:cNvPr id="47" name="text-232">
            <a:extLst xmlns:a="http://schemas.openxmlformats.org/drawingml/2006/main">
              <a:ext uri="{FF2B5EF4-FFF2-40B4-BE49-F238E27FC236}">
                <a16:creationId xmlns:a16="http://schemas.microsoft.com/office/drawing/2014/main" id="{4A9EB528-5A8A-4A20-AE29-DED34C591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829175"/>
            <a:ext cx="876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>
                <a:solidFill>
                  <a:srgbClr val="E97732"/>
                </a:solidFill>
                <a:latin typeface="PingFang SC"/>
                <a:ea typeface="PingFang SC"/>
                <a:cs typeface="PingFang SC"/>
              </a:defRPr>
            </a:pPr>
            <a:r>
              <a:rPr b="1"/>
              <a:t>67.19%</a:t>
            </a:r>
          </a:p>
        </p:txBody>
      </p:sp>
      <p:sp>
        <p:nvSpPr>
          <p:cNvPr id="48" name="shape-233">
            <a:extLst xmlns:a="http://schemas.openxmlformats.org/drawingml/2006/main">
              <a:ext uri="{FF2B5EF4-FFF2-40B4-BE49-F238E27FC236}">
                <a16:creationId xmlns:a16="http://schemas.microsoft.com/office/drawing/2014/main" id="{113012CF-C216-43FA-A9C5-44E1F66D4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895850"/>
            <a:ext cx="31432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9" name="shape-234">
            <a:extLst xmlns:a="http://schemas.openxmlformats.org/drawingml/2006/main">
              <a:ext uri="{FF2B5EF4-FFF2-40B4-BE49-F238E27FC236}">
                <a16:creationId xmlns:a16="http://schemas.microsoft.com/office/drawing/2014/main" id="{42D73CFD-6EFD-438E-B109-8FED6F0BB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895850"/>
            <a:ext cx="2172772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97732"/>
          </a:solidFill>
          <a:ln xmlns:a="http://schemas.openxmlformats.org/drawingml/2006/main" w="0">
            <a:solidFill>
              <a:srgbClr val="E97732"/>
            </a:solidFill>
            <a:prstDash val="solid"/>
          </a:ln>
        </p:spPr>
      </p:sp>
      <p:sp>
        <p:nvSpPr>
          <p:cNvPr id="50" name="text-235">
            <a:extLst xmlns:a="http://schemas.openxmlformats.org/drawingml/2006/main">
              <a:ext uri="{FF2B5EF4-FFF2-40B4-BE49-F238E27FC236}">
                <a16:creationId xmlns:a16="http://schemas.microsoft.com/office/drawing/2014/main" id="{54D3ECC2-1611-49A5-8715-54C39915E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4829175"/>
            <a:ext cx="742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>
                <a:solidFill>
                  <a:srgbClr val="E97732"/>
                </a:solidFill>
                <a:latin typeface="PingFang SC"/>
                <a:ea typeface="PingFang SC"/>
                <a:cs typeface="PingFang SC"/>
              </a:defRPr>
            </a:pPr>
            <a:r>
              <a:rPr b="1"/>
              <a:t>60.83%</a:t>
            </a:r>
          </a:p>
        </p:txBody>
      </p:sp>
      <p:sp>
        <p:nvSpPr>
          <p:cNvPr id="51" name="shape-236">
            <a:extLst xmlns:a="http://schemas.openxmlformats.org/drawingml/2006/main">
              <a:ext uri="{FF2B5EF4-FFF2-40B4-BE49-F238E27FC236}">
                <a16:creationId xmlns:a16="http://schemas.microsoft.com/office/drawing/2014/main" id="{548A63C4-4A5A-4F82-91A8-FE6446CA8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76900"/>
            <a:ext cx="52959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DF7F3"/>
          </a:solidFill>
          <a:ln xmlns:a="http://schemas.openxmlformats.org/drawingml/2006/main" w="0">
            <a:solidFill>
              <a:srgbClr val="DDF7F3"/>
            </a:solidFill>
            <a:prstDash val="solid"/>
          </a:ln>
        </p:spPr>
      </p:sp>
      <p:sp>
        <p:nvSpPr>
          <p:cNvPr id="52" name="text-237">
            <a:extLst xmlns:a="http://schemas.openxmlformats.org/drawingml/2006/main">
              <a:ext uri="{FF2B5EF4-FFF2-40B4-BE49-F238E27FC236}">
                <a16:creationId xmlns:a16="http://schemas.microsoft.com/office/drawing/2014/main" id="{F944EBDD-C2E9-4E42-930D-A5A699694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29300"/>
            <a:ext cx="4914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173F5F"/>
                </a:solidFill>
                <a:latin typeface="PingFang SC"/>
                <a:ea typeface="PingFang SC"/>
                <a:cs typeface="PingFang SC"/>
              </a:defRPr>
            </a:pPr>
            <a:r>
              <a:rPr b="1"/>
              <a:t>静态示例 vs full：+7.81pp Acc · +8.83pp F1</a:t>
            </a:r>
          </a:p>
        </p:txBody>
      </p:sp>
      <p:sp>
        <p:nvSpPr>
          <p:cNvPr id="53" name="shape-238">
            <a:extLst xmlns:a="http://schemas.openxmlformats.org/drawingml/2006/main">
              <a:ext uri="{FF2B5EF4-FFF2-40B4-BE49-F238E27FC236}">
                <a16:creationId xmlns:a16="http://schemas.microsoft.com/office/drawing/2014/main" id="{8746C7C4-CF49-4B8A-A6A2-0139686D9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676900"/>
            <a:ext cx="57531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DE8DB"/>
          </a:solidFill>
          <a:ln xmlns:a="http://schemas.openxmlformats.org/drawingml/2006/main" w="0">
            <a:solidFill>
              <a:srgbClr val="FDE8DB"/>
            </a:solidFill>
            <a:prstDash val="solid"/>
          </a:ln>
        </p:spPr>
      </p:sp>
      <p:sp>
        <p:nvSpPr>
          <p:cNvPr id="54" name="text-239">
            <a:extLst xmlns:a="http://schemas.openxmlformats.org/drawingml/2006/main">
              <a:ext uri="{FF2B5EF4-FFF2-40B4-BE49-F238E27FC236}">
                <a16:creationId xmlns:a16="http://schemas.microsoft.com/office/drawing/2014/main" id="{80B12B4D-9146-4CBC-9563-72F2921AA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829300"/>
            <a:ext cx="53721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E97732"/>
                </a:solidFill>
                <a:latin typeface="PingFang SC"/>
                <a:ea typeface="PingFang SC"/>
                <a:cs typeface="PingFang SC"/>
              </a:defRPr>
            </a:pPr>
            <a:r>
              <a:rPr b="1"/>
              <a:t>zero-shot vs full：−4.69pp Acc · −4.93pp F1</a:t>
            </a:r>
          </a:p>
        </p:txBody>
      </p:sp>
      <p:sp>
        <p:nvSpPr>
          <p:cNvPr id="55" name="shape-240">
            <a:extLst xmlns:a="http://schemas.openxmlformats.org/drawingml/2006/main">
              <a:ext uri="{FF2B5EF4-FFF2-40B4-BE49-F238E27FC236}">
                <a16:creationId xmlns:a16="http://schemas.microsoft.com/office/drawing/2014/main" id="{D42B0142-1CE9-4665-9C29-232E2E90A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BE1"/>
          </a:solidFill>
          <a:ln xmlns:a="http://schemas.openxmlformats.org/drawingml/2006/main" w="0">
            <a:solidFill>
              <a:srgbClr val="D5DBE1"/>
            </a:solidFill>
            <a:prstDash val="solid"/>
          </a:ln>
        </p:spPr>
      </p:sp>
      <p:sp>
        <p:nvSpPr>
          <p:cNvPr id="56" name="text-241">
            <a:extLst xmlns:a="http://schemas.openxmlformats.org/drawingml/2006/main">
              <a:ext uri="{FF2B5EF4-FFF2-40B4-BE49-F238E27FC236}">
                <a16:creationId xmlns:a16="http://schemas.microsoft.com/office/drawing/2014/main" id="{81AA4F1C-0385-444C-BC7E-02DC6C255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5905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5F6B76"/>
                </a:solidFill>
                <a:latin typeface="PingFang SC"/>
                <a:ea typeface="PingFang SC"/>
                <a:cs typeface="PingFang SC"/>
              </a:defRPr>
            </a:pPr>
            <a:r>
              <a:t>来源：本地 Seed-64 实验记录</a:t>
            </a:r>
          </a:p>
        </p:txBody>
      </p:sp>
    </p:spTree>
    <p:extLst>
      <p:ext uri="{BB962C8B-B14F-4D97-AF65-F5344CB8AC3E}">
        <p14:creationId xmlns:p14="http://schemas.microsoft.com/office/powerpoint/2010/main" val="135794109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-242">
            <a:extLst xmlns:a="http://schemas.openxmlformats.org/drawingml/2006/main">
              <a:ext uri="{FF2B5EF4-FFF2-40B4-BE49-F238E27FC236}">
                <a16:creationId xmlns:a16="http://schemas.microsoft.com/office/drawing/2014/main" id="{8BA54C6F-1850-4A66-B6AA-1CD1B2DC4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6858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14B8A6"/>
                </a:solidFill>
                <a:latin typeface="PingFang SC"/>
                <a:ea typeface="PingFang SC"/>
                <a:cs typeface="PingFang SC"/>
              </a:defRPr>
            </a:pPr>
            <a:r>
              <a:rPr b="1"/>
              <a:t>EMOTION RECOGNITION · ABLATION STUDY</a:t>
            </a:r>
          </a:p>
        </p:txBody>
      </p:sp>
      <p:sp>
        <p:nvSpPr>
          <p:cNvPr id="2" name="text-243">
            <a:extLst xmlns:a="http://schemas.openxmlformats.org/drawingml/2006/main">
              <a:ext uri="{FF2B5EF4-FFF2-40B4-BE49-F238E27FC236}">
                <a16:creationId xmlns:a16="http://schemas.microsoft.com/office/drawing/2014/main" id="{0BB58F88-872E-4ABC-82C1-73ABED0AF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0075"/>
            <a:ext cx="10668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75">
                <a:solidFill>
                  <a:srgbClr val="0B1F33"/>
                </a:solidFill>
                <a:latin typeface="PingFang SC"/>
                <a:ea typeface="PingFang SC"/>
                <a:cs typeface="PingFang SC"/>
              </a:defRPr>
            </a:pPr>
            <a:r>
              <a:rPr b="1"/>
              <a:t>关键发现：两个“消融组”其实没有发生消融</a:t>
            </a:r>
          </a:p>
        </p:txBody>
      </p:sp>
      <p:sp>
        <p:nvSpPr>
          <p:cNvPr id="3" name="shape-244">
            <a:extLst xmlns:a="http://schemas.openxmlformats.org/drawingml/2006/main">
              <a:ext uri="{FF2B5EF4-FFF2-40B4-BE49-F238E27FC236}">
                <a16:creationId xmlns:a16="http://schemas.microsoft.com/office/drawing/2014/main" id="{D7A5A560-AF54-46CC-92DF-1FE0B9AC3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668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BE1"/>
          </a:solidFill>
          <a:ln xmlns:a="http://schemas.openxmlformats.org/drawingml/2006/main" w="0">
            <a:solidFill>
              <a:srgbClr val="D5DBE1"/>
            </a:solidFill>
            <a:prstDash val="solid"/>
          </a:ln>
        </p:spPr>
      </p:sp>
      <p:sp>
        <p:nvSpPr>
          <p:cNvPr id="4" name="text-245">
            <a:extLst xmlns:a="http://schemas.openxmlformats.org/drawingml/2006/main">
              <a:ext uri="{FF2B5EF4-FFF2-40B4-BE49-F238E27FC236}">
                <a16:creationId xmlns:a16="http://schemas.microsoft.com/office/drawing/2014/main" id="{33148BD6-67CC-441B-888C-697444DEF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85750"/>
            <a:ext cx="495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F6B76"/>
                </a:solidFill>
                <a:latin typeface="PingFang SC"/>
                <a:ea typeface="PingFang SC"/>
                <a:cs typeface="PingFang SC"/>
              </a:defRPr>
            </a:pPr>
            <a:r>
              <a:rPr b="1"/>
              <a:t>07</a:t>
            </a:r>
          </a:p>
        </p:txBody>
      </p:sp>
      <p:sp>
        <p:nvSpPr>
          <p:cNvPr id="5" name="text-246">
            <a:extLst xmlns:a="http://schemas.openxmlformats.org/drawingml/2006/main">
              <a:ext uri="{FF2B5EF4-FFF2-40B4-BE49-F238E27FC236}">
                <a16:creationId xmlns:a16="http://schemas.microsoft.com/office/drawing/2014/main" id="{12572141-EF19-4F47-A1A0-BA6327CBF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5334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4B8A6"/>
                </a:solidFill>
                <a:latin typeface="PingFang SC"/>
                <a:ea typeface="PingFang SC"/>
                <a:cs typeface="PingFang SC"/>
              </a:defRPr>
            </a:pPr>
            <a:r>
              <a:rPr b="1"/>
              <a:t>Prompt 确实改变</a:t>
            </a:r>
          </a:p>
        </p:txBody>
      </p:sp>
      <p:sp>
        <p:nvSpPr>
          <p:cNvPr id="6" name="text-247">
            <a:extLst xmlns:a="http://schemas.openxmlformats.org/drawingml/2006/main">
              <a:ext uri="{FF2B5EF4-FFF2-40B4-BE49-F238E27FC236}">
                <a16:creationId xmlns:a16="http://schemas.microsoft.com/office/drawing/2014/main" id="{917F2770-7D0C-406E-99F0-9C2D6C792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504950"/>
            <a:ext cx="5486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C2413B"/>
                </a:solidFill>
                <a:latin typeface="PingFang SC"/>
                <a:ea typeface="PingFang SC"/>
                <a:cs typeface="PingFang SC"/>
              </a:defRPr>
            </a:pPr>
            <a:r>
              <a:rPr b="1"/>
              <a:t>Prompt 完全相同</a:t>
            </a:r>
          </a:p>
        </p:txBody>
      </p:sp>
      <p:sp>
        <p:nvSpPr>
          <p:cNvPr id="7" name="shape-248">
            <a:extLst xmlns:a="http://schemas.openxmlformats.org/drawingml/2006/main">
              <a:ext uri="{FF2B5EF4-FFF2-40B4-BE49-F238E27FC236}">
                <a16:creationId xmlns:a16="http://schemas.microsoft.com/office/drawing/2014/main" id="{A7FD21C4-0328-4F06-907D-20F9303FC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53340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19050">
            <a:solidFill>
              <a:srgbClr val="14B8A6"/>
            </a:solidFill>
            <a:prstDash val="solid"/>
          </a:ln>
        </p:spPr>
      </p:sp>
      <p:sp>
        <p:nvSpPr>
          <p:cNvPr id="8" name="text-249">
            <a:extLst xmlns:a="http://schemas.openxmlformats.org/drawingml/2006/main">
              <a:ext uri="{FF2B5EF4-FFF2-40B4-BE49-F238E27FC236}">
                <a16:creationId xmlns:a16="http://schemas.microsoft.com/office/drawing/2014/main" id="{FF8A01B1-9BB7-491E-97CC-3903008B8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2952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0B1F33"/>
                </a:solidFill>
                <a:latin typeface="PingFang SC"/>
                <a:ea typeface="PingFang SC"/>
                <a:cs typeface="PingFang SC"/>
              </a:defRPr>
            </a:pPr>
            <a:r>
              <a:rPr b="1"/>
              <a:t>no_dynamic_examples</a:t>
            </a:r>
          </a:p>
        </p:txBody>
      </p:sp>
      <p:sp>
        <p:nvSpPr>
          <p:cNvPr id="9" name="text-250">
            <a:extLst xmlns:a="http://schemas.openxmlformats.org/drawingml/2006/main">
              <a:ext uri="{FF2B5EF4-FFF2-40B4-BE49-F238E27FC236}">
                <a16:creationId xmlns:a16="http://schemas.microsoft.com/office/drawing/2014/main" id="{98825357-E945-436F-9A19-2BE108701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171700"/>
            <a:ext cx="18288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>
                <a:solidFill>
                  <a:srgbClr val="14B8A6"/>
                </a:solidFill>
                <a:latin typeface="PingFang SC"/>
                <a:ea typeface="PingFang SC"/>
                <a:cs typeface="PingFang SC"/>
              </a:defRPr>
            </a:pPr>
            <a:r>
              <a:rPr b="1"/>
              <a:t>0 / 64 与 full 相同</a:t>
            </a:r>
          </a:p>
        </p:txBody>
      </p:sp>
      <p:sp>
        <p:nvSpPr>
          <p:cNvPr id="10" name="text-251">
            <a:extLst xmlns:a="http://schemas.openxmlformats.org/drawingml/2006/main">
              <a:ext uri="{FF2B5EF4-FFF2-40B4-BE49-F238E27FC236}">
                <a16:creationId xmlns:a16="http://schemas.microsoft.com/office/drawing/2014/main" id="{0EAFFC21-24BF-43D1-95D2-D1C7EEE80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2857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5F6B76"/>
                </a:solidFill>
                <a:latin typeface="PingFang SC"/>
                <a:ea typeface="PingFang SC"/>
                <a:cs typeface="PingFang SC"/>
              </a:defRPr>
            </a:pPr>
            <a:r>
              <a:t>可进行探索性对比</a:t>
            </a:r>
          </a:p>
        </p:txBody>
      </p:sp>
      <p:sp>
        <p:nvSpPr>
          <p:cNvPr id="11" name="shape-252">
            <a:extLst xmlns:a="http://schemas.openxmlformats.org/drawingml/2006/main">
              <a:ext uri="{FF2B5EF4-FFF2-40B4-BE49-F238E27FC236}">
                <a16:creationId xmlns:a16="http://schemas.microsoft.com/office/drawing/2014/main" id="{52D8DFA5-6B05-4553-9888-6DFAC8CCA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05150"/>
            <a:ext cx="53340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19050">
            <a:solidFill>
              <a:srgbClr val="E97732"/>
            </a:solidFill>
            <a:prstDash val="solid"/>
          </a:ln>
        </p:spPr>
      </p:sp>
      <p:sp>
        <p:nvSpPr>
          <p:cNvPr id="12" name="text-253">
            <a:extLst xmlns:a="http://schemas.openxmlformats.org/drawingml/2006/main">
              <a:ext uri="{FF2B5EF4-FFF2-40B4-BE49-F238E27FC236}">
                <a16:creationId xmlns:a16="http://schemas.microsoft.com/office/drawing/2014/main" id="{142F1528-A5C7-435A-9986-1C3D92454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2952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0B1F33"/>
                </a:solidFill>
                <a:latin typeface="PingFang SC"/>
                <a:ea typeface="PingFang SC"/>
                <a:cs typeface="PingFang SC"/>
              </a:defRPr>
            </a:pPr>
            <a:r>
              <a:rPr b="1"/>
              <a:t>zero_shot</a:t>
            </a:r>
          </a:p>
        </p:txBody>
      </p:sp>
      <p:sp>
        <p:nvSpPr>
          <p:cNvPr id="13" name="text-254">
            <a:extLst xmlns:a="http://schemas.openxmlformats.org/drawingml/2006/main">
              <a:ext uri="{FF2B5EF4-FFF2-40B4-BE49-F238E27FC236}">
                <a16:creationId xmlns:a16="http://schemas.microsoft.com/office/drawing/2014/main" id="{DAAD4020-32F8-45EB-B5CC-774454B9A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295650"/>
            <a:ext cx="18288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>
                <a:solidFill>
                  <a:srgbClr val="E97732"/>
                </a:solidFill>
                <a:latin typeface="PingFang SC"/>
                <a:ea typeface="PingFang SC"/>
                <a:cs typeface="PingFang SC"/>
              </a:defRPr>
            </a:pPr>
            <a:r>
              <a:rPr b="1"/>
              <a:t>0 / 64 与 full 相同</a:t>
            </a:r>
          </a:p>
        </p:txBody>
      </p:sp>
      <p:sp>
        <p:nvSpPr>
          <p:cNvPr id="14" name="text-255">
            <a:extLst xmlns:a="http://schemas.openxmlformats.org/drawingml/2006/main">
              <a:ext uri="{FF2B5EF4-FFF2-40B4-BE49-F238E27FC236}">
                <a16:creationId xmlns:a16="http://schemas.microsoft.com/office/drawing/2014/main" id="{C1654E95-0FED-4C22-97D6-FD0F49AEC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2857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5F6B76"/>
                </a:solidFill>
                <a:latin typeface="PingFang SC"/>
                <a:ea typeface="PingFang SC"/>
                <a:cs typeface="PingFang SC"/>
              </a:defRPr>
            </a:pPr>
            <a:r>
              <a:t>可进行探索性对比</a:t>
            </a:r>
          </a:p>
        </p:txBody>
      </p:sp>
      <p:sp>
        <p:nvSpPr>
          <p:cNvPr id="15" name="shape-256">
            <a:extLst xmlns:a="http://schemas.openxmlformats.org/drawingml/2006/main">
              <a:ext uri="{FF2B5EF4-FFF2-40B4-BE49-F238E27FC236}">
                <a16:creationId xmlns:a16="http://schemas.microsoft.com/office/drawing/2014/main" id="{46A35007-1B12-49C7-8433-B2B593941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981200"/>
            <a:ext cx="54864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BE8E6"/>
          </a:solidFill>
          <a:ln xmlns:a="http://schemas.openxmlformats.org/drawingml/2006/main" w="19050">
            <a:solidFill>
              <a:srgbClr val="C2413B"/>
            </a:solidFill>
            <a:prstDash val="solid"/>
          </a:ln>
        </p:spPr>
      </p:sp>
      <p:sp>
        <p:nvSpPr>
          <p:cNvPr id="16" name="text-257">
            <a:extLst xmlns:a="http://schemas.openxmlformats.org/drawingml/2006/main">
              <a:ext uri="{FF2B5EF4-FFF2-40B4-BE49-F238E27FC236}">
                <a16:creationId xmlns:a16="http://schemas.microsoft.com/office/drawing/2014/main" id="{8BDAEA78-705D-442A-ACCC-453706D35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3360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0B1F33"/>
                </a:solidFill>
                <a:latin typeface="PingFang SC"/>
                <a:ea typeface="PingFang SC"/>
                <a:cs typeface="PingFang SC"/>
              </a:defRPr>
            </a:pPr>
            <a:r>
              <a:rPr b="1"/>
              <a:t>no_emotion_history</a:t>
            </a:r>
          </a:p>
        </p:txBody>
      </p:sp>
      <p:sp>
        <p:nvSpPr>
          <p:cNvPr id="17" name="text-258">
            <a:extLst xmlns:a="http://schemas.openxmlformats.org/drawingml/2006/main">
              <a:ext uri="{FF2B5EF4-FFF2-40B4-BE49-F238E27FC236}">
                <a16:creationId xmlns:a16="http://schemas.microsoft.com/office/drawing/2014/main" id="{C0C5EC44-A85D-4D37-91B7-3B6AF3540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143125"/>
            <a:ext cx="1809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>
                <a:solidFill>
                  <a:srgbClr val="C2413B"/>
                </a:solidFill>
                <a:latin typeface="PingFang SC"/>
                <a:ea typeface="PingFang SC"/>
                <a:cs typeface="PingFang SC"/>
              </a:defRPr>
            </a:pPr>
            <a:r>
              <a:rPr b="1"/>
              <a:t>64 / 64 相同</a:t>
            </a:r>
          </a:p>
        </p:txBody>
      </p:sp>
      <p:sp>
        <p:nvSpPr>
          <p:cNvPr id="18" name="text-259">
            <a:extLst xmlns:a="http://schemas.openxmlformats.org/drawingml/2006/main">
              <a:ext uri="{FF2B5EF4-FFF2-40B4-BE49-F238E27FC236}">
                <a16:creationId xmlns:a16="http://schemas.microsoft.com/office/drawing/2014/main" id="{F703EBFA-6AA4-4D7A-A823-675F70BD7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14600"/>
            <a:ext cx="4648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C2413B"/>
                </a:solidFill>
                <a:latin typeface="PingFang SC"/>
                <a:ea typeface="PingFang SC"/>
                <a:cs typeface="PingFang SC"/>
              </a:defRPr>
            </a:pPr>
            <a:r>
              <a:t>数据无可移除的情绪历史</a:t>
            </a:r>
          </a:p>
        </p:txBody>
      </p:sp>
      <p:sp>
        <p:nvSpPr>
          <p:cNvPr id="19" name="shape-260">
            <a:extLst xmlns:a="http://schemas.openxmlformats.org/drawingml/2006/main">
              <a:ext uri="{FF2B5EF4-FFF2-40B4-BE49-F238E27FC236}">
                <a16:creationId xmlns:a16="http://schemas.microsoft.com/office/drawing/2014/main" id="{62878628-AA2A-4425-9706-B73E4BEC5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105150"/>
            <a:ext cx="54864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BE8E6"/>
          </a:solidFill>
          <a:ln xmlns:a="http://schemas.openxmlformats.org/drawingml/2006/main" w="19050">
            <a:solidFill>
              <a:srgbClr val="C2413B"/>
            </a:solidFill>
            <a:prstDash val="solid"/>
          </a:ln>
        </p:spPr>
      </p:sp>
      <p:sp>
        <p:nvSpPr>
          <p:cNvPr id="20" name="text-261">
            <a:extLst xmlns:a="http://schemas.openxmlformats.org/drawingml/2006/main">
              <a:ext uri="{FF2B5EF4-FFF2-40B4-BE49-F238E27FC236}">
                <a16:creationId xmlns:a16="http://schemas.microsoft.com/office/drawing/2014/main" id="{B593EF4D-988B-41A8-9087-BE78F84D2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575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0B1F33"/>
                </a:solidFill>
                <a:latin typeface="PingFang SC"/>
                <a:ea typeface="PingFang SC"/>
                <a:cs typeface="PingFang SC"/>
              </a:defRPr>
            </a:pPr>
            <a:r>
              <a:rPr b="1"/>
              <a:t>short_context</a:t>
            </a:r>
          </a:p>
        </p:txBody>
      </p:sp>
      <p:sp>
        <p:nvSpPr>
          <p:cNvPr id="21" name="text-262">
            <a:extLst xmlns:a="http://schemas.openxmlformats.org/drawingml/2006/main">
              <a:ext uri="{FF2B5EF4-FFF2-40B4-BE49-F238E27FC236}">
                <a16:creationId xmlns:a16="http://schemas.microsoft.com/office/drawing/2014/main" id="{93F29079-B515-4DDE-BD22-E7D326309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267075"/>
            <a:ext cx="1809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>
                <a:solidFill>
                  <a:srgbClr val="C2413B"/>
                </a:solidFill>
                <a:latin typeface="PingFang SC"/>
                <a:ea typeface="PingFang SC"/>
                <a:cs typeface="PingFang SC"/>
              </a:defRPr>
            </a:pPr>
            <a:r>
              <a:rPr b="1"/>
              <a:t>64 / 64 相同</a:t>
            </a:r>
          </a:p>
        </p:txBody>
      </p:sp>
      <p:sp>
        <p:nvSpPr>
          <p:cNvPr id="22" name="text-263">
            <a:extLst xmlns:a="http://schemas.openxmlformats.org/drawingml/2006/main">
              <a:ext uri="{FF2B5EF4-FFF2-40B4-BE49-F238E27FC236}">
                <a16:creationId xmlns:a16="http://schemas.microsoft.com/office/drawing/2014/main" id="{DE96BB23-32E3-47C6-B049-04D81DA96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38550"/>
            <a:ext cx="4648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C2413B"/>
                </a:solidFill>
                <a:latin typeface="PingFang SC"/>
                <a:ea typeface="PingFang SC"/>
                <a:cs typeface="PingFang SC"/>
              </a:defRPr>
            </a:pPr>
            <a:r>
              <a:t>历史最多一轮，截短不生效</a:t>
            </a:r>
          </a:p>
        </p:txBody>
      </p:sp>
      <p:sp>
        <p:nvSpPr>
          <p:cNvPr id="23" name="shape-264">
            <a:extLst xmlns:a="http://schemas.openxmlformats.org/drawingml/2006/main">
              <a:ext uri="{FF2B5EF4-FFF2-40B4-BE49-F238E27FC236}">
                <a16:creationId xmlns:a16="http://schemas.microsoft.com/office/drawing/2014/main" id="{108ED2D1-C7DE-4FE6-8B2C-30744524D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14850"/>
            <a:ext cx="1127760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solidFill>
              <a:srgbClr val="0B1F33"/>
            </a:solidFill>
            <a:prstDash val="solid"/>
          </a:ln>
        </p:spPr>
      </p:sp>
      <p:sp>
        <p:nvSpPr>
          <p:cNvPr id="24" name="shape-265">
            <a:extLst xmlns:a="http://schemas.openxmlformats.org/drawingml/2006/main">
              <a:ext uri="{FF2B5EF4-FFF2-40B4-BE49-F238E27FC236}">
                <a16:creationId xmlns:a16="http://schemas.microsoft.com/office/drawing/2014/main" id="{DABE5D2B-7B55-435F-89A8-1E222E941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530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5" name="text-266">
            <a:extLst xmlns:a="http://schemas.openxmlformats.org/drawingml/2006/main">
              <a:ext uri="{FF2B5EF4-FFF2-40B4-BE49-F238E27FC236}">
                <a16:creationId xmlns:a16="http://schemas.microsoft.com/office/drawing/2014/main" id="{88B4868C-989D-4EDF-8121-BFB47C062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95875"/>
            <a:ext cx="25908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>
                <a:solidFill>
                  <a:srgbClr val="173F5F"/>
                </a:solidFill>
                <a:latin typeface="PingFang SC"/>
                <a:ea typeface="PingFang SC"/>
                <a:cs typeface="PingFang SC"/>
              </a:defRPr>
            </a:pPr>
            <a:r>
              <a:rPr b="1"/>
              <a:t>输入未变化</a:t>
            </a:r>
          </a:p>
        </p:txBody>
      </p:sp>
      <p:sp>
        <p:nvSpPr>
          <p:cNvPr id="26" name="text-267">
            <a:extLst xmlns:a="http://schemas.openxmlformats.org/drawingml/2006/main">
              <a:ext uri="{FF2B5EF4-FFF2-40B4-BE49-F238E27FC236}">
                <a16:creationId xmlns:a16="http://schemas.microsoft.com/office/drawing/2014/main" id="{98AB4C87-93DE-4F6F-84A1-97B8F9731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048250"/>
            <a:ext cx="4572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14B8A6"/>
                </a:solidFill>
                <a:latin typeface="PingFang SC"/>
                <a:ea typeface="PingFang SC"/>
                <a:cs typeface="PingFang SC"/>
              </a:defRPr>
            </a:pPr>
            <a:r>
              <a:rPr b="1"/>
              <a:t>→</a:t>
            </a:r>
          </a:p>
        </p:txBody>
      </p:sp>
      <p:sp>
        <p:nvSpPr>
          <p:cNvPr id="27" name="shape-268">
            <a:extLst xmlns:a="http://schemas.openxmlformats.org/drawingml/2006/main">
              <a:ext uri="{FF2B5EF4-FFF2-40B4-BE49-F238E27FC236}">
                <a16:creationId xmlns:a16="http://schemas.microsoft.com/office/drawing/2014/main" id="{3C9FE440-78E4-499B-92CB-7607AE34D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9530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8" name="text-269">
            <a:extLst xmlns:a="http://schemas.openxmlformats.org/drawingml/2006/main">
              <a:ext uri="{FF2B5EF4-FFF2-40B4-BE49-F238E27FC236}">
                <a16:creationId xmlns:a16="http://schemas.microsoft.com/office/drawing/2014/main" id="{B2C17117-7C0E-47D5-8A05-6A31B971D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095875"/>
            <a:ext cx="25908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>
                <a:solidFill>
                  <a:srgbClr val="173F5F"/>
                </a:solidFill>
                <a:latin typeface="PingFang SC"/>
                <a:ea typeface="PingFang SC"/>
                <a:cs typeface="PingFang SC"/>
              </a:defRPr>
            </a:pPr>
            <a:r>
              <a:rPr b="1"/>
              <a:t>只剩调用随机性</a:t>
            </a:r>
          </a:p>
        </p:txBody>
      </p:sp>
      <p:sp>
        <p:nvSpPr>
          <p:cNvPr id="29" name="text-270">
            <a:extLst xmlns:a="http://schemas.openxmlformats.org/drawingml/2006/main">
              <a:ext uri="{FF2B5EF4-FFF2-40B4-BE49-F238E27FC236}">
                <a16:creationId xmlns:a16="http://schemas.microsoft.com/office/drawing/2014/main" id="{4A583D75-AAE9-4D40-8B05-54CB88B5E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048250"/>
            <a:ext cx="4572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14B8A6"/>
                </a:solidFill>
                <a:latin typeface="PingFang SC"/>
                <a:ea typeface="PingFang SC"/>
                <a:cs typeface="PingFang SC"/>
              </a:defRPr>
            </a:pPr>
            <a:r>
              <a:rPr b="1"/>
              <a:t>→</a:t>
            </a:r>
          </a:p>
        </p:txBody>
      </p:sp>
      <p:sp>
        <p:nvSpPr>
          <p:cNvPr id="30" name="shape-271">
            <a:extLst xmlns:a="http://schemas.openxmlformats.org/drawingml/2006/main">
              <a:ext uri="{FF2B5EF4-FFF2-40B4-BE49-F238E27FC236}">
                <a16:creationId xmlns:a16="http://schemas.microsoft.com/office/drawing/2014/main" id="{7A61AF9B-FED4-4F77-BC14-EFE7F638D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9530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31" name="text-272">
            <a:extLst xmlns:a="http://schemas.openxmlformats.org/drawingml/2006/main">
              <a:ext uri="{FF2B5EF4-FFF2-40B4-BE49-F238E27FC236}">
                <a16:creationId xmlns:a16="http://schemas.microsoft.com/office/drawing/2014/main" id="{6B73B358-51C6-4E5F-B41E-C1C26879C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095875"/>
            <a:ext cx="25908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>
                <a:solidFill>
                  <a:srgbClr val="0B1F33"/>
                </a:solidFill>
                <a:latin typeface="PingFang SC"/>
                <a:ea typeface="PingFang SC"/>
                <a:cs typeface="PingFang SC"/>
              </a:defRPr>
            </a:pPr>
            <a:r>
              <a:rPr b="1"/>
              <a:t>指标差不能解释组件贡献</a:t>
            </a:r>
          </a:p>
        </p:txBody>
      </p:sp>
      <p:sp>
        <p:nvSpPr>
          <p:cNvPr id="32" name="shape-273">
            <a:extLst xmlns:a="http://schemas.openxmlformats.org/drawingml/2006/main">
              <a:ext uri="{FF2B5EF4-FFF2-40B4-BE49-F238E27FC236}">
                <a16:creationId xmlns:a16="http://schemas.microsoft.com/office/drawing/2014/main" id="{52DD2252-0E8B-4EBF-B177-347492836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BE1"/>
          </a:solidFill>
          <a:ln xmlns:a="http://schemas.openxmlformats.org/drawingml/2006/main" w="0">
            <a:solidFill>
              <a:srgbClr val="D5DBE1"/>
            </a:solidFill>
            <a:prstDash val="solid"/>
          </a:ln>
        </p:spPr>
      </p:sp>
      <p:sp>
        <p:nvSpPr>
          <p:cNvPr id="33" name="text-274">
            <a:extLst xmlns:a="http://schemas.openxmlformats.org/drawingml/2006/main">
              <a:ext uri="{FF2B5EF4-FFF2-40B4-BE49-F238E27FC236}">
                <a16:creationId xmlns:a16="http://schemas.microsoft.com/office/drawing/2014/main" id="{7F35DBDC-043E-44DE-B7CF-EF2B11C62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5905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5F6B76"/>
                </a:solidFill>
                <a:latin typeface="PingFang SC"/>
                <a:ea typeface="PingFang SC"/>
                <a:cs typeface="PingFang SC"/>
              </a:defRPr>
            </a:pPr>
            <a:r>
              <a:t>来源：本地 Seed-64 实验记录</a:t>
            </a:r>
          </a:p>
        </p:txBody>
      </p:sp>
    </p:spTree>
    <p:extLst>
      <p:ext uri="{BB962C8B-B14F-4D97-AF65-F5344CB8AC3E}">
        <p14:creationId xmlns:p14="http://schemas.microsoft.com/office/powerpoint/2010/main" val="16839446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-275">
            <a:extLst xmlns:a="http://schemas.openxmlformats.org/drawingml/2006/main">
              <a:ext uri="{FF2B5EF4-FFF2-40B4-BE49-F238E27FC236}">
                <a16:creationId xmlns:a16="http://schemas.microsoft.com/office/drawing/2014/main" id="{C8DCC05E-0679-4D38-8AF3-EBA12B8F2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6858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14B8A6"/>
                </a:solidFill>
                <a:latin typeface="PingFang SC"/>
                <a:ea typeface="PingFang SC"/>
                <a:cs typeface="PingFang SC"/>
              </a:defRPr>
            </a:pPr>
            <a:r>
              <a:rPr b="1"/>
              <a:t>EMOTION RECOGNITION · ABLATION STUDY</a:t>
            </a:r>
          </a:p>
        </p:txBody>
      </p:sp>
      <p:sp>
        <p:nvSpPr>
          <p:cNvPr id="2" name="text-276">
            <a:extLst xmlns:a="http://schemas.openxmlformats.org/drawingml/2006/main">
              <a:ext uri="{FF2B5EF4-FFF2-40B4-BE49-F238E27FC236}">
                <a16:creationId xmlns:a16="http://schemas.microsoft.com/office/drawing/2014/main" id="{EE762ACE-9EED-4700-BA51-A262F4514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0075"/>
            <a:ext cx="10668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75">
                <a:solidFill>
                  <a:srgbClr val="0B1F33"/>
                </a:solidFill>
                <a:latin typeface="PingFang SC"/>
                <a:ea typeface="PingFang SC"/>
                <a:cs typeface="PingFang SC"/>
              </a:defRPr>
            </a:pPr>
            <a:r>
              <a:rPr b="1"/>
              <a:t>语言切片：中英文呈现相同的总体趋势</a:t>
            </a:r>
          </a:p>
        </p:txBody>
      </p:sp>
      <p:sp>
        <p:nvSpPr>
          <p:cNvPr id="3" name="shape-277">
            <a:extLst xmlns:a="http://schemas.openxmlformats.org/drawingml/2006/main">
              <a:ext uri="{FF2B5EF4-FFF2-40B4-BE49-F238E27FC236}">
                <a16:creationId xmlns:a16="http://schemas.microsoft.com/office/drawing/2014/main" id="{C320C75F-0E97-486E-B975-F7A88E6F4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668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BE1"/>
          </a:solidFill>
          <a:ln xmlns:a="http://schemas.openxmlformats.org/drawingml/2006/main" w="0">
            <a:solidFill>
              <a:srgbClr val="D5DBE1"/>
            </a:solidFill>
            <a:prstDash val="solid"/>
          </a:ln>
        </p:spPr>
      </p:sp>
      <p:sp>
        <p:nvSpPr>
          <p:cNvPr id="4" name="text-278">
            <a:extLst xmlns:a="http://schemas.openxmlformats.org/drawingml/2006/main">
              <a:ext uri="{FF2B5EF4-FFF2-40B4-BE49-F238E27FC236}">
                <a16:creationId xmlns:a16="http://schemas.microsoft.com/office/drawing/2014/main" id="{BC884218-E413-4589-B0CD-C35EA82F1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85750"/>
            <a:ext cx="495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F6B76"/>
                </a:solidFill>
                <a:latin typeface="PingFang SC"/>
                <a:ea typeface="PingFang SC"/>
                <a:cs typeface="PingFang SC"/>
              </a:defRPr>
            </a:pPr>
            <a:r>
              <a:rPr b="1"/>
              <a:t>08</a:t>
            </a:r>
          </a:p>
        </p:txBody>
      </p:sp>
      <p:sp>
        <p:nvSpPr>
          <p:cNvPr id="5" name="shape-279">
            <a:extLst xmlns:a="http://schemas.openxmlformats.org/drawingml/2006/main">
              <a:ext uri="{FF2B5EF4-FFF2-40B4-BE49-F238E27FC236}">
                <a16:creationId xmlns:a16="http://schemas.microsoft.com/office/drawing/2014/main" id="{57CBDF47-8D69-4233-AC0E-35F2C8076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54864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5DBE1"/>
            </a:solidFill>
            <a:prstDash val="solid"/>
          </a:ln>
        </p:spPr>
      </p:sp>
      <p:sp>
        <p:nvSpPr>
          <p:cNvPr id="6" name="text-280">
            <a:extLst xmlns:a="http://schemas.openxmlformats.org/drawingml/2006/main">
              <a:ext uri="{FF2B5EF4-FFF2-40B4-BE49-F238E27FC236}">
                <a16:creationId xmlns:a16="http://schemas.microsoft.com/office/drawing/2014/main" id="{24361C03-F0BC-4D5E-9334-5FEFAC60A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47850"/>
            <a:ext cx="2476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0B1F33"/>
                </a:solidFill>
                <a:latin typeface="PingFang SC"/>
                <a:ea typeface="PingFang SC"/>
                <a:cs typeface="PingFang SC"/>
              </a:defRPr>
            </a:pPr>
            <a:r>
              <a:rPr b="1"/>
              <a:t>中文 · 32 条</a:t>
            </a:r>
          </a:p>
        </p:txBody>
      </p:sp>
      <p:sp>
        <p:nvSpPr>
          <p:cNvPr id="7" name="shape-281">
            <a:extLst xmlns:a="http://schemas.openxmlformats.org/drawingml/2006/main">
              <a:ext uri="{FF2B5EF4-FFF2-40B4-BE49-F238E27FC236}">
                <a16:creationId xmlns:a16="http://schemas.microsoft.com/office/drawing/2014/main" id="{95E5EA3A-B574-4E69-B759-511A3EF32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86000"/>
            <a:ext cx="495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  <a:prstDash val="solid"/>
          </a:ln>
        </p:spPr>
      </p:sp>
      <p:sp>
        <p:nvSpPr>
          <p:cNvPr id="8" name="text-282">
            <a:extLst xmlns:a="http://schemas.openxmlformats.org/drawingml/2006/main">
              <a:ext uri="{FF2B5EF4-FFF2-40B4-BE49-F238E27FC236}">
                <a16:creationId xmlns:a16="http://schemas.microsoft.com/office/drawing/2014/main" id="{6622736C-D1DA-4E19-9B4C-4D87A1A5F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28900"/>
            <a:ext cx="1219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b="1"/>
              <a:t>full</a:t>
            </a:r>
          </a:p>
        </p:txBody>
      </p:sp>
      <p:sp>
        <p:nvSpPr>
          <p:cNvPr id="9" name="shape-283">
            <a:extLst xmlns:a="http://schemas.openxmlformats.org/drawingml/2006/main">
              <a:ext uri="{FF2B5EF4-FFF2-40B4-BE49-F238E27FC236}">
                <a16:creationId xmlns:a16="http://schemas.microsoft.com/office/drawing/2014/main" id="{1033580A-92B3-47FD-866D-CFB13D80B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667000"/>
            <a:ext cx="2724150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" name="shape-284">
            <a:extLst xmlns:a="http://schemas.openxmlformats.org/drawingml/2006/main">
              <a:ext uri="{FF2B5EF4-FFF2-40B4-BE49-F238E27FC236}">
                <a16:creationId xmlns:a16="http://schemas.microsoft.com/office/drawing/2014/main" id="{F940343E-6728-4A2D-AB6A-1B2440EBA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667000"/>
            <a:ext cx="2190902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173F5F"/>
          </a:solidFill>
          <a:ln xmlns:a="http://schemas.openxmlformats.org/drawingml/2006/main" w="0">
            <a:solidFill>
              <a:srgbClr val="173F5F"/>
            </a:solidFill>
            <a:prstDash val="solid"/>
          </a:ln>
        </p:spPr>
      </p:sp>
      <p:sp>
        <p:nvSpPr>
          <p:cNvPr id="11" name="text-285">
            <a:extLst xmlns:a="http://schemas.openxmlformats.org/drawingml/2006/main">
              <a:ext uri="{FF2B5EF4-FFF2-40B4-BE49-F238E27FC236}">
                <a16:creationId xmlns:a16="http://schemas.microsoft.com/office/drawing/2014/main" id="{715954BA-8D4D-432C-9A88-14E7B7BEB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628900"/>
            <a:ext cx="838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>
                <a:solidFill>
                  <a:srgbClr val="173F5F"/>
                </a:solidFill>
                <a:latin typeface="PingFang SC"/>
                <a:ea typeface="PingFang SC"/>
                <a:cs typeface="PingFang SC"/>
              </a:defRPr>
            </a:pPr>
            <a:r>
              <a:rPr b="1"/>
              <a:t>71.88%</a:t>
            </a:r>
          </a:p>
        </p:txBody>
      </p:sp>
      <p:sp>
        <p:nvSpPr>
          <p:cNvPr id="12" name="text-286">
            <a:extLst xmlns:a="http://schemas.openxmlformats.org/drawingml/2006/main">
              <a:ext uri="{FF2B5EF4-FFF2-40B4-BE49-F238E27FC236}">
                <a16:creationId xmlns:a16="http://schemas.microsoft.com/office/drawing/2014/main" id="{A1DCD5EB-9626-48FC-8245-7F08DA4BC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990850"/>
            <a:ext cx="2476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5F6B76"/>
                </a:solidFill>
                <a:latin typeface="PingFang SC"/>
                <a:ea typeface="PingFang SC"/>
                <a:cs typeface="PingFang SC"/>
              </a:defRPr>
            </a:pPr>
            <a:r>
              <a:t>Macro F1  65.10%</a:t>
            </a:r>
          </a:p>
        </p:txBody>
      </p:sp>
      <p:sp>
        <p:nvSpPr>
          <p:cNvPr id="13" name="text-287">
            <a:extLst xmlns:a="http://schemas.openxmlformats.org/drawingml/2006/main">
              <a:ext uri="{FF2B5EF4-FFF2-40B4-BE49-F238E27FC236}">
                <a16:creationId xmlns:a16="http://schemas.microsoft.com/office/drawing/2014/main" id="{FBCD8886-313F-452E-89E1-BB9E98730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67100"/>
            <a:ext cx="1219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b="1"/>
              <a:t>静态示例</a:t>
            </a:r>
          </a:p>
        </p:txBody>
      </p:sp>
      <p:sp>
        <p:nvSpPr>
          <p:cNvPr id="14" name="shape-288">
            <a:extLst xmlns:a="http://schemas.openxmlformats.org/drawingml/2006/main">
              <a:ext uri="{FF2B5EF4-FFF2-40B4-BE49-F238E27FC236}">
                <a16:creationId xmlns:a16="http://schemas.microsoft.com/office/drawing/2014/main" id="{B1A8BD5E-1F53-486D-ABAB-450AD4178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505200"/>
            <a:ext cx="2724150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5" name="shape-289">
            <a:extLst xmlns:a="http://schemas.openxmlformats.org/drawingml/2006/main">
              <a:ext uri="{FF2B5EF4-FFF2-40B4-BE49-F238E27FC236}">
                <a16:creationId xmlns:a16="http://schemas.microsoft.com/office/drawing/2014/main" id="{B121FCBB-C6EA-4E9A-BC22-4238C4990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505200"/>
            <a:ext cx="2476500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  <a:prstDash val="solid"/>
          </a:ln>
        </p:spPr>
      </p:sp>
      <p:sp>
        <p:nvSpPr>
          <p:cNvPr id="16" name="text-290">
            <a:extLst xmlns:a="http://schemas.openxmlformats.org/drawingml/2006/main">
              <a:ext uri="{FF2B5EF4-FFF2-40B4-BE49-F238E27FC236}">
                <a16:creationId xmlns:a16="http://schemas.microsoft.com/office/drawing/2014/main" id="{C8BE0181-6D26-498A-8C9D-94D512BA0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467100"/>
            <a:ext cx="838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>
                <a:solidFill>
                  <a:srgbClr val="14B8A6"/>
                </a:solidFill>
                <a:latin typeface="PingFang SC"/>
                <a:ea typeface="PingFang SC"/>
                <a:cs typeface="PingFang SC"/>
              </a:defRPr>
            </a:pPr>
            <a:r>
              <a:rPr b="1"/>
              <a:t>81.25%</a:t>
            </a:r>
          </a:p>
        </p:txBody>
      </p:sp>
      <p:sp>
        <p:nvSpPr>
          <p:cNvPr id="17" name="text-291">
            <a:extLst xmlns:a="http://schemas.openxmlformats.org/drawingml/2006/main">
              <a:ext uri="{FF2B5EF4-FFF2-40B4-BE49-F238E27FC236}">
                <a16:creationId xmlns:a16="http://schemas.microsoft.com/office/drawing/2014/main" id="{651DFDB4-735C-4730-9EF1-EEACCA934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829050"/>
            <a:ext cx="2476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5F6B76"/>
                </a:solidFill>
                <a:latin typeface="PingFang SC"/>
                <a:ea typeface="PingFang SC"/>
                <a:cs typeface="PingFang SC"/>
              </a:defRPr>
            </a:pPr>
            <a:r>
              <a:t>Macro F1  75.00%</a:t>
            </a:r>
          </a:p>
        </p:txBody>
      </p:sp>
      <p:sp>
        <p:nvSpPr>
          <p:cNvPr id="18" name="text-292">
            <a:extLst xmlns:a="http://schemas.openxmlformats.org/drawingml/2006/main">
              <a:ext uri="{FF2B5EF4-FFF2-40B4-BE49-F238E27FC236}">
                <a16:creationId xmlns:a16="http://schemas.microsoft.com/office/drawing/2014/main" id="{B69A2F03-BB56-4B2B-AD29-91368F4E2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05300"/>
            <a:ext cx="1219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b="1"/>
              <a:t>zero-shot</a:t>
            </a:r>
          </a:p>
        </p:txBody>
      </p:sp>
      <p:sp>
        <p:nvSpPr>
          <p:cNvPr id="19" name="shape-293">
            <a:extLst xmlns:a="http://schemas.openxmlformats.org/drawingml/2006/main">
              <a:ext uri="{FF2B5EF4-FFF2-40B4-BE49-F238E27FC236}">
                <a16:creationId xmlns:a16="http://schemas.microsoft.com/office/drawing/2014/main" id="{BB4902D5-A743-4B1E-883F-C66208F20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343400"/>
            <a:ext cx="2724150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0" name="shape-294">
            <a:extLst xmlns:a="http://schemas.openxmlformats.org/drawingml/2006/main">
              <a:ext uri="{FF2B5EF4-FFF2-40B4-BE49-F238E27FC236}">
                <a16:creationId xmlns:a16="http://schemas.microsoft.com/office/drawing/2014/main" id="{40735F68-474D-4CD5-8118-39B9A5711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343400"/>
            <a:ext cx="2095500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E97732"/>
          </a:solidFill>
          <a:ln xmlns:a="http://schemas.openxmlformats.org/drawingml/2006/main" w="0">
            <a:solidFill>
              <a:srgbClr val="E97732"/>
            </a:solidFill>
            <a:prstDash val="solid"/>
          </a:ln>
        </p:spPr>
      </p:sp>
      <p:sp>
        <p:nvSpPr>
          <p:cNvPr id="21" name="text-295">
            <a:extLst xmlns:a="http://schemas.openxmlformats.org/drawingml/2006/main">
              <a:ext uri="{FF2B5EF4-FFF2-40B4-BE49-F238E27FC236}">
                <a16:creationId xmlns:a16="http://schemas.microsoft.com/office/drawing/2014/main" id="{1BD9559B-D06B-403A-A4D4-26CCE1714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305300"/>
            <a:ext cx="838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>
                <a:solidFill>
                  <a:srgbClr val="E97732"/>
                </a:solidFill>
                <a:latin typeface="PingFang SC"/>
                <a:ea typeface="PingFang SC"/>
                <a:cs typeface="PingFang SC"/>
              </a:defRPr>
            </a:pPr>
            <a:r>
              <a:rPr b="1"/>
              <a:t>68.75%</a:t>
            </a:r>
          </a:p>
        </p:txBody>
      </p:sp>
      <p:sp>
        <p:nvSpPr>
          <p:cNvPr id="22" name="text-296">
            <a:extLst xmlns:a="http://schemas.openxmlformats.org/drawingml/2006/main">
              <a:ext uri="{FF2B5EF4-FFF2-40B4-BE49-F238E27FC236}">
                <a16:creationId xmlns:a16="http://schemas.microsoft.com/office/drawing/2014/main" id="{68963D89-740A-4C64-84DE-017C8942F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667250"/>
            <a:ext cx="2476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5F6B76"/>
                </a:solidFill>
                <a:latin typeface="PingFang SC"/>
                <a:ea typeface="PingFang SC"/>
                <a:cs typeface="PingFang SC"/>
              </a:defRPr>
            </a:pPr>
            <a:r>
              <a:t>Macro F1  61.67%</a:t>
            </a:r>
          </a:p>
        </p:txBody>
      </p:sp>
      <p:sp>
        <p:nvSpPr>
          <p:cNvPr id="23" name="shape-297">
            <a:extLst xmlns:a="http://schemas.openxmlformats.org/drawingml/2006/main">
              <a:ext uri="{FF2B5EF4-FFF2-40B4-BE49-F238E27FC236}">
                <a16:creationId xmlns:a16="http://schemas.microsoft.com/office/drawing/2014/main" id="{0CC82B7A-D90D-45C1-A9AA-AEC9C6638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619250"/>
            <a:ext cx="54864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5DBE1"/>
            </a:solidFill>
            <a:prstDash val="solid"/>
          </a:ln>
        </p:spPr>
      </p:sp>
      <p:sp>
        <p:nvSpPr>
          <p:cNvPr id="24" name="text-298">
            <a:extLst xmlns:a="http://schemas.openxmlformats.org/drawingml/2006/main">
              <a:ext uri="{FF2B5EF4-FFF2-40B4-BE49-F238E27FC236}">
                <a16:creationId xmlns:a16="http://schemas.microsoft.com/office/drawing/2014/main" id="{34A66B58-095B-49FA-8DA1-D69DFA854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847850"/>
            <a:ext cx="2476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0B1F33"/>
                </a:solidFill>
                <a:latin typeface="PingFang SC"/>
                <a:ea typeface="PingFang SC"/>
                <a:cs typeface="PingFang SC"/>
              </a:defRPr>
            </a:pPr>
            <a:r>
              <a:rPr b="1"/>
              <a:t>英文 · 32 条</a:t>
            </a:r>
          </a:p>
        </p:txBody>
      </p:sp>
      <p:sp>
        <p:nvSpPr>
          <p:cNvPr id="25" name="shape-299">
            <a:extLst xmlns:a="http://schemas.openxmlformats.org/drawingml/2006/main">
              <a:ext uri="{FF2B5EF4-FFF2-40B4-BE49-F238E27FC236}">
                <a16:creationId xmlns:a16="http://schemas.microsoft.com/office/drawing/2014/main" id="{E6CEF752-5C82-47DB-B048-C8E71D288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286000"/>
            <a:ext cx="495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F5F"/>
          </a:solidFill>
          <a:ln xmlns:a="http://schemas.openxmlformats.org/drawingml/2006/main" w="0">
            <a:solidFill>
              <a:srgbClr val="173F5F"/>
            </a:solidFill>
            <a:prstDash val="solid"/>
          </a:ln>
        </p:spPr>
      </p:sp>
      <p:sp>
        <p:nvSpPr>
          <p:cNvPr id="26" name="text-300">
            <a:extLst xmlns:a="http://schemas.openxmlformats.org/drawingml/2006/main">
              <a:ext uri="{FF2B5EF4-FFF2-40B4-BE49-F238E27FC236}">
                <a16:creationId xmlns:a16="http://schemas.microsoft.com/office/drawing/2014/main" id="{87BD5548-2504-4646-8ED5-FC3010B27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28900"/>
            <a:ext cx="1219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b="1"/>
              <a:t>full</a:t>
            </a:r>
          </a:p>
        </p:txBody>
      </p:sp>
      <p:sp>
        <p:nvSpPr>
          <p:cNvPr id="27" name="shape-301">
            <a:extLst xmlns:a="http://schemas.openxmlformats.org/drawingml/2006/main">
              <a:ext uri="{FF2B5EF4-FFF2-40B4-BE49-F238E27FC236}">
                <a16:creationId xmlns:a16="http://schemas.microsoft.com/office/drawing/2014/main" id="{F19E3D79-278E-4991-B310-75344E863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667000"/>
            <a:ext cx="2724150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8" name="shape-302">
            <a:extLst xmlns:a="http://schemas.openxmlformats.org/drawingml/2006/main">
              <a:ext uri="{FF2B5EF4-FFF2-40B4-BE49-F238E27FC236}">
                <a16:creationId xmlns:a16="http://schemas.microsoft.com/office/drawing/2014/main" id="{F85C0E97-7C19-4965-8EA3-573396331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667000"/>
            <a:ext cx="2190902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173F5F"/>
          </a:solidFill>
          <a:ln xmlns:a="http://schemas.openxmlformats.org/drawingml/2006/main" w="0">
            <a:solidFill>
              <a:srgbClr val="173F5F"/>
            </a:solidFill>
            <a:prstDash val="solid"/>
          </a:ln>
        </p:spPr>
      </p:sp>
      <p:sp>
        <p:nvSpPr>
          <p:cNvPr id="29" name="text-303">
            <a:extLst xmlns:a="http://schemas.openxmlformats.org/drawingml/2006/main">
              <a:ext uri="{FF2B5EF4-FFF2-40B4-BE49-F238E27FC236}">
                <a16:creationId xmlns:a16="http://schemas.microsoft.com/office/drawing/2014/main" id="{DA689DE4-B200-4F07-AF78-605286B0B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2628900"/>
            <a:ext cx="838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>
                <a:solidFill>
                  <a:srgbClr val="173F5F"/>
                </a:solidFill>
                <a:latin typeface="PingFang SC"/>
                <a:ea typeface="PingFang SC"/>
                <a:cs typeface="PingFang SC"/>
              </a:defRPr>
            </a:pPr>
            <a:r>
              <a:rPr b="1"/>
              <a:t>71.88%</a:t>
            </a:r>
          </a:p>
        </p:txBody>
      </p:sp>
      <p:sp>
        <p:nvSpPr>
          <p:cNvPr id="30" name="text-304">
            <a:extLst xmlns:a="http://schemas.openxmlformats.org/drawingml/2006/main">
              <a:ext uri="{FF2B5EF4-FFF2-40B4-BE49-F238E27FC236}">
                <a16:creationId xmlns:a16="http://schemas.microsoft.com/office/drawing/2014/main" id="{6B31079A-133A-42AE-93EF-EC41C2D21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990850"/>
            <a:ext cx="2476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5F6B76"/>
                </a:solidFill>
                <a:latin typeface="PingFang SC"/>
                <a:ea typeface="PingFang SC"/>
                <a:cs typeface="PingFang SC"/>
              </a:defRPr>
            </a:pPr>
            <a:r>
              <a:t>Macro F1  64.79%</a:t>
            </a:r>
          </a:p>
        </p:txBody>
      </p:sp>
      <p:sp>
        <p:nvSpPr>
          <p:cNvPr id="31" name="text-305">
            <a:extLst xmlns:a="http://schemas.openxmlformats.org/drawingml/2006/main">
              <a:ext uri="{FF2B5EF4-FFF2-40B4-BE49-F238E27FC236}">
                <a16:creationId xmlns:a16="http://schemas.microsoft.com/office/drawing/2014/main" id="{8EF872CE-1A96-4967-A0AB-4DA5E9635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467100"/>
            <a:ext cx="1219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b="1"/>
              <a:t>静态示例</a:t>
            </a:r>
          </a:p>
        </p:txBody>
      </p:sp>
      <p:sp>
        <p:nvSpPr>
          <p:cNvPr id="32" name="shape-306">
            <a:extLst xmlns:a="http://schemas.openxmlformats.org/drawingml/2006/main">
              <a:ext uri="{FF2B5EF4-FFF2-40B4-BE49-F238E27FC236}">
                <a16:creationId xmlns:a16="http://schemas.microsoft.com/office/drawing/2014/main" id="{1E1021C5-5F29-4D90-8947-CC6F90588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505200"/>
            <a:ext cx="2724150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3" name="shape-307">
            <a:extLst xmlns:a="http://schemas.openxmlformats.org/drawingml/2006/main">
              <a:ext uri="{FF2B5EF4-FFF2-40B4-BE49-F238E27FC236}">
                <a16:creationId xmlns:a16="http://schemas.microsoft.com/office/drawing/2014/main" id="{F900A2B0-A27D-429E-B075-B539BF902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505200"/>
            <a:ext cx="2381098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  <a:prstDash val="solid"/>
          </a:ln>
        </p:spPr>
      </p:sp>
      <p:sp>
        <p:nvSpPr>
          <p:cNvPr id="34" name="text-308">
            <a:extLst xmlns:a="http://schemas.openxmlformats.org/drawingml/2006/main">
              <a:ext uri="{FF2B5EF4-FFF2-40B4-BE49-F238E27FC236}">
                <a16:creationId xmlns:a16="http://schemas.microsoft.com/office/drawing/2014/main" id="{7AD83A63-FEEE-4617-B86D-5C37C46C4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467100"/>
            <a:ext cx="838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>
                <a:solidFill>
                  <a:srgbClr val="14B8A6"/>
                </a:solidFill>
                <a:latin typeface="PingFang SC"/>
                <a:ea typeface="PingFang SC"/>
                <a:cs typeface="PingFang SC"/>
              </a:defRPr>
            </a:pPr>
            <a:r>
              <a:rPr b="1"/>
              <a:t>78.12%</a:t>
            </a:r>
          </a:p>
        </p:txBody>
      </p:sp>
      <p:sp>
        <p:nvSpPr>
          <p:cNvPr id="35" name="text-309">
            <a:extLst xmlns:a="http://schemas.openxmlformats.org/drawingml/2006/main">
              <a:ext uri="{FF2B5EF4-FFF2-40B4-BE49-F238E27FC236}">
                <a16:creationId xmlns:a16="http://schemas.microsoft.com/office/drawing/2014/main" id="{2E1EFC98-AF32-4FC6-BB43-F6760C8C4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829050"/>
            <a:ext cx="2476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5F6B76"/>
                </a:solidFill>
                <a:latin typeface="PingFang SC"/>
                <a:ea typeface="PingFang SC"/>
                <a:cs typeface="PingFang SC"/>
              </a:defRPr>
            </a:pPr>
            <a:r>
              <a:t>Macro F1  71.35%</a:t>
            </a:r>
          </a:p>
        </p:txBody>
      </p:sp>
      <p:sp>
        <p:nvSpPr>
          <p:cNvPr id="36" name="text-310">
            <a:extLst xmlns:a="http://schemas.openxmlformats.org/drawingml/2006/main">
              <a:ext uri="{FF2B5EF4-FFF2-40B4-BE49-F238E27FC236}">
                <a16:creationId xmlns:a16="http://schemas.microsoft.com/office/drawing/2014/main" id="{AD7368FE-12F5-4C46-B455-EA9FCBBFD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305300"/>
            <a:ext cx="1219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b="1"/>
              <a:t>zero-shot</a:t>
            </a:r>
          </a:p>
        </p:txBody>
      </p:sp>
      <p:sp>
        <p:nvSpPr>
          <p:cNvPr id="37" name="shape-311">
            <a:extLst xmlns:a="http://schemas.openxmlformats.org/drawingml/2006/main">
              <a:ext uri="{FF2B5EF4-FFF2-40B4-BE49-F238E27FC236}">
                <a16:creationId xmlns:a16="http://schemas.microsoft.com/office/drawing/2014/main" id="{96F6E259-6118-4E69-8CC1-62F2B67EA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43400"/>
            <a:ext cx="2724150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8" name="shape-312">
            <a:extLst xmlns:a="http://schemas.openxmlformats.org/drawingml/2006/main">
              <a:ext uri="{FF2B5EF4-FFF2-40B4-BE49-F238E27FC236}">
                <a16:creationId xmlns:a16="http://schemas.microsoft.com/office/drawing/2014/main" id="{37945851-49B3-4630-BA51-DAF34908B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43400"/>
            <a:ext cx="2000098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E97732"/>
          </a:solidFill>
          <a:ln xmlns:a="http://schemas.openxmlformats.org/drawingml/2006/main" w="0">
            <a:solidFill>
              <a:srgbClr val="E97732"/>
            </a:solidFill>
            <a:prstDash val="solid"/>
          </a:ln>
        </p:spPr>
      </p:sp>
      <p:sp>
        <p:nvSpPr>
          <p:cNvPr id="39" name="text-313">
            <a:extLst xmlns:a="http://schemas.openxmlformats.org/drawingml/2006/main">
              <a:ext uri="{FF2B5EF4-FFF2-40B4-BE49-F238E27FC236}">
                <a16:creationId xmlns:a16="http://schemas.microsoft.com/office/drawing/2014/main" id="{B0F88C4C-BAB2-45CA-ACE9-733F644FA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4305300"/>
            <a:ext cx="838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>
                <a:solidFill>
                  <a:srgbClr val="E97732"/>
                </a:solidFill>
                <a:latin typeface="PingFang SC"/>
                <a:ea typeface="PingFang SC"/>
                <a:cs typeface="PingFang SC"/>
              </a:defRPr>
            </a:pPr>
            <a:r>
              <a:rPr b="1"/>
              <a:t>65.62%</a:t>
            </a:r>
          </a:p>
        </p:txBody>
      </p:sp>
      <p:sp>
        <p:nvSpPr>
          <p:cNvPr id="40" name="text-314">
            <a:extLst xmlns:a="http://schemas.openxmlformats.org/drawingml/2006/main">
              <a:ext uri="{FF2B5EF4-FFF2-40B4-BE49-F238E27FC236}">
                <a16:creationId xmlns:a16="http://schemas.microsoft.com/office/drawing/2014/main" id="{97C59C14-791C-41B1-9FC0-573A9D886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667250"/>
            <a:ext cx="2476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5F6B76"/>
                </a:solidFill>
                <a:latin typeface="PingFang SC"/>
                <a:ea typeface="PingFang SC"/>
                <a:cs typeface="PingFang SC"/>
              </a:defRPr>
            </a:pPr>
            <a:r>
              <a:t>Macro F1  57.50%</a:t>
            </a:r>
          </a:p>
        </p:txBody>
      </p:sp>
      <p:sp>
        <p:nvSpPr>
          <p:cNvPr id="41" name="shape-315">
            <a:extLst xmlns:a="http://schemas.openxmlformats.org/drawingml/2006/main">
              <a:ext uri="{FF2B5EF4-FFF2-40B4-BE49-F238E27FC236}">
                <a16:creationId xmlns:a16="http://schemas.microsoft.com/office/drawing/2014/main" id="{1E27CCCE-EB6E-4F51-9486-0CAF844C6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62600"/>
            <a:ext cx="112776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DF7F3"/>
          </a:solidFill>
          <a:ln xmlns:a="http://schemas.openxmlformats.org/drawingml/2006/main" w="0">
            <a:solidFill>
              <a:srgbClr val="DDF7F3"/>
            </a:solidFill>
            <a:prstDash val="solid"/>
          </a:ln>
        </p:spPr>
      </p:sp>
      <p:sp>
        <p:nvSpPr>
          <p:cNvPr id="42" name="text-316">
            <a:extLst xmlns:a="http://schemas.openxmlformats.org/drawingml/2006/main">
              <a:ext uri="{FF2B5EF4-FFF2-40B4-BE49-F238E27FC236}">
                <a16:creationId xmlns:a16="http://schemas.microsoft.com/office/drawing/2014/main" id="{3E51075D-B82F-4EFA-856A-9B2FE94AC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43575"/>
            <a:ext cx="107061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173F5F"/>
                </a:solidFill>
                <a:latin typeface="PingFang SC"/>
                <a:ea typeface="PingFang SC"/>
                <a:cs typeface="PingFang SC"/>
              </a:defRPr>
            </a:pPr>
            <a:r>
              <a:rPr b="1"/>
              <a:t>静态示例在两种语言上都提高，zero-shot 在两种语言上都下降；但每种语言仅 32 条，不能讨论语言优劣。</a:t>
            </a:r>
          </a:p>
        </p:txBody>
      </p:sp>
      <p:sp>
        <p:nvSpPr>
          <p:cNvPr id="43" name="shape-317">
            <a:extLst xmlns:a="http://schemas.openxmlformats.org/drawingml/2006/main">
              <a:ext uri="{FF2B5EF4-FFF2-40B4-BE49-F238E27FC236}">
                <a16:creationId xmlns:a16="http://schemas.microsoft.com/office/drawing/2014/main" id="{0E55423F-46F6-4300-8A6B-98E749D0B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BE1"/>
          </a:solidFill>
          <a:ln xmlns:a="http://schemas.openxmlformats.org/drawingml/2006/main" w="0">
            <a:solidFill>
              <a:srgbClr val="D5DBE1"/>
            </a:solidFill>
            <a:prstDash val="solid"/>
          </a:ln>
        </p:spPr>
      </p:sp>
      <p:sp>
        <p:nvSpPr>
          <p:cNvPr id="44" name="text-318">
            <a:extLst xmlns:a="http://schemas.openxmlformats.org/drawingml/2006/main">
              <a:ext uri="{FF2B5EF4-FFF2-40B4-BE49-F238E27FC236}">
                <a16:creationId xmlns:a16="http://schemas.microsoft.com/office/drawing/2014/main" id="{853649E5-961C-494C-8DA1-967CF42FF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5905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5F6B76"/>
                </a:solidFill>
                <a:latin typeface="PingFang SC"/>
                <a:ea typeface="PingFang SC"/>
                <a:cs typeface="PingFang SC"/>
              </a:defRPr>
            </a:pPr>
            <a:r>
              <a:t>来源：本地 Seed-64 实验记录</a:t>
            </a:r>
          </a:p>
        </p:txBody>
      </p:sp>
    </p:spTree>
    <p:extLst>
      <p:ext uri="{BB962C8B-B14F-4D97-AF65-F5344CB8AC3E}">
        <p14:creationId xmlns:p14="http://schemas.microsoft.com/office/powerpoint/2010/main" val="32668481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-319">
            <a:extLst xmlns:a="http://schemas.openxmlformats.org/drawingml/2006/main">
              <a:ext uri="{FF2B5EF4-FFF2-40B4-BE49-F238E27FC236}">
                <a16:creationId xmlns:a16="http://schemas.microsoft.com/office/drawing/2014/main" id="{775528F3-2F9C-4F0F-AD4E-AF0C7FEA3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6858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14B8A6"/>
                </a:solidFill>
                <a:latin typeface="PingFang SC"/>
                <a:ea typeface="PingFang SC"/>
                <a:cs typeface="PingFang SC"/>
              </a:defRPr>
            </a:pPr>
            <a:r>
              <a:rPr b="1"/>
              <a:t>EMOTION RECOGNITION · ABLATION STUDY</a:t>
            </a:r>
          </a:p>
        </p:txBody>
      </p:sp>
      <p:sp>
        <p:nvSpPr>
          <p:cNvPr id="2" name="text-320">
            <a:extLst xmlns:a="http://schemas.openxmlformats.org/drawingml/2006/main">
              <a:ext uri="{FF2B5EF4-FFF2-40B4-BE49-F238E27FC236}">
                <a16:creationId xmlns:a16="http://schemas.microsoft.com/office/drawing/2014/main" id="{EF5A3C12-16DC-4BEB-871B-0ACE63C82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0075"/>
            <a:ext cx="10668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75">
                <a:solidFill>
                  <a:srgbClr val="0B1F33"/>
                </a:solidFill>
                <a:latin typeface="PingFang SC"/>
                <a:ea typeface="PingFang SC"/>
                <a:cs typeface="PingFang SC"/>
              </a:defRPr>
            </a:pPr>
            <a:r>
              <a:rPr b="1"/>
              <a:t>错误模式：主要混淆发生在相邻情绪边界</a:t>
            </a:r>
          </a:p>
        </p:txBody>
      </p:sp>
      <p:sp>
        <p:nvSpPr>
          <p:cNvPr id="3" name="shape-321">
            <a:extLst xmlns:a="http://schemas.openxmlformats.org/drawingml/2006/main">
              <a:ext uri="{FF2B5EF4-FFF2-40B4-BE49-F238E27FC236}">
                <a16:creationId xmlns:a16="http://schemas.microsoft.com/office/drawing/2014/main" id="{2F8EA3A2-446A-46C4-9A56-000F856D0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668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BE1"/>
          </a:solidFill>
          <a:ln xmlns:a="http://schemas.openxmlformats.org/drawingml/2006/main" w="0">
            <a:solidFill>
              <a:srgbClr val="D5DBE1"/>
            </a:solidFill>
            <a:prstDash val="solid"/>
          </a:ln>
        </p:spPr>
      </p:sp>
      <p:sp>
        <p:nvSpPr>
          <p:cNvPr id="4" name="text-322">
            <a:extLst xmlns:a="http://schemas.openxmlformats.org/drawingml/2006/main">
              <a:ext uri="{FF2B5EF4-FFF2-40B4-BE49-F238E27FC236}">
                <a16:creationId xmlns:a16="http://schemas.microsoft.com/office/drawing/2014/main" id="{A9C33634-9B4A-437A-B2CF-18B821279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85750"/>
            <a:ext cx="495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F6B76"/>
                </a:solidFill>
                <a:latin typeface="PingFang SC"/>
                <a:ea typeface="PingFang SC"/>
                <a:cs typeface="PingFang SC"/>
              </a:defRPr>
            </a:pPr>
            <a:r>
              <a:rPr b="1"/>
              <a:t>09</a:t>
            </a:r>
          </a:p>
        </p:txBody>
      </p:sp>
      <p:sp>
        <p:nvSpPr>
          <p:cNvPr id="5" name="shape-323">
            <a:extLst xmlns:a="http://schemas.openxmlformats.org/drawingml/2006/main">
              <a:ext uri="{FF2B5EF4-FFF2-40B4-BE49-F238E27FC236}">
                <a16:creationId xmlns:a16="http://schemas.microsoft.com/office/drawing/2014/main" id="{1BE3DF3F-65ED-4B30-B010-BBDB1B302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2705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0">
            <a:solidFill>
              <a:srgbClr val="EEF1F4"/>
            </a:solidFill>
            <a:prstDash val="solid"/>
          </a:ln>
        </p:spPr>
      </p:sp>
      <p:sp>
        <p:nvSpPr>
          <p:cNvPr id="6" name="text-324">
            <a:extLst xmlns:a="http://schemas.openxmlformats.org/drawingml/2006/main">
              <a:ext uri="{FF2B5EF4-FFF2-40B4-BE49-F238E27FC236}">
                <a16:creationId xmlns:a16="http://schemas.microsoft.com/office/drawing/2014/main" id="{363D7149-1B37-4AD6-8639-CA6E1443C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04975"/>
            <a:ext cx="25146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173F5F"/>
                </a:solidFill>
                <a:latin typeface="PingFang SC"/>
                <a:ea typeface="PingFang SC"/>
                <a:cs typeface="PingFang SC"/>
              </a:defRPr>
            </a:pPr>
            <a:r>
              <a:rPr b="1"/>
              <a:t>sad  →  lonely</a:t>
            </a:r>
          </a:p>
        </p:txBody>
      </p:sp>
      <p:sp>
        <p:nvSpPr>
          <p:cNvPr id="7" name="shape-325">
            <a:extLst xmlns:a="http://schemas.openxmlformats.org/drawingml/2006/main">
              <a:ext uri="{FF2B5EF4-FFF2-40B4-BE49-F238E27FC236}">
                <a16:creationId xmlns:a16="http://schemas.microsoft.com/office/drawing/2014/main" id="{792D030A-23EF-4237-84ED-9CD95ADD9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657350"/>
            <a:ext cx="2705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DF7F3"/>
          </a:solidFill>
          <a:ln xmlns:a="http://schemas.openxmlformats.org/drawingml/2006/main" w="0">
            <a:solidFill>
              <a:srgbClr val="DDF7F3"/>
            </a:solidFill>
            <a:prstDash val="solid"/>
          </a:ln>
        </p:spPr>
      </p:sp>
      <p:sp>
        <p:nvSpPr>
          <p:cNvPr id="8" name="text-326">
            <a:extLst xmlns:a="http://schemas.openxmlformats.org/drawingml/2006/main">
              <a:ext uri="{FF2B5EF4-FFF2-40B4-BE49-F238E27FC236}">
                <a16:creationId xmlns:a16="http://schemas.microsoft.com/office/drawing/2014/main" id="{B6624B1B-5C28-410C-96E2-CFCAB541A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704975"/>
            <a:ext cx="25146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14B8A6"/>
                </a:solidFill>
                <a:latin typeface="PingFang SC"/>
                <a:ea typeface="PingFang SC"/>
                <a:cs typeface="PingFang SC"/>
              </a:defRPr>
            </a:pPr>
            <a:r>
              <a:rPr b="1"/>
              <a:t>afraid  →  anxious</a:t>
            </a:r>
          </a:p>
        </p:txBody>
      </p:sp>
      <p:sp>
        <p:nvSpPr>
          <p:cNvPr id="9" name="shape-327">
            <a:extLst xmlns:a="http://schemas.openxmlformats.org/drawingml/2006/main">
              <a:ext uri="{FF2B5EF4-FFF2-40B4-BE49-F238E27FC236}">
                <a16:creationId xmlns:a16="http://schemas.microsoft.com/office/drawing/2014/main" id="{BB955EE1-CE8E-4419-B0B8-3D9CD832A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657350"/>
            <a:ext cx="2705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0">
            <a:solidFill>
              <a:srgbClr val="EEF1F4"/>
            </a:solidFill>
            <a:prstDash val="solid"/>
          </a:ln>
        </p:spPr>
      </p:sp>
      <p:sp>
        <p:nvSpPr>
          <p:cNvPr id="10" name="text-328">
            <a:extLst xmlns:a="http://schemas.openxmlformats.org/drawingml/2006/main">
              <a:ext uri="{FF2B5EF4-FFF2-40B4-BE49-F238E27FC236}">
                <a16:creationId xmlns:a16="http://schemas.microsoft.com/office/drawing/2014/main" id="{16788BCE-A12B-41C8-83E0-39CA0ABF9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04975"/>
            <a:ext cx="25146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173F5F"/>
                </a:solidFill>
                <a:latin typeface="PingFang SC"/>
                <a:ea typeface="PingFang SC"/>
                <a:cs typeface="PingFang SC"/>
              </a:defRPr>
            </a:pPr>
            <a:r>
              <a:rPr b="1"/>
              <a:t>terrified  →  afraid</a:t>
            </a:r>
          </a:p>
        </p:txBody>
      </p:sp>
      <p:sp>
        <p:nvSpPr>
          <p:cNvPr id="11" name="shape-329">
            <a:extLst xmlns:a="http://schemas.openxmlformats.org/drawingml/2006/main">
              <a:ext uri="{FF2B5EF4-FFF2-40B4-BE49-F238E27FC236}">
                <a16:creationId xmlns:a16="http://schemas.microsoft.com/office/drawing/2014/main" id="{201BD814-B27B-4A5D-A941-E513161B6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657350"/>
            <a:ext cx="2705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DF7F3"/>
          </a:solidFill>
          <a:ln xmlns:a="http://schemas.openxmlformats.org/drawingml/2006/main" w="0">
            <a:solidFill>
              <a:srgbClr val="DDF7F3"/>
            </a:solidFill>
            <a:prstDash val="solid"/>
          </a:ln>
        </p:spPr>
      </p:sp>
      <p:sp>
        <p:nvSpPr>
          <p:cNvPr id="12" name="text-330">
            <a:extLst xmlns:a="http://schemas.openxmlformats.org/drawingml/2006/main">
              <a:ext uri="{FF2B5EF4-FFF2-40B4-BE49-F238E27FC236}">
                <a16:creationId xmlns:a16="http://schemas.microsoft.com/office/drawing/2014/main" id="{E07D0C6D-5C71-454D-B838-7451EE63D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704975"/>
            <a:ext cx="25146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14B8A6"/>
                </a:solidFill>
                <a:latin typeface="PingFang SC"/>
                <a:ea typeface="PingFang SC"/>
                <a:cs typeface="PingFang SC"/>
              </a:defRPr>
            </a:pPr>
            <a:r>
              <a:rPr b="1"/>
              <a:t>ashamed  →  embarrassed</a:t>
            </a:r>
          </a:p>
        </p:txBody>
      </p:sp>
      <p:sp>
        <p:nvSpPr>
          <p:cNvPr id="13" name="shape-331">
            <a:extLst xmlns:a="http://schemas.openxmlformats.org/drawingml/2006/main">
              <a:ext uri="{FF2B5EF4-FFF2-40B4-BE49-F238E27FC236}">
                <a16:creationId xmlns:a16="http://schemas.microsoft.com/office/drawing/2014/main" id="{FF2E7D8C-D7AD-4912-83CB-EDE10D39B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2247900"/>
            <a:ext cx="27114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0">
            <a:solidFill>
              <a:srgbClr val="EEF1F4"/>
            </a:solidFill>
            <a:prstDash val="solid"/>
          </a:ln>
        </p:spPr>
      </p:sp>
      <p:sp>
        <p:nvSpPr>
          <p:cNvPr id="14" name="text-332">
            <a:extLst xmlns:a="http://schemas.openxmlformats.org/drawingml/2006/main">
              <a:ext uri="{FF2B5EF4-FFF2-40B4-BE49-F238E27FC236}">
                <a16:creationId xmlns:a16="http://schemas.microsoft.com/office/drawing/2014/main" id="{3924D532-D036-4FDF-BBA4-136AB476E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2295525"/>
            <a:ext cx="25209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173F5F"/>
                </a:solidFill>
                <a:latin typeface="PingFang SC"/>
                <a:ea typeface="PingFang SC"/>
                <a:cs typeface="PingFang SC"/>
              </a:defRPr>
            </a:pPr>
            <a:r>
              <a:rPr b="1"/>
              <a:t>confident  →  prepared</a:t>
            </a:r>
          </a:p>
        </p:txBody>
      </p:sp>
      <p:sp>
        <p:nvSpPr>
          <p:cNvPr id="15" name="shape-333">
            <a:extLst xmlns:a="http://schemas.openxmlformats.org/drawingml/2006/main">
              <a:ext uri="{FF2B5EF4-FFF2-40B4-BE49-F238E27FC236}">
                <a16:creationId xmlns:a16="http://schemas.microsoft.com/office/drawing/2014/main" id="{84FA2669-682E-431D-AA1D-7CCFC1B91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0275" y="2247900"/>
            <a:ext cx="27114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DF7F3"/>
          </a:solidFill>
          <a:ln xmlns:a="http://schemas.openxmlformats.org/drawingml/2006/main" w="0">
            <a:solidFill>
              <a:srgbClr val="DDF7F3"/>
            </a:solidFill>
            <a:prstDash val="solid"/>
          </a:ln>
        </p:spPr>
      </p:sp>
      <p:sp>
        <p:nvSpPr>
          <p:cNvPr id="16" name="text-334">
            <a:extLst xmlns:a="http://schemas.openxmlformats.org/drawingml/2006/main">
              <a:ext uri="{FF2B5EF4-FFF2-40B4-BE49-F238E27FC236}">
                <a16:creationId xmlns:a16="http://schemas.microsoft.com/office/drawing/2014/main" id="{D184C166-0A02-4AF2-9FCA-9691D69FA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5525" y="2295525"/>
            <a:ext cx="25209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14B8A6"/>
                </a:solidFill>
                <a:latin typeface="PingFang SC"/>
                <a:ea typeface="PingFang SC"/>
                <a:cs typeface="PingFang SC"/>
              </a:defRPr>
            </a:pPr>
            <a:r>
              <a:rPr b="1"/>
              <a:t>anticipating  →  anxious</a:t>
            </a:r>
          </a:p>
        </p:txBody>
      </p:sp>
      <p:sp>
        <p:nvSpPr>
          <p:cNvPr id="17" name="shape-335">
            <a:extLst xmlns:a="http://schemas.openxmlformats.org/drawingml/2006/main">
              <a:ext uri="{FF2B5EF4-FFF2-40B4-BE49-F238E27FC236}">
                <a16:creationId xmlns:a16="http://schemas.microsoft.com/office/drawing/2014/main" id="{E3C90DA7-BE47-4A30-A2B9-AD31CDDBF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4125" y="2247900"/>
            <a:ext cx="27114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0">
            <a:solidFill>
              <a:srgbClr val="EEF1F4"/>
            </a:solidFill>
            <a:prstDash val="solid"/>
          </a:ln>
        </p:spPr>
      </p:sp>
      <p:sp>
        <p:nvSpPr>
          <p:cNvPr id="18" name="text-336">
            <a:extLst xmlns:a="http://schemas.openxmlformats.org/drawingml/2006/main">
              <a:ext uri="{FF2B5EF4-FFF2-40B4-BE49-F238E27FC236}">
                <a16:creationId xmlns:a16="http://schemas.microsoft.com/office/drawing/2014/main" id="{2E51C9FF-199E-4339-9A59-86F46503E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9375" y="2295525"/>
            <a:ext cx="25209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173F5F"/>
                </a:solidFill>
                <a:latin typeface="PingFang SC"/>
                <a:ea typeface="PingFang SC"/>
                <a:cs typeface="PingFang SC"/>
              </a:defRPr>
            </a:pPr>
            <a:r>
              <a:rPr b="1"/>
              <a:t>sentimental  →  nostalgic</a:t>
            </a:r>
          </a:p>
        </p:txBody>
      </p:sp>
      <p:sp>
        <p:nvSpPr>
          <p:cNvPr id="19" name="shape-337">
            <a:extLst xmlns:a="http://schemas.openxmlformats.org/drawingml/2006/main">
              <a:ext uri="{FF2B5EF4-FFF2-40B4-BE49-F238E27FC236}">
                <a16:creationId xmlns:a16="http://schemas.microsoft.com/office/drawing/2014/main" id="{A4F3102A-3700-4665-A767-BD1EE4CA5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0"/>
            <a:ext cx="11277600" cy="23431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solidFill>
              <a:srgbClr val="0B1F33"/>
            </a:solidFill>
            <a:prstDash val="solid"/>
          </a:ln>
        </p:spPr>
      </p:sp>
      <p:sp>
        <p:nvSpPr>
          <p:cNvPr id="20" name="text-338">
            <a:extLst xmlns:a="http://schemas.openxmlformats.org/drawingml/2006/main">
              <a:ext uri="{FF2B5EF4-FFF2-40B4-BE49-F238E27FC236}">
                <a16:creationId xmlns:a16="http://schemas.microsoft.com/office/drawing/2014/main" id="{9B0D4949-2196-4812-80E0-627FDEF64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3333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>
                <a:solidFill>
                  <a:srgbClr val="14B8A6"/>
                </a:solidFill>
                <a:latin typeface="PingFang SC"/>
                <a:ea typeface="PingFang SC"/>
                <a:cs typeface="PingFang SC"/>
              </a:defRPr>
            </a:pPr>
            <a:r>
              <a:rPr b="1"/>
              <a:t>一组中英平行错误样例</a:t>
            </a:r>
          </a:p>
        </p:txBody>
      </p:sp>
      <p:sp>
        <p:nvSpPr>
          <p:cNvPr id="21" name="text-339">
            <a:extLst xmlns:a="http://schemas.openxmlformats.org/drawingml/2006/main">
              <a:ext uri="{FF2B5EF4-FFF2-40B4-BE49-F238E27FC236}">
                <a16:creationId xmlns:a16="http://schemas.microsoft.com/office/drawing/2014/main" id="{964C95A7-A5D6-4B69-85B6-097CCBEBE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86200"/>
            <a:ext cx="7239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b="1"/>
              <a:t>“小雅装完最后一个箱子后，屋子一下子空了。”</a:t>
            </a:r>
          </a:p>
        </p:txBody>
      </p:sp>
      <p:sp>
        <p:nvSpPr>
          <p:cNvPr id="22" name="text-340">
            <a:extLst xmlns:a="http://schemas.openxmlformats.org/drawingml/2006/main">
              <a:ext uri="{FF2B5EF4-FFF2-40B4-BE49-F238E27FC236}">
                <a16:creationId xmlns:a16="http://schemas.microsoft.com/office/drawing/2014/main" id="{BC3BF82E-8241-4DD2-8A68-E9FBF0BFA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0"/>
            <a:ext cx="8572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“The room feels empty now that Maya packed the last box.”</a:t>
            </a:r>
          </a:p>
        </p:txBody>
      </p:sp>
      <p:sp>
        <p:nvSpPr>
          <p:cNvPr id="23" name="shape-341">
            <a:extLst xmlns:a="http://schemas.openxmlformats.org/drawingml/2006/main">
              <a:ext uri="{FF2B5EF4-FFF2-40B4-BE49-F238E27FC236}">
                <a16:creationId xmlns:a16="http://schemas.microsoft.com/office/drawing/2014/main" id="{6581D50E-266D-47BD-8139-EC6759E21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867150"/>
            <a:ext cx="15430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4" name="text-342">
            <a:extLst xmlns:a="http://schemas.openxmlformats.org/drawingml/2006/main">
              <a:ext uri="{FF2B5EF4-FFF2-40B4-BE49-F238E27FC236}">
                <a16:creationId xmlns:a16="http://schemas.microsoft.com/office/drawing/2014/main" id="{A0418945-59E5-4F69-9069-C38BCF184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914775"/>
            <a:ext cx="1352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173F5F"/>
                </a:solidFill>
                <a:latin typeface="PingFang SC"/>
                <a:ea typeface="PingFang SC"/>
                <a:cs typeface="PingFang SC"/>
              </a:defRPr>
            </a:pPr>
            <a:r>
              <a:rPr b="1"/>
              <a:t>expected: sad</a:t>
            </a:r>
          </a:p>
        </p:txBody>
      </p:sp>
      <p:sp>
        <p:nvSpPr>
          <p:cNvPr id="25" name="shape-343">
            <a:extLst xmlns:a="http://schemas.openxmlformats.org/drawingml/2006/main">
              <a:ext uri="{FF2B5EF4-FFF2-40B4-BE49-F238E27FC236}">
                <a16:creationId xmlns:a16="http://schemas.microsoft.com/office/drawing/2014/main" id="{DACF875D-33CE-4E0A-A464-7A967615A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867150"/>
            <a:ext cx="15621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26" name="text-344">
            <a:extLst xmlns:a="http://schemas.openxmlformats.org/drawingml/2006/main">
              <a:ext uri="{FF2B5EF4-FFF2-40B4-BE49-F238E27FC236}">
                <a16:creationId xmlns:a16="http://schemas.microsoft.com/office/drawing/2014/main" id="{C35B0545-B00D-4454-897B-2A70616EF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914775"/>
            <a:ext cx="1371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0B1F33"/>
                </a:solidFill>
                <a:latin typeface="PingFang SC"/>
                <a:ea typeface="PingFang SC"/>
                <a:cs typeface="PingFang SC"/>
              </a:defRPr>
            </a:pPr>
            <a:r>
              <a:rPr b="1"/>
              <a:t>predicted: lonely</a:t>
            </a:r>
          </a:p>
        </p:txBody>
      </p:sp>
      <p:sp>
        <p:nvSpPr>
          <p:cNvPr id="27" name="text-345">
            <a:extLst xmlns:a="http://schemas.openxmlformats.org/drawingml/2006/main">
              <a:ext uri="{FF2B5EF4-FFF2-40B4-BE49-F238E27FC236}">
                <a16:creationId xmlns:a16="http://schemas.microsoft.com/office/drawing/2014/main" id="{E2643740-7847-4549-ADFC-A0AA2F6C7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10096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EEF1F4"/>
                </a:solidFill>
                <a:latin typeface="PingFang SC"/>
                <a:ea typeface="PingFang SC"/>
                <a:cs typeface="PingFang SC"/>
              </a:defRPr>
            </a:pPr>
            <a:r>
              <a:t>说明：语义判断并非完全错误，但标签定义和边界示例仍不够清晰。</a:t>
            </a:r>
          </a:p>
        </p:txBody>
      </p:sp>
      <p:sp>
        <p:nvSpPr>
          <p:cNvPr id="28" name="shape-346">
            <a:extLst xmlns:a="http://schemas.openxmlformats.org/drawingml/2006/main">
              <a:ext uri="{FF2B5EF4-FFF2-40B4-BE49-F238E27FC236}">
                <a16:creationId xmlns:a16="http://schemas.microsoft.com/office/drawing/2014/main" id="{CA493E38-AA17-4242-8148-F042714C5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19750"/>
            <a:ext cx="112776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2D6"/>
          </a:solidFill>
          <a:ln xmlns:a="http://schemas.openxmlformats.org/drawingml/2006/main" w="0">
            <a:solidFill>
              <a:srgbClr val="FFF2D6"/>
            </a:solidFill>
            <a:prstDash val="solid"/>
          </a:ln>
        </p:spPr>
      </p:sp>
      <p:sp>
        <p:nvSpPr>
          <p:cNvPr id="29" name="text-347">
            <a:extLst xmlns:a="http://schemas.openxmlformats.org/drawingml/2006/main">
              <a:ext uri="{FF2B5EF4-FFF2-40B4-BE49-F238E27FC236}">
                <a16:creationId xmlns:a16="http://schemas.microsoft.com/office/drawing/2014/main" id="{A943FC5B-1CDB-4AD4-95D5-860A1A234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72150"/>
            <a:ext cx="10706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C2413B"/>
                </a:solidFill>
                <a:latin typeface="PingFang SC"/>
                <a:ea typeface="PingFang SC"/>
                <a:cs typeface="PingFang SC"/>
              </a:defRPr>
            </a:pPr>
            <a:r>
              <a:rPr b="1"/>
              <a:t>后续提升重点：明确标签边界、补充成对判别示例，而不是简单增加上下文。</a:t>
            </a:r>
          </a:p>
        </p:txBody>
      </p:sp>
      <p:sp>
        <p:nvSpPr>
          <p:cNvPr id="30" name="shape-348">
            <a:extLst xmlns:a="http://schemas.openxmlformats.org/drawingml/2006/main">
              <a:ext uri="{FF2B5EF4-FFF2-40B4-BE49-F238E27FC236}">
                <a16:creationId xmlns:a16="http://schemas.microsoft.com/office/drawing/2014/main" id="{1589467D-99DF-4A82-9B22-4CCDE65BD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BE1"/>
          </a:solidFill>
          <a:ln xmlns:a="http://schemas.openxmlformats.org/drawingml/2006/main" w="0">
            <a:solidFill>
              <a:srgbClr val="D5DBE1"/>
            </a:solidFill>
            <a:prstDash val="solid"/>
          </a:ln>
        </p:spPr>
      </p:sp>
      <p:sp>
        <p:nvSpPr>
          <p:cNvPr id="31" name="text-349">
            <a:extLst xmlns:a="http://schemas.openxmlformats.org/drawingml/2006/main">
              <a:ext uri="{FF2B5EF4-FFF2-40B4-BE49-F238E27FC236}">
                <a16:creationId xmlns:a16="http://schemas.microsoft.com/office/drawing/2014/main" id="{B028A95C-8842-4E74-B148-6DFE8DA81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5905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5F6B76"/>
                </a:solidFill>
                <a:latin typeface="PingFang SC"/>
                <a:ea typeface="PingFang SC"/>
                <a:cs typeface="PingFang SC"/>
              </a:defRPr>
            </a:pPr>
            <a:r>
              <a:t>来源：本地 Seed-64 实验记录</a:t>
            </a:r>
          </a:p>
        </p:txBody>
      </p:sp>
    </p:spTree>
    <p:extLst>
      <p:ext uri="{BB962C8B-B14F-4D97-AF65-F5344CB8AC3E}">
        <p14:creationId xmlns:p14="http://schemas.microsoft.com/office/powerpoint/2010/main" val="30798850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-350">
            <a:extLst xmlns:a="http://schemas.openxmlformats.org/drawingml/2006/main">
              <a:ext uri="{FF2B5EF4-FFF2-40B4-BE49-F238E27FC236}">
                <a16:creationId xmlns:a16="http://schemas.microsoft.com/office/drawing/2014/main" id="{A0BF14D4-F0A2-44E8-8FF7-C429E2308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6858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14B8A6"/>
                </a:solidFill>
                <a:latin typeface="PingFang SC"/>
                <a:ea typeface="PingFang SC"/>
                <a:cs typeface="PingFang SC"/>
              </a:defRPr>
            </a:pPr>
            <a:r>
              <a:rPr b="1"/>
              <a:t>EMOTION RECOGNITION · ABLATION STUDY</a:t>
            </a:r>
          </a:p>
        </p:txBody>
      </p:sp>
      <p:sp>
        <p:nvSpPr>
          <p:cNvPr id="2" name="text-351">
            <a:extLst xmlns:a="http://schemas.openxmlformats.org/drawingml/2006/main">
              <a:ext uri="{FF2B5EF4-FFF2-40B4-BE49-F238E27FC236}">
                <a16:creationId xmlns:a16="http://schemas.microsoft.com/office/drawing/2014/main" id="{2266F313-2069-49EF-A507-6656E8EE6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0075"/>
            <a:ext cx="10668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75">
                <a:solidFill>
                  <a:srgbClr val="0B1F33"/>
                </a:solidFill>
                <a:latin typeface="PingFang SC"/>
                <a:ea typeface="PingFang SC"/>
                <a:cs typeface="PingFang SC"/>
              </a:defRPr>
            </a:pPr>
            <a:r>
              <a:rPr b="1"/>
              <a:t>本轮价值：形成可信假设，而不是给出最终结论</a:t>
            </a:r>
          </a:p>
        </p:txBody>
      </p:sp>
      <p:sp>
        <p:nvSpPr>
          <p:cNvPr id="3" name="shape-352">
            <a:extLst xmlns:a="http://schemas.openxmlformats.org/drawingml/2006/main">
              <a:ext uri="{FF2B5EF4-FFF2-40B4-BE49-F238E27FC236}">
                <a16:creationId xmlns:a16="http://schemas.microsoft.com/office/drawing/2014/main" id="{14FA2D4B-A2C3-4D00-8B2A-EB0323CDC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668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BE1"/>
          </a:solidFill>
          <a:ln xmlns:a="http://schemas.openxmlformats.org/drawingml/2006/main" w="0">
            <a:solidFill>
              <a:srgbClr val="D5DBE1"/>
            </a:solidFill>
            <a:prstDash val="solid"/>
          </a:ln>
        </p:spPr>
      </p:sp>
      <p:sp>
        <p:nvSpPr>
          <p:cNvPr id="4" name="text-353">
            <a:extLst xmlns:a="http://schemas.openxmlformats.org/drawingml/2006/main">
              <a:ext uri="{FF2B5EF4-FFF2-40B4-BE49-F238E27FC236}">
                <a16:creationId xmlns:a16="http://schemas.microsoft.com/office/drawing/2014/main" id="{B222CDBD-F180-4912-9EF6-1EB2BC23B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85750"/>
            <a:ext cx="495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F6B76"/>
                </a:solidFill>
                <a:latin typeface="PingFang SC"/>
                <a:ea typeface="PingFang SC"/>
                <a:cs typeface="PingFang SC"/>
              </a:defRPr>
            </a:pPr>
            <a:r>
              <a:rPr b="1"/>
              <a:t>10</a:t>
            </a:r>
          </a:p>
        </p:txBody>
      </p:sp>
      <p:sp>
        <p:nvSpPr>
          <p:cNvPr id="5" name="shape-354">
            <a:extLst xmlns:a="http://schemas.openxmlformats.org/drawingml/2006/main">
              <a:ext uri="{FF2B5EF4-FFF2-40B4-BE49-F238E27FC236}">
                <a16:creationId xmlns:a16="http://schemas.microsoft.com/office/drawing/2014/main" id="{1098C080-CE89-48C4-B837-3C4CB5AE4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5410200" cy="4324350"/>
          </a:xfrm>
          <a:prstGeom xmlns:a="http://schemas.openxmlformats.org/drawingml/2006/main" prst="roundRect">
            <a:avLst>
              <a:gd name="adj" fmla="val 1762"/>
            </a:avLst>
          </a:prstGeom>
          <a:solidFill xmlns:a="http://schemas.openxmlformats.org/drawingml/2006/main">
            <a:srgbClr val="DDF7F3"/>
          </a:solidFill>
          <a:ln xmlns:a="http://schemas.openxmlformats.org/drawingml/2006/main" w="19050">
            <a:solidFill>
              <a:srgbClr val="14B8A6"/>
            </a:solidFill>
            <a:prstDash val="solid"/>
          </a:ln>
        </p:spPr>
      </p:sp>
      <p:sp>
        <p:nvSpPr>
          <p:cNvPr id="6" name="shape-355">
            <a:extLst xmlns:a="http://schemas.openxmlformats.org/drawingml/2006/main">
              <a:ext uri="{FF2B5EF4-FFF2-40B4-BE49-F238E27FC236}">
                <a16:creationId xmlns:a16="http://schemas.microsoft.com/office/drawing/2014/main" id="{EB45A2B5-EBFE-4551-8E8D-13FE16939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19250"/>
            <a:ext cx="5638800" cy="4324350"/>
          </a:xfrm>
          <a:prstGeom xmlns:a="http://schemas.openxmlformats.org/drawingml/2006/main" prst="roundRect">
            <a:avLst>
              <a:gd name="adj" fmla="val 1762"/>
            </a:avLst>
          </a:prstGeom>
          <a:solidFill xmlns:a="http://schemas.openxmlformats.org/drawingml/2006/main">
            <a:srgbClr val="FBE8E6"/>
          </a:solidFill>
          <a:ln xmlns:a="http://schemas.openxmlformats.org/drawingml/2006/main" w="19050">
            <a:solidFill>
              <a:srgbClr val="C2413B"/>
            </a:solidFill>
            <a:prstDash val="solid"/>
          </a:ln>
        </p:spPr>
      </p:sp>
      <p:sp>
        <p:nvSpPr>
          <p:cNvPr id="7" name="text-356">
            <a:extLst xmlns:a="http://schemas.openxmlformats.org/drawingml/2006/main">
              <a:ext uri="{FF2B5EF4-FFF2-40B4-BE49-F238E27FC236}">
                <a16:creationId xmlns:a16="http://schemas.microsoft.com/office/drawing/2014/main" id="{0876CA65-9660-4AA5-9B71-924A26177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24050"/>
            <a:ext cx="47625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>
                <a:solidFill>
                  <a:srgbClr val="173F5F"/>
                </a:solidFill>
                <a:latin typeface="PingFang SC"/>
                <a:ea typeface="PingFang SC"/>
                <a:cs typeface="PingFang SC"/>
              </a:defRPr>
            </a:pPr>
            <a:r>
              <a:rPr b="1"/>
              <a:t>当前证据支持</a:t>
            </a:r>
          </a:p>
        </p:txBody>
      </p:sp>
      <p:sp>
        <p:nvSpPr>
          <p:cNvPr id="8" name="text-357">
            <a:extLst xmlns:a="http://schemas.openxmlformats.org/drawingml/2006/main">
              <a:ext uri="{FF2B5EF4-FFF2-40B4-BE49-F238E27FC236}">
                <a16:creationId xmlns:a16="http://schemas.microsoft.com/office/drawing/2014/main" id="{05F14E05-CE5A-448D-AAFA-D25916F2D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24050"/>
            <a:ext cx="49530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>
                <a:solidFill>
                  <a:srgbClr val="C2413B"/>
                </a:solidFill>
                <a:latin typeface="PingFang SC"/>
                <a:ea typeface="PingFang SC"/>
                <a:cs typeface="PingFang SC"/>
              </a:defRPr>
            </a:pPr>
            <a:r>
              <a:rPr b="1"/>
              <a:t>当前证据不支持</a:t>
            </a:r>
          </a:p>
        </p:txBody>
      </p:sp>
      <p:sp>
        <p:nvSpPr>
          <p:cNvPr id="9" name="shape-358">
            <a:extLst xmlns:a="http://schemas.openxmlformats.org/drawingml/2006/main">
              <a:ext uri="{FF2B5EF4-FFF2-40B4-BE49-F238E27FC236}">
                <a16:creationId xmlns:a16="http://schemas.microsoft.com/office/drawing/2014/main" id="{FDCCE3F0-8293-45E1-9B38-E13D6A10E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8605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  <a:prstDash val="solid"/>
          </a:ln>
        </p:spPr>
      </p:sp>
      <p:sp>
        <p:nvSpPr>
          <p:cNvPr id="10" name="text-359">
            <a:extLst xmlns:a="http://schemas.openxmlformats.org/drawingml/2006/main">
              <a:ext uri="{FF2B5EF4-FFF2-40B4-BE49-F238E27FC236}">
                <a16:creationId xmlns:a16="http://schemas.microsoft.com/office/drawing/2014/main" id="{FFBF511D-64AE-4CC0-87F9-43803090B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14625"/>
            <a:ext cx="2476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b="1"/>
              <a:t>✓</a:t>
            </a:r>
          </a:p>
        </p:txBody>
      </p:sp>
      <p:sp>
        <p:nvSpPr>
          <p:cNvPr id="11" name="text-360">
            <a:extLst xmlns:a="http://schemas.openxmlformats.org/drawingml/2006/main">
              <a:ext uri="{FF2B5EF4-FFF2-40B4-BE49-F238E27FC236}">
                <a16:creationId xmlns:a16="http://schemas.microsoft.com/office/drawing/2014/main" id="{A9C41E14-B400-4F93-A42C-4846523DB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67000"/>
            <a:ext cx="41338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b="1"/>
              <a:t>Seed-64 上，静态示例优于当前动态检索策略</a:t>
            </a:r>
          </a:p>
        </p:txBody>
      </p:sp>
      <p:sp>
        <p:nvSpPr>
          <p:cNvPr id="12" name="shape-361">
            <a:extLst xmlns:a="http://schemas.openxmlformats.org/drawingml/2006/main">
              <a:ext uri="{FF2B5EF4-FFF2-40B4-BE49-F238E27FC236}">
                <a16:creationId xmlns:a16="http://schemas.microsoft.com/office/drawing/2014/main" id="{D51B4F0D-8921-4A47-A727-BF2DB6041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0045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  <a:prstDash val="solid"/>
          </a:ln>
        </p:spPr>
      </p:sp>
      <p:sp>
        <p:nvSpPr>
          <p:cNvPr id="13" name="text-362">
            <a:extLst xmlns:a="http://schemas.openxmlformats.org/drawingml/2006/main">
              <a:ext uri="{FF2B5EF4-FFF2-40B4-BE49-F238E27FC236}">
                <a16:creationId xmlns:a16="http://schemas.microsoft.com/office/drawing/2014/main" id="{2D9AA106-77F7-4481-A781-83AB363F8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29025"/>
            <a:ext cx="2476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b="1"/>
              <a:t>✓</a:t>
            </a:r>
          </a:p>
        </p:txBody>
      </p:sp>
      <p:sp>
        <p:nvSpPr>
          <p:cNvPr id="14" name="text-363">
            <a:extLst xmlns:a="http://schemas.openxmlformats.org/drawingml/2006/main">
              <a:ext uri="{FF2B5EF4-FFF2-40B4-BE49-F238E27FC236}">
                <a16:creationId xmlns:a16="http://schemas.microsoft.com/office/drawing/2014/main" id="{E5036419-8B5A-46A1-AD93-E97304F21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581400"/>
            <a:ext cx="41338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b="1"/>
              <a:t>示例 / 历史组合整体优于 zero-shot</a:t>
            </a:r>
          </a:p>
        </p:txBody>
      </p:sp>
      <p:sp>
        <p:nvSpPr>
          <p:cNvPr id="15" name="shape-364">
            <a:extLst xmlns:a="http://schemas.openxmlformats.org/drawingml/2006/main">
              <a:ext uri="{FF2B5EF4-FFF2-40B4-BE49-F238E27FC236}">
                <a16:creationId xmlns:a16="http://schemas.microsoft.com/office/drawing/2014/main" id="{75770189-8502-48AE-A492-E8182C46B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1485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  <a:prstDash val="solid"/>
          </a:ln>
        </p:spPr>
      </p:sp>
      <p:sp>
        <p:nvSpPr>
          <p:cNvPr id="16" name="text-365">
            <a:extLst xmlns:a="http://schemas.openxmlformats.org/drawingml/2006/main">
              <a:ext uri="{FF2B5EF4-FFF2-40B4-BE49-F238E27FC236}">
                <a16:creationId xmlns:a16="http://schemas.microsoft.com/office/drawing/2014/main" id="{D59B0E35-F96A-4B59-B7FA-FE827D40F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43425"/>
            <a:ext cx="2476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b="1"/>
              <a:t>✓</a:t>
            </a:r>
          </a:p>
        </p:txBody>
      </p:sp>
      <p:sp>
        <p:nvSpPr>
          <p:cNvPr id="17" name="text-366">
            <a:extLst xmlns:a="http://schemas.openxmlformats.org/drawingml/2006/main">
              <a:ext uri="{FF2B5EF4-FFF2-40B4-BE49-F238E27FC236}">
                <a16:creationId xmlns:a16="http://schemas.microsoft.com/office/drawing/2014/main" id="{4004B72A-FA90-45C1-9F86-72A7B7173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495800"/>
            <a:ext cx="41338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b="1"/>
              <a:t>主要错误集中于相邻情绪类别</a:t>
            </a:r>
          </a:p>
        </p:txBody>
      </p:sp>
      <p:sp>
        <p:nvSpPr>
          <p:cNvPr id="18" name="shape-367">
            <a:extLst xmlns:a="http://schemas.openxmlformats.org/drawingml/2006/main">
              <a:ext uri="{FF2B5EF4-FFF2-40B4-BE49-F238E27FC236}">
                <a16:creationId xmlns:a16="http://schemas.microsoft.com/office/drawing/2014/main" id="{8F531A14-5B56-4AF5-B62E-5E162DB92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289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C2413B"/>
          </a:solidFill>
          <a:ln xmlns:a="http://schemas.openxmlformats.org/drawingml/2006/main" w="0">
            <a:solidFill>
              <a:srgbClr val="C2413B"/>
            </a:solidFill>
            <a:prstDash val="solid"/>
          </a:ln>
        </p:spPr>
      </p:sp>
      <p:sp>
        <p:nvSpPr>
          <p:cNvPr id="19" name="text-368">
            <a:extLst xmlns:a="http://schemas.openxmlformats.org/drawingml/2006/main">
              <a:ext uri="{FF2B5EF4-FFF2-40B4-BE49-F238E27FC236}">
                <a16:creationId xmlns:a16="http://schemas.microsoft.com/office/drawing/2014/main" id="{D90E194D-8A35-4187-A13D-3B631262D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638425"/>
            <a:ext cx="209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b="1"/>
              <a:t>×</a:t>
            </a:r>
          </a:p>
        </p:txBody>
      </p:sp>
      <p:sp>
        <p:nvSpPr>
          <p:cNvPr id="20" name="text-369">
            <a:extLst xmlns:a="http://schemas.openxmlformats.org/drawingml/2006/main">
              <a:ext uri="{FF2B5EF4-FFF2-40B4-BE49-F238E27FC236}">
                <a16:creationId xmlns:a16="http://schemas.microsoft.com/office/drawing/2014/main" id="{873734D0-473E-43D6-BF76-69369DCDC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600325"/>
            <a:ext cx="42672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b="1"/>
              <a:t>情绪历史的独立贡献</a:t>
            </a:r>
          </a:p>
        </p:txBody>
      </p:sp>
      <p:sp>
        <p:nvSpPr>
          <p:cNvPr id="21" name="shape-370">
            <a:extLst xmlns:a="http://schemas.openxmlformats.org/drawingml/2006/main">
              <a:ext uri="{FF2B5EF4-FFF2-40B4-BE49-F238E27FC236}">
                <a16:creationId xmlns:a16="http://schemas.microsoft.com/office/drawing/2014/main" id="{BD8865F0-C6AF-4E17-9525-B1FD858CA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528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C2413B"/>
          </a:solidFill>
          <a:ln xmlns:a="http://schemas.openxmlformats.org/drawingml/2006/main" w="0">
            <a:solidFill>
              <a:srgbClr val="C2413B"/>
            </a:solidFill>
            <a:prstDash val="solid"/>
          </a:ln>
        </p:spPr>
      </p:sp>
      <p:sp>
        <p:nvSpPr>
          <p:cNvPr id="22" name="text-371">
            <a:extLst xmlns:a="http://schemas.openxmlformats.org/drawingml/2006/main">
              <a:ext uri="{FF2B5EF4-FFF2-40B4-BE49-F238E27FC236}">
                <a16:creationId xmlns:a16="http://schemas.microsoft.com/office/drawing/2014/main" id="{58D70EF7-DA6E-4F85-8075-7A9EF814A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362325"/>
            <a:ext cx="209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b="1"/>
              <a:t>×</a:t>
            </a:r>
          </a:p>
        </p:txBody>
      </p:sp>
      <p:sp>
        <p:nvSpPr>
          <p:cNvPr id="23" name="text-372">
            <a:extLst xmlns:a="http://schemas.openxmlformats.org/drawingml/2006/main">
              <a:ext uri="{FF2B5EF4-FFF2-40B4-BE49-F238E27FC236}">
                <a16:creationId xmlns:a16="http://schemas.microsoft.com/office/drawing/2014/main" id="{E9FEBC90-02F0-4AF7-B9CE-F2B84A584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324225"/>
            <a:ext cx="42672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b="1"/>
              <a:t>长上下文的独立贡献</a:t>
            </a:r>
          </a:p>
        </p:txBody>
      </p:sp>
      <p:sp>
        <p:nvSpPr>
          <p:cNvPr id="24" name="shape-373">
            <a:extLst xmlns:a="http://schemas.openxmlformats.org/drawingml/2006/main">
              <a:ext uri="{FF2B5EF4-FFF2-40B4-BE49-F238E27FC236}">
                <a16:creationId xmlns:a16="http://schemas.microsoft.com/office/drawing/2014/main" id="{3BF6C685-8677-4798-92ED-BEC842C34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767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C2413B"/>
          </a:solidFill>
          <a:ln xmlns:a="http://schemas.openxmlformats.org/drawingml/2006/main" w="0">
            <a:solidFill>
              <a:srgbClr val="C2413B"/>
            </a:solidFill>
            <a:prstDash val="solid"/>
          </a:ln>
        </p:spPr>
      </p:sp>
      <p:sp>
        <p:nvSpPr>
          <p:cNvPr id="25" name="text-374">
            <a:extLst xmlns:a="http://schemas.openxmlformats.org/drawingml/2006/main">
              <a:ext uri="{FF2B5EF4-FFF2-40B4-BE49-F238E27FC236}">
                <a16:creationId xmlns:a16="http://schemas.microsoft.com/office/drawing/2014/main" id="{17A2A5F5-C843-4CF4-971F-1BFEF3EF8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086225"/>
            <a:ext cx="209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b="1"/>
              <a:t>×</a:t>
            </a:r>
          </a:p>
        </p:txBody>
      </p:sp>
      <p:sp>
        <p:nvSpPr>
          <p:cNvPr id="26" name="text-375">
            <a:extLst xmlns:a="http://schemas.openxmlformats.org/drawingml/2006/main">
              <a:ext uri="{FF2B5EF4-FFF2-40B4-BE49-F238E27FC236}">
                <a16:creationId xmlns:a16="http://schemas.microsoft.com/office/drawing/2014/main" id="{491AD512-E1F9-4BEB-B928-2B8DF893E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048125"/>
            <a:ext cx="42672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b="1"/>
              <a:t>few-shot 与历史先验谁贡献更大</a:t>
            </a:r>
          </a:p>
        </p:txBody>
      </p:sp>
      <p:sp>
        <p:nvSpPr>
          <p:cNvPr id="27" name="shape-376">
            <a:extLst xmlns:a="http://schemas.openxmlformats.org/drawingml/2006/main">
              <a:ext uri="{FF2B5EF4-FFF2-40B4-BE49-F238E27FC236}">
                <a16:creationId xmlns:a16="http://schemas.microsoft.com/office/drawing/2014/main" id="{B292BFB0-069E-4A88-B7B9-394CB8F7B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8006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C2413B"/>
          </a:solidFill>
          <a:ln xmlns:a="http://schemas.openxmlformats.org/drawingml/2006/main" w="0">
            <a:solidFill>
              <a:srgbClr val="C2413B"/>
            </a:solidFill>
            <a:prstDash val="solid"/>
          </a:ln>
        </p:spPr>
      </p:sp>
      <p:sp>
        <p:nvSpPr>
          <p:cNvPr id="28" name="text-377">
            <a:extLst xmlns:a="http://schemas.openxmlformats.org/drawingml/2006/main">
              <a:ext uri="{FF2B5EF4-FFF2-40B4-BE49-F238E27FC236}">
                <a16:creationId xmlns:a16="http://schemas.microsoft.com/office/drawing/2014/main" id="{222A1389-199F-49FE-BECD-F78C300BE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810125"/>
            <a:ext cx="209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b="1"/>
              <a:t>×</a:t>
            </a:r>
          </a:p>
        </p:txBody>
      </p:sp>
      <p:sp>
        <p:nvSpPr>
          <p:cNvPr id="29" name="text-378">
            <a:extLst xmlns:a="http://schemas.openxmlformats.org/drawingml/2006/main">
              <a:ext uri="{FF2B5EF4-FFF2-40B4-BE49-F238E27FC236}">
                <a16:creationId xmlns:a16="http://schemas.microsoft.com/office/drawing/2014/main" id="{11901604-0EA1-4680-99C8-CAF4696FB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772025"/>
            <a:ext cx="42672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b="1"/>
              <a:t>对真实数据或裸模型 API 的泛化结论</a:t>
            </a:r>
          </a:p>
        </p:txBody>
      </p:sp>
      <p:sp>
        <p:nvSpPr>
          <p:cNvPr id="30" name="shape-379">
            <a:extLst xmlns:a="http://schemas.openxmlformats.org/drawingml/2006/main">
              <a:ext uri="{FF2B5EF4-FFF2-40B4-BE49-F238E27FC236}">
                <a16:creationId xmlns:a16="http://schemas.microsoft.com/office/drawing/2014/main" id="{03C0CEE6-1BDA-403F-9E60-FE133A899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BE1"/>
          </a:solidFill>
          <a:ln xmlns:a="http://schemas.openxmlformats.org/drawingml/2006/main" w="0">
            <a:solidFill>
              <a:srgbClr val="D5DBE1"/>
            </a:solidFill>
            <a:prstDash val="solid"/>
          </a:ln>
        </p:spPr>
      </p:sp>
      <p:sp>
        <p:nvSpPr>
          <p:cNvPr id="31" name="text-380">
            <a:extLst xmlns:a="http://schemas.openxmlformats.org/drawingml/2006/main">
              <a:ext uri="{FF2B5EF4-FFF2-40B4-BE49-F238E27FC236}">
                <a16:creationId xmlns:a16="http://schemas.microsoft.com/office/drawing/2014/main" id="{CD36A304-75DA-40C0-9CCC-3E7F50F35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5905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5F6B76"/>
                </a:solidFill>
                <a:latin typeface="PingFang SC"/>
                <a:ea typeface="PingFang SC"/>
                <a:cs typeface="PingFang SC"/>
              </a:defRPr>
            </a:pPr>
            <a:r>
              <a:t>来源：本地 Seed-64 实验记录</a:t>
            </a:r>
          </a:p>
        </p:txBody>
      </p:sp>
    </p:spTree>
    <p:extLst>
      <p:ext uri="{BB962C8B-B14F-4D97-AF65-F5344CB8AC3E}">
        <p14:creationId xmlns:p14="http://schemas.microsoft.com/office/powerpoint/2010/main" val="155167481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-381">
            <a:extLst xmlns:a="http://schemas.openxmlformats.org/drawingml/2006/main">
              <a:ext uri="{FF2B5EF4-FFF2-40B4-BE49-F238E27FC236}">
                <a16:creationId xmlns:a16="http://schemas.microsoft.com/office/drawing/2014/main" id="{C0775447-7EB1-497E-B9DF-D9995458E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6858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14B8A6"/>
                </a:solidFill>
                <a:latin typeface="PingFang SC"/>
                <a:ea typeface="PingFang SC"/>
                <a:cs typeface="PingFang SC"/>
              </a:defRPr>
            </a:pPr>
            <a:r>
              <a:rPr b="1"/>
              <a:t>EMOTION RECOGNITION · ABLATION STUDY</a:t>
            </a:r>
          </a:p>
        </p:txBody>
      </p:sp>
      <p:sp>
        <p:nvSpPr>
          <p:cNvPr id="2" name="text-382">
            <a:extLst xmlns:a="http://schemas.openxmlformats.org/drawingml/2006/main">
              <a:ext uri="{FF2B5EF4-FFF2-40B4-BE49-F238E27FC236}">
                <a16:creationId xmlns:a16="http://schemas.microsoft.com/office/drawing/2014/main" id="{BE7F5B28-B8AA-4BEE-A5B6-4A6EF1350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0075"/>
            <a:ext cx="10668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75">
                <a:solidFill>
                  <a:srgbClr val="0B1F33"/>
                </a:solidFill>
                <a:latin typeface="PingFang SC"/>
                <a:ea typeface="PingFang SC"/>
                <a:cs typeface="PingFang SC"/>
              </a:defRPr>
            </a:pPr>
            <a:r>
              <a:rPr b="1"/>
              <a:t>下一步：先修复实验可辨识性，再扩大规模</a:t>
            </a:r>
          </a:p>
        </p:txBody>
      </p:sp>
      <p:sp>
        <p:nvSpPr>
          <p:cNvPr id="3" name="shape-383">
            <a:extLst xmlns:a="http://schemas.openxmlformats.org/drawingml/2006/main">
              <a:ext uri="{FF2B5EF4-FFF2-40B4-BE49-F238E27FC236}">
                <a16:creationId xmlns:a16="http://schemas.microsoft.com/office/drawing/2014/main" id="{F1E1683B-B6CD-44F3-977B-4FDF1ADF4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668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BE1"/>
          </a:solidFill>
          <a:ln xmlns:a="http://schemas.openxmlformats.org/drawingml/2006/main" w="0">
            <a:solidFill>
              <a:srgbClr val="D5DBE1"/>
            </a:solidFill>
            <a:prstDash val="solid"/>
          </a:ln>
        </p:spPr>
      </p:sp>
      <p:sp>
        <p:nvSpPr>
          <p:cNvPr id="4" name="text-384">
            <a:extLst xmlns:a="http://schemas.openxmlformats.org/drawingml/2006/main">
              <a:ext uri="{FF2B5EF4-FFF2-40B4-BE49-F238E27FC236}">
                <a16:creationId xmlns:a16="http://schemas.microsoft.com/office/drawing/2014/main" id="{109F4102-9755-4C3B-BA89-D2190607C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85750"/>
            <a:ext cx="495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F6B76"/>
                </a:solidFill>
                <a:latin typeface="PingFang SC"/>
                <a:ea typeface="PingFang SC"/>
                <a:cs typeface="PingFang SC"/>
              </a:defRPr>
            </a:pPr>
            <a:r>
              <a:rPr b="1"/>
              <a:t>11</a:t>
            </a:r>
          </a:p>
        </p:txBody>
      </p:sp>
      <p:sp>
        <p:nvSpPr>
          <p:cNvPr id="5" name="shape-385">
            <a:extLst xmlns:a="http://schemas.openxmlformats.org/drawingml/2006/main">
              <a:ext uri="{FF2B5EF4-FFF2-40B4-BE49-F238E27FC236}">
                <a16:creationId xmlns:a16="http://schemas.microsoft.com/office/drawing/2014/main" id="{2E991013-E657-4962-ACC2-C536ED43D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57550"/>
            <a:ext cx="10363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BE1"/>
          </a:solidFill>
          <a:ln xmlns:a="http://schemas.openxmlformats.org/drawingml/2006/main" w="0">
            <a:solidFill>
              <a:srgbClr val="D5DBE1"/>
            </a:solidFill>
            <a:prstDash val="solid"/>
          </a:ln>
        </p:spPr>
      </p:sp>
      <p:sp>
        <p:nvSpPr>
          <p:cNvPr id="6" name="shape-386">
            <a:extLst xmlns:a="http://schemas.openxmlformats.org/drawingml/2006/main">
              <a:ext uri="{FF2B5EF4-FFF2-40B4-BE49-F238E27FC236}">
                <a16:creationId xmlns:a16="http://schemas.microsoft.com/office/drawing/2014/main" id="{ABBA2C4A-7A4E-4FB0-8654-313A50D0D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25908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19050">
            <a:solidFill>
              <a:srgbClr val="173F5F"/>
            </a:solidFill>
            <a:prstDash val="solid"/>
          </a:ln>
        </p:spPr>
      </p:sp>
      <p:sp>
        <p:nvSpPr>
          <p:cNvPr id="7" name="text-387">
            <a:extLst xmlns:a="http://schemas.openxmlformats.org/drawingml/2006/main">
              <a:ext uri="{FF2B5EF4-FFF2-40B4-BE49-F238E27FC236}">
                <a16:creationId xmlns:a16="http://schemas.microsoft.com/office/drawing/2014/main" id="{9C8182A5-3B53-4D2F-8B55-FC138B402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5524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173F5F"/>
                </a:solidFill>
                <a:latin typeface="PingFang SC"/>
                <a:ea typeface="PingFang SC"/>
                <a:cs typeface="PingFang SC"/>
              </a:defRPr>
            </a:pPr>
            <a:r>
              <a:rPr b="1"/>
              <a:t>01</a:t>
            </a:r>
          </a:p>
        </p:txBody>
      </p:sp>
      <p:sp>
        <p:nvSpPr>
          <p:cNvPr id="8" name="text-388">
            <a:extLst xmlns:a="http://schemas.openxmlformats.org/drawingml/2006/main">
              <a:ext uri="{FF2B5EF4-FFF2-40B4-BE49-F238E27FC236}">
                <a16:creationId xmlns:a16="http://schemas.microsoft.com/office/drawing/2014/main" id="{C77BBA1E-3CBE-4D3A-989A-50505CEA7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00300"/>
            <a:ext cx="21717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0B1F33"/>
                </a:solidFill>
                <a:latin typeface="PingFang SC"/>
                <a:ea typeface="PingFang SC"/>
                <a:cs typeface="PingFang SC"/>
              </a:defRPr>
            </a:pPr>
            <a:r>
              <a:rPr b="1"/>
              <a:t>补齐数据</a:t>
            </a:r>
          </a:p>
        </p:txBody>
      </p:sp>
      <p:sp>
        <p:nvSpPr>
          <p:cNvPr id="9" name="shape-389">
            <a:extLst xmlns:a="http://schemas.openxmlformats.org/drawingml/2006/main">
              <a:ext uri="{FF2B5EF4-FFF2-40B4-BE49-F238E27FC236}">
                <a16:creationId xmlns:a16="http://schemas.microsoft.com/office/drawing/2014/main" id="{49BC1B1D-8C4F-4862-A470-93EC3E292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1051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F5F"/>
          </a:solidFill>
          <a:ln xmlns:a="http://schemas.openxmlformats.org/drawingml/2006/main" w="0">
            <a:solidFill>
              <a:srgbClr val="173F5F"/>
            </a:solidFill>
            <a:prstDash val="solid"/>
          </a:ln>
        </p:spPr>
      </p:sp>
      <p:sp>
        <p:nvSpPr>
          <p:cNvPr id="10" name="text-390">
            <a:extLst xmlns:a="http://schemas.openxmlformats.org/drawingml/2006/main">
              <a:ext uri="{FF2B5EF4-FFF2-40B4-BE49-F238E27FC236}">
                <a16:creationId xmlns:a16="http://schemas.microsoft.com/office/drawing/2014/main" id="{F2F79D3D-8CEE-4322-8385-DDD83C346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38550"/>
            <a:ext cx="22479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t>多轮长上下文
增加 high-context</a:t>
            </a:r>
          </a:p>
        </p:txBody>
      </p:sp>
      <p:sp>
        <p:nvSpPr>
          <p:cNvPr id="11" name="shape-391">
            <a:extLst xmlns:a="http://schemas.openxmlformats.org/drawingml/2006/main">
              <a:ext uri="{FF2B5EF4-FFF2-40B4-BE49-F238E27FC236}">
                <a16:creationId xmlns:a16="http://schemas.microsoft.com/office/drawing/2014/main" id="{B4311AD9-7499-4FAC-ACE6-0628987E7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790700"/>
            <a:ext cx="25908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19050">
            <a:solidFill>
              <a:srgbClr val="14B8A6"/>
            </a:solidFill>
            <a:prstDash val="solid"/>
          </a:ln>
        </p:spPr>
      </p:sp>
      <p:sp>
        <p:nvSpPr>
          <p:cNvPr id="12" name="text-392">
            <a:extLst xmlns:a="http://schemas.openxmlformats.org/drawingml/2006/main">
              <a:ext uri="{FF2B5EF4-FFF2-40B4-BE49-F238E27FC236}">
                <a16:creationId xmlns:a16="http://schemas.microsoft.com/office/drawing/2014/main" id="{FAE8D592-13DE-4D16-A7DF-20CD71202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000250"/>
            <a:ext cx="5524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14B8A6"/>
                </a:solidFill>
                <a:latin typeface="PingFang SC"/>
                <a:ea typeface="PingFang SC"/>
                <a:cs typeface="PingFang SC"/>
              </a:defRPr>
            </a:pPr>
            <a:r>
              <a:rPr b="1"/>
              <a:t>02</a:t>
            </a:r>
          </a:p>
        </p:txBody>
      </p:sp>
      <p:sp>
        <p:nvSpPr>
          <p:cNvPr id="13" name="text-393">
            <a:extLst xmlns:a="http://schemas.openxmlformats.org/drawingml/2006/main">
              <a:ext uri="{FF2B5EF4-FFF2-40B4-BE49-F238E27FC236}">
                <a16:creationId xmlns:a16="http://schemas.microsoft.com/office/drawing/2014/main" id="{8861B75D-FF2B-4F5A-BF94-636F38499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400300"/>
            <a:ext cx="21717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0B1F33"/>
                </a:solidFill>
                <a:latin typeface="PingFang SC"/>
                <a:ea typeface="PingFang SC"/>
                <a:cs typeface="PingFang SC"/>
              </a:defRPr>
            </a:pPr>
            <a:r>
              <a:rPr b="1"/>
              <a:t>重做历史先验</a:t>
            </a:r>
          </a:p>
        </p:txBody>
      </p:sp>
      <p:sp>
        <p:nvSpPr>
          <p:cNvPr id="14" name="shape-394">
            <a:extLst xmlns:a="http://schemas.openxmlformats.org/drawingml/2006/main">
              <a:ext uri="{FF2B5EF4-FFF2-40B4-BE49-F238E27FC236}">
                <a16:creationId xmlns:a16="http://schemas.microsoft.com/office/drawing/2014/main" id="{B4D3C010-ACCB-49F9-A963-E7224AFA2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051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  <a:prstDash val="solid"/>
          </a:ln>
        </p:spPr>
      </p:sp>
      <p:sp>
        <p:nvSpPr>
          <p:cNvPr id="15" name="text-395">
            <a:extLst xmlns:a="http://schemas.openxmlformats.org/drawingml/2006/main">
              <a:ext uri="{FF2B5EF4-FFF2-40B4-BE49-F238E27FC236}">
                <a16:creationId xmlns:a16="http://schemas.microsoft.com/office/drawing/2014/main" id="{EB17DAF5-DDBC-429E-8A09-C1567C9E0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638550"/>
            <a:ext cx="22479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t>加入非标签泄漏的
历史情绪字段</a:t>
            </a:r>
          </a:p>
        </p:txBody>
      </p:sp>
      <p:sp>
        <p:nvSpPr>
          <p:cNvPr id="16" name="shape-396">
            <a:extLst xmlns:a="http://schemas.openxmlformats.org/drawingml/2006/main">
              <a:ext uri="{FF2B5EF4-FFF2-40B4-BE49-F238E27FC236}">
                <a16:creationId xmlns:a16="http://schemas.microsoft.com/office/drawing/2014/main" id="{E1055335-1494-4903-B90B-617139A83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90700"/>
            <a:ext cx="25908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19050">
            <a:solidFill>
              <a:srgbClr val="F59E0B"/>
            </a:solidFill>
            <a:prstDash val="solid"/>
          </a:ln>
        </p:spPr>
      </p:sp>
      <p:sp>
        <p:nvSpPr>
          <p:cNvPr id="17" name="text-397">
            <a:extLst xmlns:a="http://schemas.openxmlformats.org/drawingml/2006/main">
              <a:ext uri="{FF2B5EF4-FFF2-40B4-BE49-F238E27FC236}">
                <a16:creationId xmlns:a16="http://schemas.microsoft.com/office/drawing/2014/main" id="{9A673434-FA6C-4979-B940-84826735F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000250"/>
            <a:ext cx="5524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F59E0B"/>
                </a:solidFill>
                <a:latin typeface="PingFang SC"/>
                <a:ea typeface="PingFang SC"/>
                <a:cs typeface="PingFang SC"/>
              </a:defRPr>
            </a:pPr>
            <a:r>
              <a:rPr b="1"/>
              <a:t>03</a:t>
            </a:r>
          </a:p>
        </p:txBody>
      </p:sp>
      <p:sp>
        <p:nvSpPr>
          <p:cNvPr id="18" name="text-398">
            <a:extLst xmlns:a="http://schemas.openxmlformats.org/drawingml/2006/main">
              <a:ext uri="{FF2B5EF4-FFF2-40B4-BE49-F238E27FC236}">
                <a16:creationId xmlns:a16="http://schemas.microsoft.com/office/drawing/2014/main" id="{2DB72359-B0D6-4846-A3B2-49D0D9DB1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00300"/>
            <a:ext cx="21717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0B1F33"/>
                </a:solidFill>
                <a:latin typeface="PingFang SC"/>
                <a:ea typeface="PingFang SC"/>
                <a:cs typeface="PingFang SC"/>
              </a:defRPr>
            </a:pPr>
            <a:r>
              <a:rPr b="1"/>
              <a:t>拆分组合消融</a:t>
            </a:r>
          </a:p>
        </p:txBody>
      </p:sp>
      <p:sp>
        <p:nvSpPr>
          <p:cNvPr id="19" name="shape-399">
            <a:extLst xmlns:a="http://schemas.openxmlformats.org/drawingml/2006/main">
              <a:ext uri="{FF2B5EF4-FFF2-40B4-BE49-F238E27FC236}">
                <a16:creationId xmlns:a16="http://schemas.microsoft.com/office/drawing/2014/main" id="{272396FB-305F-4A94-86C7-581A0F31F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1051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20" name="text-400">
            <a:extLst xmlns:a="http://schemas.openxmlformats.org/drawingml/2006/main">
              <a:ext uri="{FF2B5EF4-FFF2-40B4-BE49-F238E27FC236}">
                <a16:creationId xmlns:a16="http://schemas.microsoft.com/office/drawing/2014/main" id="{5A2CAE4D-A5EC-4A41-915C-39EBE9FAE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638550"/>
            <a:ext cx="22479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t>no-examples 与
no-history 独立运行</a:t>
            </a:r>
          </a:p>
        </p:txBody>
      </p:sp>
      <p:sp>
        <p:nvSpPr>
          <p:cNvPr id="21" name="shape-401">
            <a:extLst xmlns:a="http://schemas.openxmlformats.org/drawingml/2006/main">
              <a:ext uri="{FF2B5EF4-FFF2-40B4-BE49-F238E27FC236}">
                <a16:creationId xmlns:a16="http://schemas.microsoft.com/office/drawing/2014/main" id="{3F4ABD30-8F75-4EED-94A9-6F7D0489C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790700"/>
            <a:ext cx="25908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19050">
            <a:solidFill>
              <a:srgbClr val="E97732"/>
            </a:solidFill>
            <a:prstDash val="solid"/>
          </a:ln>
        </p:spPr>
      </p:sp>
      <p:sp>
        <p:nvSpPr>
          <p:cNvPr id="22" name="text-402">
            <a:extLst xmlns:a="http://schemas.openxmlformats.org/drawingml/2006/main">
              <a:ext uri="{FF2B5EF4-FFF2-40B4-BE49-F238E27FC236}">
                <a16:creationId xmlns:a16="http://schemas.microsoft.com/office/drawing/2014/main" id="{C8C3B359-DD87-41BA-83BD-69B8957EA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000250"/>
            <a:ext cx="5524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E97732"/>
                </a:solidFill>
                <a:latin typeface="PingFang SC"/>
                <a:ea typeface="PingFang SC"/>
                <a:cs typeface="PingFang SC"/>
              </a:defRPr>
            </a:pPr>
            <a:r>
              <a:rPr b="1"/>
              <a:t>04</a:t>
            </a:r>
          </a:p>
        </p:txBody>
      </p:sp>
      <p:sp>
        <p:nvSpPr>
          <p:cNvPr id="23" name="text-403">
            <a:extLst xmlns:a="http://schemas.openxmlformats.org/drawingml/2006/main">
              <a:ext uri="{FF2B5EF4-FFF2-40B4-BE49-F238E27FC236}">
                <a16:creationId xmlns:a16="http://schemas.microsoft.com/office/drawing/2014/main" id="{97787BB7-2F34-4140-8567-717E852AA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400300"/>
            <a:ext cx="21717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0B1F33"/>
                </a:solidFill>
                <a:latin typeface="PingFang SC"/>
                <a:ea typeface="PingFang SC"/>
                <a:cs typeface="PingFang SC"/>
              </a:defRPr>
            </a:pPr>
            <a:r>
              <a:rPr b="1"/>
              <a:t>增强统计证据</a:t>
            </a:r>
          </a:p>
        </p:txBody>
      </p:sp>
      <p:sp>
        <p:nvSpPr>
          <p:cNvPr id="24" name="shape-404">
            <a:extLst xmlns:a="http://schemas.openxmlformats.org/drawingml/2006/main">
              <a:ext uri="{FF2B5EF4-FFF2-40B4-BE49-F238E27FC236}">
                <a16:creationId xmlns:a16="http://schemas.microsoft.com/office/drawing/2014/main" id="{909A0FAC-3A9A-43C5-AE40-6702DEA5B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1051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7732"/>
          </a:solidFill>
          <a:ln xmlns:a="http://schemas.openxmlformats.org/drawingml/2006/main" w="0">
            <a:solidFill>
              <a:srgbClr val="E97732"/>
            </a:solidFill>
            <a:prstDash val="solid"/>
          </a:ln>
        </p:spPr>
      </p:sp>
      <p:sp>
        <p:nvSpPr>
          <p:cNvPr id="25" name="text-405">
            <a:extLst xmlns:a="http://schemas.openxmlformats.org/drawingml/2006/main">
              <a:ext uri="{FF2B5EF4-FFF2-40B4-BE49-F238E27FC236}">
                <a16:creationId xmlns:a16="http://schemas.microsoft.com/office/drawing/2014/main" id="{BE6AFD1A-F38F-47E2-AAB7-CED1FB0E0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638550"/>
            <a:ext cx="22479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t>多随机种子、置信区间
并考虑裸 API</a:t>
            </a:r>
          </a:p>
        </p:txBody>
      </p:sp>
      <p:sp>
        <p:nvSpPr>
          <p:cNvPr id="26" name="shape-406">
            <a:extLst xmlns:a="http://schemas.openxmlformats.org/drawingml/2006/main">
              <a:ext uri="{FF2B5EF4-FFF2-40B4-BE49-F238E27FC236}">
                <a16:creationId xmlns:a16="http://schemas.microsoft.com/office/drawing/2014/main" id="{11CF5264-31FD-4DFF-A82A-60E98353F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00600"/>
            <a:ext cx="112776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solidFill>
              <a:srgbClr val="0B1F33"/>
            </a:solidFill>
            <a:prstDash val="solid"/>
          </a:ln>
        </p:spPr>
      </p:sp>
      <p:sp>
        <p:nvSpPr>
          <p:cNvPr id="27" name="text-407">
            <a:extLst xmlns:a="http://schemas.openxmlformats.org/drawingml/2006/main">
              <a:ext uri="{FF2B5EF4-FFF2-40B4-BE49-F238E27FC236}">
                <a16:creationId xmlns:a16="http://schemas.microsoft.com/office/drawing/2014/main" id="{FB7287B5-B7B3-4820-B370-398FAC0DA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9675"/>
            <a:ext cx="10668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b="1"/>
              <a:t>下一轮目标不是“跑更多”，而是让每个消融都真正改变唯一变量。</a:t>
            </a:r>
          </a:p>
        </p:txBody>
      </p:sp>
      <p:sp>
        <p:nvSpPr>
          <p:cNvPr id="28" name="shape-408">
            <a:extLst xmlns:a="http://schemas.openxmlformats.org/drawingml/2006/main">
              <a:ext uri="{FF2B5EF4-FFF2-40B4-BE49-F238E27FC236}">
                <a16:creationId xmlns:a16="http://schemas.microsoft.com/office/drawing/2014/main" id="{D6794FC5-EC8A-402C-B838-8EF221BF5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91200"/>
            <a:ext cx="112776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2D6"/>
          </a:solidFill>
          <a:ln xmlns:a="http://schemas.openxmlformats.org/drawingml/2006/main" w="0">
            <a:solidFill>
              <a:srgbClr val="FFF2D6"/>
            </a:solidFill>
            <a:prstDash val="solid"/>
          </a:ln>
        </p:spPr>
      </p:sp>
      <p:sp>
        <p:nvSpPr>
          <p:cNvPr id="29" name="text-409">
            <a:extLst xmlns:a="http://schemas.openxmlformats.org/drawingml/2006/main">
              <a:ext uri="{FF2B5EF4-FFF2-40B4-BE49-F238E27FC236}">
                <a16:creationId xmlns:a16="http://schemas.microsoft.com/office/drawing/2014/main" id="{7671BD6F-8AE3-4469-9E39-3D74B44C2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86450"/>
            <a:ext cx="10668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>
                <a:solidFill>
                  <a:srgbClr val="C2413B"/>
                </a:solidFill>
                <a:latin typeface="PingFang SC"/>
                <a:ea typeface="PingFang SC"/>
                <a:cs typeface="PingFang SC"/>
              </a:defRPr>
            </a:pPr>
            <a:r>
              <a:rPr b="1"/>
              <a:t>导师讨论：优先扩充真实对话，还是先完善可控合成基准？</a:t>
            </a:r>
          </a:p>
        </p:txBody>
      </p:sp>
      <p:sp>
        <p:nvSpPr>
          <p:cNvPr id="30" name="shape-410">
            <a:extLst xmlns:a="http://schemas.openxmlformats.org/drawingml/2006/main">
              <a:ext uri="{FF2B5EF4-FFF2-40B4-BE49-F238E27FC236}">
                <a16:creationId xmlns:a16="http://schemas.microsoft.com/office/drawing/2014/main" id="{D313EC4E-F3AD-4513-84B3-4A35F9B4B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BE1"/>
          </a:solidFill>
          <a:ln xmlns:a="http://schemas.openxmlformats.org/drawingml/2006/main" w="0">
            <a:solidFill>
              <a:srgbClr val="D5DBE1"/>
            </a:solidFill>
            <a:prstDash val="solid"/>
          </a:ln>
        </p:spPr>
      </p:sp>
      <p:sp>
        <p:nvSpPr>
          <p:cNvPr id="31" name="text-411">
            <a:extLst xmlns:a="http://schemas.openxmlformats.org/drawingml/2006/main">
              <a:ext uri="{FF2B5EF4-FFF2-40B4-BE49-F238E27FC236}">
                <a16:creationId xmlns:a16="http://schemas.microsoft.com/office/drawing/2014/main" id="{D70D9527-CB59-4770-8843-5F42189E1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5905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5F6B76"/>
                </a:solidFill>
                <a:latin typeface="PingFang SC"/>
                <a:ea typeface="PingFang SC"/>
                <a:cs typeface="PingFang SC"/>
              </a:defRPr>
            </a:pPr>
            <a:r>
              <a:t>来源：本地 Seed-64 实验记录 · 下一轮研究建议</a:t>
            </a:r>
          </a:p>
        </p:txBody>
      </p:sp>
    </p:spTree>
    <p:extLst>
      <p:ext uri="{BB962C8B-B14F-4D97-AF65-F5344CB8AC3E}">
        <p14:creationId xmlns:p14="http://schemas.microsoft.com/office/powerpoint/2010/main" val="198518436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2026-07-13T07:57:21.1650000Z</dcterms:created>
  <dcterms:modified xsi:type="dcterms:W3CDTF">2026-07-13T07:57:21.1650000Z</dcterms:modified>
</coreProperties>
</file>