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02c5a083234668" /><Relationship Type="http://schemas.openxmlformats.org/officeDocument/2006/relationships/extended-properties" Target="/docProps/app.xml" Id="R6702fa844c2c4afb" /><Relationship Type="http://schemas.openxmlformats.org/officeDocument/2006/relationships/officeDocument" Target="/ppt/presentation.xml" Id="Rab4f41644d284d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92c53b202b445b"/>
  </p:sldMasterIdLst>
  <p:notesMasterIdLst>
    <p:notesMasterId xmlns:r="http://schemas.openxmlformats.org/officeDocument/2006/relationships" r:id="R0cc7eca70f3b4611"/>
  </p:notesMasterIdLst>
  <p:sldIdLst>
    <p:sldId xmlns:r="http://schemas.openxmlformats.org/officeDocument/2006/relationships" id="256" r:id="R62554e80a59b4c04"/>
    <p:sldId xmlns:r="http://schemas.openxmlformats.org/officeDocument/2006/relationships" id="257" r:id="R03ccb7ce06b14007"/>
    <p:sldId xmlns:r="http://schemas.openxmlformats.org/officeDocument/2006/relationships" id="258" r:id="Rb7341417d74a4861"/>
    <p:sldId xmlns:r="http://schemas.openxmlformats.org/officeDocument/2006/relationships" id="259" r:id="Re6572d7ffbcd41b4"/>
    <p:sldId xmlns:r="http://schemas.openxmlformats.org/officeDocument/2006/relationships" id="260" r:id="R0acb9019df4f4cfb"/>
    <p:sldId xmlns:r="http://schemas.openxmlformats.org/officeDocument/2006/relationships" id="261" r:id="R0021259a13554c2e"/>
    <p:sldId xmlns:r="http://schemas.openxmlformats.org/officeDocument/2006/relationships" id="262" r:id="R841733abb04c40d7"/>
    <p:sldId xmlns:r="http://schemas.openxmlformats.org/officeDocument/2006/relationships" id="263" r:id="R67f3118092a34d31"/>
    <p:sldId xmlns:r="http://schemas.openxmlformats.org/officeDocument/2006/relationships" id="264" r:id="Rc225515dc204481c"/>
    <p:sldId xmlns:r="http://schemas.openxmlformats.org/officeDocument/2006/relationships" id="265" r:id="Rc3dffe3fb8bf4575"/>
    <p:sldId xmlns:r="http://schemas.openxmlformats.org/officeDocument/2006/relationships" id="266" r:id="Ra2fc868c897641fc"/>
    <p:sldId xmlns:r="http://schemas.openxmlformats.org/officeDocument/2006/relationships" id="267" r:id="R3486d1f1ad7148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72df81dc4c4242" /><Relationship Type="http://schemas.openxmlformats.org/officeDocument/2006/relationships/slideMaster" Target="/ppt/slideMasters/slideMaster1.xml" Id="Rfa92c53b202b445b" /><Relationship Type="http://schemas.openxmlformats.org/officeDocument/2006/relationships/notesMaster" Target="/ppt/notesMasters/notesMaster1.xml" Id="R0cc7eca70f3b4611" /><Relationship Type="http://schemas.openxmlformats.org/officeDocument/2006/relationships/presProps" Target="/ppt/presProps.xml" Id="Rdc9a97ea3af44ad1" /><Relationship Type="http://schemas.openxmlformats.org/officeDocument/2006/relationships/tableStyles" Target="/ppt/tableStyles.xml" Id="R4d23ba6d625d4182" /><Relationship Type="http://schemas.openxmlformats.org/officeDocument/2006/relationships/slide" Target="/ppt/slides/slide1.xml" Id="R62554e80a59b4c04" /><Relationship Type="http://schemas.openxmlformats.org/officeDocument/2006/relationships/slide" Target="/ppt/slides/slide2.xml" Id="R03ccb7ce06b14007" /><Relationship Type="http://schemas.openxmlformats.org/officeDocument/2006/relationships/slide" Target="/ppt/slides/slide3.xml" Id="Rb7341417d74a4861" /><Relationship Type="http://schemas.openxmlformats.org/officeDocument/2006/relationships/slide" Target="/ppt/slides/slide4.xml" Id="Re6572d7ffbcd41b4" /><Relationship Type="http://schemas.openxmlformats.org/officeDocument/2006/relationships/slide" Target="/ppt/slides/slide5.xml" Id="R0acb9019df4f4cfb" /><Relationship Type="http://schemas.openxmlformats.org/officeDocument/2006/relationships/slide" Target="/ppt/slides/slide6.xml" Id="R0021259a13554c2e" /><Relationship Type="http://schemas.openxmlformats.org/officeDocument/2006/relationships/slide" Target="/ppt/slides/slide7.xml" Id="R841733abb04c40d7" /><Relationship Type="http://schemas.openxmlformats.org/officeDocument/2006/relationships/slide" Target="/ppt/slides/slide8.xml" Id="R67f3118092a34d31" /><Relationship Type="http://schemas.openxmlformats.org/officeDocument/2006/relationships/slide" Target="/ppt/slides/slide9.xml" Id="Rc225515dc204481c" /><Relationship Type="http://schemas.openxmlformats.org/officeDocument/2006/relationships/slide" Target="/ppt/slides/slide10.xml" Id="Rc3dffe3fb8bf4575" /><Relationship Type="http://schemas.openxmlformats.org/officeDocument/2006/relationships/slide" Target="/ppt/slides/slide11.xml" Id="Ra2fc868c897641fc" /><Relationship Type="http://schemas.openxmlformats.org/officeDocument/2006/relationships/slide" Target="/ppt/slides/slide12.xml" Id="R3486d1f1ad7148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59dc6ae1294c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99e4dc7ece47e8" /><Relationship Type="http://schemas.openxmlformats.org/officeDocument/2006/relationships/notesMaster" Target="/ppt/notesMasters/notesMaster1.xml" Id="Rd654cc9da99242d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00c7fb6a15415e" /><Relationship Type="http://schemas.openxmlformats.org/officeDocument/2006/relationships/notesMaster" Target="/ppt/notesMasters/notesMaster1.xml" Id="R93f74b81e7e748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bb1f380bb8474f" /><Relationship Type="http://schemas.openxmlformats.org/officeDocument/2006/relationships/notesMaster" Target="/ppt/notesMasters/notesMaster1.xml" Id="R0627e4d288cc4d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cb2031319c4a91" /><Relationship Type="http://schemas.openxmlformats.org/officeDocument/2006/relationships/notesMaster" Target="/ppt/notesMasters/notesMaster1.xml" Id="R84f2594abc6d4b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ec9ea1cdcb439a" /><Relationship Type="http://schemas.openxmlformats.org/officeDocument/2006/relationships/notesMaster" Target="/ppt/notesMasters/notesMaster1.xml" Id="R33bdfe8bafb744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57b3f02f1345ef" /><Relationship Type="http://schemas.openxmlformats.org/officeDocument/2006/relationships/notesMaster" Target="/ppt/notesMasters/notesMaster1.xml" Id="R30666269c1f544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90be1c53b940ad" /><Relationship Type="http://schemas.openxmlformats.org/officeDocument/2006/relationships/notesMaster" Target="/ppt/notesMasters/notesMaster1.xml" Id="R386b7eb0bea746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1a2c1487854a79" /><Relationship Type="http://schemas.openxmlformats.org/officeDocument/2006/relationships/notesMaster" Target="/ppt/notesMasters/notesMaster1.xml" Id="R6af8e94b066a41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ac66f77973f4e1f" /><Relationship Type="http://schemas.openxmlformats.org/officeDocument/2006/relationships/notesMaster" Target="/ppt/notesMasters/notesMaster1.xml" Id="R35f6c649aad2454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f0506c4f584c49" /><Relationship Type="http://schemas.openxmlformats.org/officeDocument/2006/relationships/notesMaster" Target="/ppt/notesMasters/notesMaster1.xml" Id="R344766f498c842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d67493e65594408" /><Relationship Type="http://schemas.openxmlformats.org/officeDocument/2006/relationships/notesMaster" Target="/ppt/notesMasters/notesMaster1.xml" Id="R5005d40e70d042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c0a4e566c44b85" /><Relationship Type="http://schemas.openxmlformats.org/officeDocument/2006/relationships/notesMaster" Target="/ppt/notesMasters/notesMaster1.xml" Id="R0be5392d50ea41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先交代三条主线：聊天机器人、消融框架、公开数据评测。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data/benchmarks/empathetic_dialogues_v1/README.md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强调项目不是单次聊天调用，而是情绪识别、上下文融合和回复生成的闭环。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README.md:1-68</a:t>
            </a:r>
          </a:p>
          <a:p xmlns:a="http://schemas.openxmlformats.org/drawingml/2006/main">
            <a:r>
              <a:t>- README.md:236-244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说明框架拆分了三个组件；当前公开基准只能有效验证示例策略，历史和上下文需要逐句标注的多轮数据。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data/benchmarks/empathetic_dialogues_v1/README.md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强调当前正式实验只使用公开基准，自建生成数据、脚本和旧结果已从仓库退役。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data/benchmarks/empathetic_dialogues_v1/metadata.json</a:t>
            </a:r>
          </a:p>
          <a:p xmlns:a="http://schemas.openxmlformats.org/drawingml/2006/main">
            <a:r>
              <a:t>- data/benchmarks/empathetic_dialogues_v1/reports/dataset_card.md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逐行解释五组配置，并提醒 zero-shot 不是单变量消融；无实际 Prompt 差异的配置会被跳过。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说明数据选型标准和 EmpatheticDialogues 的标签语义边界。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data/benchmarks/empathetic_dialogues_v1/README.md</a:t>
            </a:r>
          </a:p>
          <a:p xmlns:a="http://schemas.openxmlformats.org/drawingml/2006/main">
            <a:r>
              <a:t>- data/benchmarks/empathetic_dialogues_v1/reports/dataset_card.md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先解释标签与输入错位，再讲样本覆盖、检索和 no-op 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data/benchmarks/empathetic_dialogues_v1/reports/remediation_report.md</a:t>
            </a:r>
          </a:p>
          <a:p xmlns:a="http://schemas.openxmlformats.org/drawingml/2006/main">
            <a:r>
              <a:t>- data/benchmarks/empathetic_dialogues_v1/reports/codex_pilot10/report-zh.md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八项修复按数据、示例、Prompt、检索、抽样、指标和执行有效性依次说明。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data/benchmarks/empathetic_dialogues_v1/reports/remediation_report.md:19-48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强调不是简单换了一个文件，而是重新定义了正式评估、诊断和示例的边界。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data/benchmarks/empathetic_dialogues_v1/README.md:17-38</a:t>
            </a:r>
          </a:p>
          <a:p xmlns:a="http://schemas.openxmlformats.org/drawingml/2006/main">
            <a:r>
              <a:t>- data/benchmarks/empathetic_dialogues_v1/reports/remediation_report.md:31-37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报告方向性结果；明确 32 条 pilot 不能支持统计显著性结论。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data/benchmarks/empathetic_dialogues_v1/reports/aligned_pilot32/metrics.csv</a:t>
            </a:r>
          </a:p>
          <a:p xmlns:a="http://schemas.openxmlformats.org/drawingml/2006/main">
            <a:r>
              <a:t>- data/benchmarks/empathetic_dialogues_v1/reports/remediation_report.md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按证据强度说明 64 条配对检验、完整 test 与逐句标注多轮数据三个层次。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data/benchmarks/empathetic_dialogues_v1/reports/remediation_report.md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用公开数据、可复现消融和后续统计验证收束，不夸大当前小样本结果。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data/benchmarks/empathetic_dialogues_v1/reports/remediation_report.md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9cd621465541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c6156468324fe0" /><Relationship Type="http://schemas.openxmlformats.org/officeDocument/2006/relationships/slideLayout" Target="/ppt/slideLayouts/slideLayout1.xml" Id="Rdc3e04d51a3340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3e04d51a3340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e5249c48f4513" /><Relationship Type="http://schemas.openxmlformats.org/officeDocument/2006/relationships/notesSlide" Target="/ppt/notesSlides/notesSlide1.xml" Id="Re355af6e77b341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7f3c7085b4e0d" /><Relationship Type="http://schemas.openxmlformats.org/officeDocument/2006/relationships/notesSlide" Target="/ppt/notesSlides/notesSlide2.xml" Id="R763c66dfc4284f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b8c2d9ce341ad" /><Relationship Type="http://schemas.openxmlformats.org/officeDocument/2006/relationships/notesSlide" Target="/ppt/notesSlides/notesSlide3.xml" Id="Rac7b718fdea049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fe07b406504a79" /><Relationship Type="http://schemas.openxmlformats.org/officeDocument/2006/relationships/notesSlide" Target="/ppt/notesSlides/notesSlide4.xml" Id="R671eb5eb81e84e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7d2b7d7944544" /><Relationship Type="http://schemas.openxmlformats.org/officeDocument/2006/relationships/notesSlide" Target="/ppt/notesSlides/notesSlide5.xml" Id="R7e185b3ad6944b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d63875aaa4b76" /><Relationship Type="http://schemas.openxmlformats.org/officeDocument/2006/relationships/notesSlide" Target="/ppt/notesSlides/notesSlide6.xml" Id="Rda63de03d07745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df71e3c894f72" /><Relationship Type="http://schemas.openxmlformats.org/officeDocument/2006/relationships/notesSlide" Target="/ppt/notesSlides/notesSlide7.xml" Id="R268b6b31e5d443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c3195feae4388" /><Relationship Type="http://schemas.openxmlformats.org/officeDocument/2006/relationships/notesSlide" Target="/ppt/notesSlides/notesSlide8.xml" Id="Rf9a013d21a7b4b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d647bd45b4d1c" /><Relationship Type="http://schemas.openxmlformats.org/officeDocument/2006/relationships/notesSlide" Target="/ppt/notesSlides/notesSlide9.xml" Id="Rae4fa980a9fe46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cc2bd65444cdb" /><Relationship Type="http://schemas.openxmlformats.org/officeDocument/2006/relationships/chart" Target="/ppt/slides/charts/chart1.xml" Id="Reb87700f00ae49a7" /><Relationship Type="http://schemas.openxmlformats.org/officeDocument/2006/relationships/notesSlide" Target="/ppt/notesSlides/notesSlide10.xml" Id="Rabcd836660d24f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1190edecb4168" /><Relationship Type="http://schemas.openxmlformats.org/officeDocument/2006/relationships/notesSlide" Target="/ppt/notesSlides/notesSlide11.xml" Id="Rce3b52119aee4a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ccb7772e2448d" /><Relationship Type="http://schemas.openxmlformats.org/officeDocument/2006/relationships/notesSlide" Target="/ppt/notesSlides/notesSlide12.xml" Id="R0b0664e36370475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Exact Accuracy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完整方案</c:v>
              </c:pt>
              <c:pt idx="1">
                <c:v>静态示例</c:v>
              </c:pt>
              <c:pt idx="2">
                <c:v>Zero-shot</c:v>
              </c:pt>
            </c:strLit>
          </c:cat>
          <c:val>
            <c:numLit>
              <c:formatCode>General</c:formatCode>
              <c:ptCount val="3"/>
              <c:pt idx="0">
                <c:v>59.38</c:v>
              </c:pt>
              <c:pt idx="1">
                <c:v>56.25</c:v>
              </c:pt>
              <c:pt idx="2">
                <c:v>56.25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5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46A95447-0A48-4954-931D-EC45F29F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情绪感知聊天机器人
与消融实验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4A26369B-76EC-42B3-A483-D3170584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基于 EmpatheticDialogues 的公开数据评测
2026.07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CE0BEA7-27BC-4AD9-AC5B-8E69BEC8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研究汇报</a:t>
            </a:r>
          </a:p>
        </p:txBody>
      </p:sp>
    </p:spTree>
    <p:extLst>
      <p:ext uri="{BB962C8B-B14F-4D97-AF65-F5344CB8AC3E}">
        <p14:creationId xmlns:p14="http://schemas.microsoft.com/office/powerpoint/2010/main" val="12606571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6C6CBF56-4CCB-4171-8E73-4D789162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A6E2CADC-A916-4E51-B184-6BF050DD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聊天机器人形成了“识别—融合—回复”的闭环</a:t>
            </a:r>
          </a:p>
        </p:txBody>
      </p:sp>
      <p:cxnSp>
        <p:nvCxnSpPr>
          <p:cNvPr id="30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643EFAF2-AB17-4FF0-82B5-D7B5B12A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1A3E4AA-3F2D-422B-ABC2-B2723435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A5CE72FF-1887-4DE2-86B7-38FD376D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0C96D854-FD29-4D74-9DA5-DB85A5CE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输入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BD78D130-159C-4B52-BFEF-85B1AE79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理解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C63B03A6-0BDC-4269-ABDE-92E74E27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回复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222B5BCB-265C-4D87-9893-F1AD1D2E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情绪识别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32 类结构化状态
置信度与证据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731807CB-03FC-46C6-BB93-47EC22D0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用户输入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多轮对话
流式 Web 交互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9E3D269A-E3FF-4784-A340-B63E5CD6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上下文融合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画像、记忆、安全提示
生成适配回复</a:t>
            </a:r>
          </a:p>
        </p:txBody>
      </p:sp>
    </p:spTree>
    <p:extLst>
      <p:ext uri="{BB962C8B-B14F-4D97-AF65-F5344CB8AC3E}">
        <p14:creationId xmlns:p14="http://schemas.microsoft.com/office/powerpoint/2010/main" val="204500261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9D3398B-2C58-4B99-B450-B150C28B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FE53091-E001-4845-8FF5-F95593A7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消融框架拆分三个可开关组件</a:t>
            </a:r>
          </a:p>
        </p:txBody>
      </p:sp>
      <p:sp>
        <p:nvSpPr>
          <p:cNvPr id="3" name="Google-Shape-558-p61-4">
            <a:extLst xmlns:a="http://schemas.openxmlformats.org/drawingml/2006/main">
              <a:ext uri="{FF2B5EF4-FFF2-40B4-BE49-F238E27FC236}">
                <a16:creationId xmlns:a16="http://schemas.microsoft.com/office/drawing/2014/main" id="{01210357-F18E-40FF-B70D-56C19C4B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动态 EICL 示例
根据当前输入检索相关 few-shot</a:t>
            </a:r>
          </a:p>
        </p:txBody>
      </p:sp>
      <p:sp>
        <p:nvSpPr>
          <p:cNvPr id="4" name="Google-Shape-559-p61-5">
            <a:extLst xmlns:a="http://schemas.openxmlformats.org/drawingml/2006/main">
              <a:ext uri="{FF2B5EF4-FFF2-40B4-BE49-F238E27FC236}">
                <a16:creationId xmlns:a16="http://schemas.microsoft.com/office/drawing/2014/main" id="{8828DE87-5B7B-4F29-88FA-3F55C5A9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9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近期情绪先验
使用最近识别结果辅助判断</a:t>
            </a:r>
          </a:p>
        </p:txBody>
      </p:sp>
      <p:sp>
        <p:nvSpPr>
          <p:cNvPr id="5" name="Google-Shape-560-p61-6">
            <a:extLst xmlns:a="http://schemas.openxmlformats.org/drawingml/2006/main">
              <a:ext uri="{FF2B5EF4-FFF2-40B4-BE49-F238E27FC236}">
                <a16:creationId xmlns:a16="http://schemas.microsoft.com/office/drawing/2014/main" id="{2005C02C-A88D-4D3B-943E-58525244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多轮上下文
比较默认窗口与最近 1 轮</a:t>
            </a:r>
          </a:p>
        </p:txBody>
      </p:sp>
      <p:sp>
        <p:nvSpPr>
          <p:cNvPr id="6" name="Google-Shape-561-p61-7">
            <a:extLst xmlns:a="http://schemas.openxmlformats.org/drawingml/2006/main">
              <a:ext uri="{FF2B5EF4-FFF2-40B4-BE49-F238E27FC236}">
                <a16:creationId xmlns:a16="http://schemas.microsoft.com/office/drawing/2014/main" id="{A40A624A-9849-460A-993D-6DE75627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868" y="3382328"/>
            <a:ext cx="315563" cy="353854"/>
          </a:xfrm>
          <a:custGeom xmlns:a="http://schemas.openxmlformats.org/drawingml/2006/main">
            <a:pathLst>
              <a:path w="192747900" h="191595375">
                <a:moveTo>
                  <a:pt x="107661075" y="24707850"/>
                </a:moveTo>
                <a:lnTo>
                  <a:pt x="20716875" y="114138075"/>
                </a:lnTo>
                <a:lnTo>
                  <a:pt x="86039325" y="114138075"/>
                </a:lnTo>
                <a:cubicBezTo>
                  <a:pt x="89192100" y="114138075"/>
                  <a:pt x="92182950" y="115423950"/>
                  <a:pt x="94135575" y="117614700"/>
                </a:cubicBezTo>
                <a:cubicBezTo>
                  <a:pt x="96097725" y="119814975"/>
                  <a:pt x="96821625" y="122682000"/>
                  <a:pt x="96097725" y="125406150"/>
                </a:cubicBezTo>
                <a:lnTo>
                  <a:pt x="85086825" y="166897050"/>
                </a:lnTo>
                <a:lnTo>
                  <a:pt x="172031025" y="77466825"/>
                </a:lnTo>
                <a:lnTo>
                  <a:pt x="106708575" y="77466825"/>
                </a:lnTo>
                <a:cubicBezTo>
                  <a:pt x="103555800" y="77466825"/>
                  <a:pt x="100564950" y="76190475"/>
                  <a:pt x="98612325" y="73990200"/>
                </a:cubicBezTo>
                <a:cubicBezTo>
                  <a:pt x="96650175" y="71789925"/>
                  <a:pt x="95926275" y="68922900"/>
                  <a:pt x="96650175" y="66198750"/>
                </a:cubicBezTo>
                <a:lnTo>
                  <a:pt x="107661075" y="24707850"/>
                </a:lnTo>
                <a:close/>
                <a:moveTo>
                  <a:pt x="98888550" y="5648325"/>
                </a:moveTo>
                <a:cubicBezTo>
                  <a:pt x="111242475" y="-7067550"/>
                  <a:pt x="134540625" y="3457575"/>
                  <a:pt x="130206750" y="19792950"/>
                </a:cubicBezTo>
                <a:lnTo>
                  <a:pt x="119767350" y="59131200"/>
                </a:lnTo>
                <a:lnTo>
                  <a:pt x="172031025" y="59131200"/>
                </a:lnTo>
                <a:cubicBezTo>
                  <a:pt x="189718950" y="59131200"/>
                  <a:pt x="199243950" y="77552550"/>
                  <a:pt x="187690125" y="89439750"/>
                </a:cubicBezTo>
                <a:lnTo>
                  <a:pt x="93859350" y="185956575"/>
                </a:lnTo>
                <a:cubicBezTo>
                  <a:pt x="81505425" y="198672450"/>
                  <a:pt x="58207275" y="188147325"/>
                  <a:pt x="62541150" y="171811950"/>
                </a:cubicBezTo>
                <a:lnTo>
                  <a:pt x="72980550" y="132473700"/>
                </a:lnTo>
                <a:lnTo>
                  <a:pt x="20716875" y="132473700"/>
                </a:lnTo>
                <a:cubicBezTo>
                  <a:pt x="3028950" y="132473700"/>
                  <a:pt x="-6496050" y="114052350"/>
                  <a:pt x="5057775" y="102165150"/>
                </a:cubicBezTo>
                <a:lnTo>
                  <a:pt x="98888550" y="56483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7" name="Google-Shape-562-p61-8">
            <a:extLst xmlns:a="http://schemas.openxmlformats.org/drawingml/2006/main">
              <a:ext uri="{FF2B5EF4-FFF2-40B4-BE49-F238E27FC236}">
                <a16:creationId xmlns:a16="http://schemas.microsoft.com/office/drawing/2014/main" id="{899AF8AD-F8B9-442B-B504-D8EFFD48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84" y="3378232"/>
            <a:ext cx="327089" cy="362045"/>
          </a:xfrm>
          <a:custGeom xmlns:a="http://schemas.openxmlformats.org/drawingml/2006/main">
            <a:pathLst>
              <a:path w="205740000" h="203196825">
                <a:moveTo>
                  <a:pt x="108194475" y="20288250"/>
                </a:moveTo>
                <a:cubicBezTo>
                  <a:pt x="104908350" y="18583275"/>
                  <a:pt x="100850700" y="18583275"/>
                  <a:pt x="97545525" y="20288250"/>
                </a:cubicBezTo>
                <a:lnTo>
                  <a:pt x="30956250" y="54597300"/>
                </a:lnTo>
                <a:lnTo>
                  <a:pt x="103031925" y="90773250"/>
                </a:lnTo>
                <a:lnTo>
                  <a:pt x="177098325" y="55778400"/>
                </a:lnTo>
                <a:lnTo>
                  <a:pt x="108194475" y="20288250"/>
                </a:lnTo>
                <a:close/>
                <a:moveTo>
                  <a:pt x="184442100" y="73809225"/>
                </a:moveTo>
                <a:lnTo>
                  <a:pt x="113518950" y="107318175"/>
                </a:lnTo>
                <a:lnTo>
                  <a:pt x="113518950" y="180174900"/>
                </a:lnTo>
                <a:lnTo>
                  <a:pt x="179117625" y="146370675"/>
                </a:lnTo>
                <a:cubicBezTo>
                  <a:pt x="182422800" y="144675225"/>
                  <a:pt x="184442100" y="141541500"/>
                  <a:pt x="184442100" y="138141075"/>
                </a:cubicBezTo>
                <a:lnTo>
                  <a:pt x="184442100" y="73809225"/>
                </a:lnTo>
                <a:close/>
                <a:moveTo>
                  <a:pt x="92221050" y="180174900"/>
                </a:moveTo>
                <a:lnTo>
                  <a:pt x="92221050" y="107156250"/>
                </a:lnTo>
                <a:lnTo>
                  <a:pt x="21297900" y="71561325"/>
                </a:lnTo>
                <a:lnTo>
                  <a:pt x="21297900" y="138141075"/>
                </a:lnTo>
                <a:cubicBezTo>
                  <a:pt x="21297900" y="141541500"/>
                  <a:pt x="23317200" y="144675225"/>
                  <a:pt x="26622375" y="146370675"/>
                </a:cubicBezTo>
                <a:lnTo>
                  <a:pt x="92221050" y="180174900"/>
                </a:lnTo>
                <a:close/>
                <a:moveTo>
                  <a:pt x="86896575" y="3819525"/>
                </a:moveTo>
                <a:cubicBezTo>
                  <a:pt x="96774000" y="-1266825"/>
                  <a:pt x="108966000" y="-1266825"/>
                  <a:pt x="118843425" y="3819525"/>
                </a:cubicBezTo>
                <a:lnTo>
                  <a:pt x="189766575" y="40366950"/>
                </a:lnTo>
                <a:cubicBezTo>
                  <a:pt x="199663050" y="45462825"/>
                  <a:pt x="205740000" y="54873525"/>
                  <a:pt x="205740000" y="65055750"/>
                </a:cubicBezTo>
                <a:lnTo>
                  <a:pt x="205740000" y="138141075"/>
                </a:lnTo>
                <a:cubicBezTo>
                  <a:pt x="205740000" y="148323300"/>
                  <a:pt x="199663050" y="157743525"/>
                  <a:pt x="189766575" y="162839400"/>
                </a:cubicBezTo>
                <a:lnTo>
                  <a:pt x="118843425" y="199377300"/>
                </a:lnTo>
                <a:cubicBezTo>
                  <a:pt x="108966000" y="204473175"/>
                  <a:pt x="96774000" y="204473175"/>
                  <a:pt x="86896575" y="199377300"/>
                </a:cubicBezTo>
                <a:lnTo>
                  <a:pt x="15973425" y="162839400"/>
                </a:lnTo>
                <a:cubicBezTo>
                  <a:pt x="6096000" y="157743525"/>
                  <a:pt x="0" y="148323300"/>
                  <a:pt x="0" y="138141075"/>
                </a:cubicBezTo>
                <a:lnTo>
                  <a:pt x="0" y="65055750"/>
                </a:lnTo>
                <a:cubicBezTo>
                  <a:pt x="0" y="54873525"/>
                  <a:pt x="6096000" y="45462825"/>
                  <a:pt x="15973425" y="40366950"/>
                </a:cubicBezTo>
                <a:lnTo>
                  <a:pt x="86896575" y="38195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563-p61-9">
            <a:extLst xmlns:a="http://schemas.openxmlformats.org/drawingml/2006/main">
              <a:ext uri="{FF2B5EF4-FFF2-40B4-BE49-F238E27FC236}">
                <a16:creationId xmlns:a16="http://schemas.microsoft.com/office/drawing/2014/main" id="{97F3A2CF-8699-4CC3-AD2C-26646B91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600" y="3406807"/>
            <a:ext cx="338614" cy="270891"/>
          </a:xfrm>
          <a:custGeom xmlns:a="http://schemas.openxmlformats.org/drawingml/2006/main">
            <a:pathLst>
              <a:path w="205740000" h="205740000">
                <a:moveTo>
                  <a:pt x="59245500" y="0"/>
                </a:moveTo>
                <a:lnTo>
                  <a:pt x="146494500" y="0"/>
                </a:lnTo>
                <a:cubicBezTo>
                  <a:pt x="154781250" y="0"/>
                  <a:pt x="161620200" y="0"/>
                  <a:pt x="167182800" y="561975"/>
                </a:cubicBezTo>
                <a:cubicBezTo>
                  <a:pt x="172964475" y="1162050"/>
                  <a:pt x="178279425" y="2428875"/>
                  <a:pt x="183270525" y="5610225"/>
                </a:cubicBezTo>
                <a:cubicBezTo>
                  <a:pt x="191023875" y="10534650"/>
                  <a:pt x="197310375" y="18402300"/>
                  <a:pt x="201253725" y="28079700"/>
                </a:cubicBezTo>
                <a:cubicBezTo>
                  <a:pt x="203796900" y="34318575"/>
                  <a:pt x="204816075" y="40967025"/>
                  <a:pt x="205282800" y="48196500"/>
                </a:cubicBezTo>
                <a:cubicBezTo>
                  <a:pt x="205740000" y="55149750"/>
                  <a:pt x="205740000" y="63703200"/>
                  <a:pt x="205740000" y="74056875"/>
                </a:cubicBezTo>
                <a:lnTo>
                  <a:pt x="205740000" y="131683125"/>
                </a:lnTo>
                <a:cubicBezTo>
                  <a:pt x="205740000" y="142036800"/>
                  <a:pt x="205740000" y="150590250"/>
                  <a:pt x="205282800" y="157543500"/>
                </a:cubicBezTo>
                <a:cubicBezTo>
                  <a:pt x="204816075" y="164772975"/>
                  <a:pt x="203796900" y="171421425"/>
                  <a:pt x="201253725" y="177660300"/>
                </a:cubicBezTo>
                <a:cubicBezTo>
                  <a:pt x="197310375" y="187337700"/>
                  <a:pt x="191023875" y="195205350"/>
                  <a:pt x="183270525" y="200129775"/>
                </a:cubicBezTo>
                <a:cubicBezTo>
                  <a:pt x="178279425" y="203311125"/>
                  <a:pt x="172964475" y="204577950"/>
                  <a:pt x="167182800" y="205178025"/>
                </a:cubicBezTo>
                <a:cubicBezTo>
                  <a:pt x="161620200" y="205740000"/>
                  <a:pt x="154781250" y="205740000"/>
                  <a:pt x="146494500" y="205740000"/>
                </a:cubicBezTo>
                <a:lnTo>
                  <a:pt x="59245500" y="205740000"/>
                </a:lnTo>
                <a:cubicBezTo>
                  <a:pt x="50958750" y="205740000"/>
                  <a:pt x="44119800" y="205740000"/>
                  <a:pt x="38557200" y="205178025"/>
                </a:cubicBezTo>
                <a:cubicBezTo>
                  <a:pt x="32775525" y="204577950"/>
                  <a:pt x="27460575" y="203311125"/>
                  <a:pt x="22469475" y="200129775"/>
                </a:cubicBezTo>
                <a:cubicBezTo>
                  <a:pt x="14716125" y="195205350"/>
                  <a:pt x="8429625" y="187337700"/>
                  <a:pt x="4486275" y="177660300"/>
                </a:cubicBezTo>
                <a:cubicBezTo>
                  <a:pt x="1943100" y="171421425"/>
                  <a:pt x="923925" y="164772975"/>
                  <a:pt x="457200" y="157543500"/>
                </a:cubicBezTo>
                <a:cubicBezTo>
                  <a:pt x="0" y="150590250"/>
                  <a:pt x="0" y="142036800"/>
                  <a:pt x="0" y="131683125"/>
                </a:cubicBezTo>
                <a:lnTo>
                  <a:pt x="0" y="74056875"/>
                </a:lnTo>
                <a:cubicBezTo>
                  <a:pt x="0" y="63703200"/>
                  <a:pt x="0" y="55149750"/>
                  <a:pt x="457200" y="48196500"/>
                </a:cubicBezTo>
                <a:cubicBezTo>
                  <a:pt x="923925" y="40967025"/>
                  <a:pt x="1943100" y="34318575"/>
                  <a:pt x="4486275" y="28079700"/>
                </a:cubicBezTo>
                <a:cubicBezTo>
                  <a:pt x="8429625" y="18402300"/>
                  <a:pt x="14716125" y="10534650"/>
                  <a:pt x="22469475" y="5610225"/>
                </a:cubicBezTo>
                <a:cubicBezTo>
                  <a:pt x="27460575" y="2428875"/>
                  <a:pt x="32775525" y="1162050"/>
                  <a:pt x="38557200" y="561975"/>
                </a:cubicBezTo>
                <a:cubicBezTo>
                  <a:pt x="44119800" y="0"/>
                  <a:pt x="50958750" y="0"/>
                  <a:pt x="59245500" y="0"/>
                </a:cubicBezTo>
                <a:close/>
                <a:moveTo>
                  <a:pt x="20574000" y="90011250"/>
                </a:moveTo>
                <a:lnTo>
                  <a:pt x="20574000" y="131159250"/>
                </a:lnTo>
                <a:cubicBezTo>
                  <a:pt x="20574000" y="142179675"/>
                  <a:pt x="20583525" y="149666325"/>
                  <a:pt x="20964525" y="155448000"/>
                </a:cubicBezTo>
                <a:cubicBezTo>
                  <a:pt x="21326475" y="161077275"/>
                  <a:pt x="21993225" y="163972875"/>
                  <a:pt x="22812375" y="165982650"/>
                </a:cubicBezTo>
                <a:cubicBezTo>
                  <a:pt x="24793575" y="170811825"/>
                  <a:pt x="27936825" y="174755175"/>
                  <a:pt x="31803975" y="177222150"/>
                </a:cubicBezTo>
                <a:cubicBezTo>
                  <a:pt x="33413700" y="178250850"/>
                  <a:pt x="35728275" y="179079525"/>
                  <a:pt x="40233600" y="179536725"/>
                </a:cubicBezTo>
                <a:cubicBezTo>
                  <a:pt x="44862750" y="180012975"/>
                  <a:pt x="50844450" y="180022500"/>
                  <a:pt x="59664600" y="180022500"/>
                </a:cubicBezTo>
                <a:lnTo>
                  <a:pt x="146075400" y="180022500"/>
                </a:lnTo>
                <a:cubicBezTo>
                  <a:pt x="154895550" y="180022500"/>
                  <a:pt x="160877250" y="180012975"/>
                  <a:pt x="165506400" y="179536725"/>
                </a:cubicBezTo>
                <a:cubicBezTo>
                  <a:pt x="170011725" y="179079525"/>
                  <a:pt x="172326300" y="178250850"/>
                  <a:pt x="173936025" y="177222150"/>
                </a:cubicBezTo>
                <a:cubicBezTo>
                  <a:pt x="177803175" y="174755175"/>
                  <a:pt x="180946425" y="170811825"/>
                  <a:pt x="182927625" y="165982650"/>
                </a:cubicBezTo>
                <a:cubicBezTo>
                  <a:pt x="183746775" y="163972875"/>
                  <a:pt x="184413525" y="161077275"/>
                  <a:pt x="184775475" y="155448000"/>
                </a:cubicBezTo>
                <a:cubicBezTo>
                  <a:pt x="185156475" y="149666325"/>
                  <a:pt x="185166000" y="142179675"/>
                  <a:pt x="185166000" y="131159250"/>
                </a:cubicBezTo>
                <a:lnTo>
                  <a:pt x="185166000" y="90011250"/>
                </a:lnTo>
                <a:lnTo>
                  <a:pt x="20574000" y="90011250"/>
                </a:lnTo>
                <a:close/>
                <a:moveTo>
                  <a:pt x="185146950" y="64293750"/>
                </a:moveTo>
                <a:cubicBezTo>
                  <a:pt x="185118375" y="58559700"/>
                  <a:pt x="185023125" y="54073425"/>
                  <a:pt x="184775475" y="50292000"/>
                </a:cubicBezTo>
                <a:cubicBezTo>
                  <a:pt x="184413525" y="44662725"/>
                  <a:pt x="183746775" y="41767125"/>
                  <a:pt x="182927625" y="39757350"/>
                </a:cubicBezTo>
                <a:cubicBezTo>
                  <a:pt x="180946425" y="34928175"/>
                  <a:pt x="177803175" y="30994350"/>
                  <a:pt x="173936025" y="28517850"/>
                </a:cubicBezTo>
                <a:cubicBezTo>
                  <a:pt x="172326300" y="27489150"/>
                  <a:pt x="170011725" y="26660475"/>
                  <a:pt x="165506400" y="26203275"/>
                </a:cubicBezTo>
                <a:cubicBezTo>
                  <a:pt x="160877250" y="25727025"/>
                  <a:pt x="154895550" y="25717500"/>
                  <a:pt x="146075400" y="25717500"/>
                </a:cubicBezTo>
                <a:lnTo>
                  <a:pt x="59664600" y="25717500"/>
                </a:lnTo>
                <a:cubicBezTo>
                  <a:pt x="50844450" y="25717500"/>
                  <a:pt x="44862750" y="25727025"/>
                  <a:pt x="40233600" y="26203275"/>
                </a:cubicBezTo>
                <a:cubicBezTo>
                  <a:pt x="35728275" y="26660475"/>
                  <a:pt x="33413700" y="27489150"/>
                  <a:pt x="31803975" y="28517850"/>
                </a:cubicBezTo>
                <a:cubicBezTo>
                  <a:pt x="27936825" y="30994350"/>
                  <a:pt x="24793575" y="34928175"/>
                  <a:pt x="22812375" y="39757350"/>
                </a:cubicBezTo>
                <a:cubicBezTo>
                  <a:pt x="21993225" y="41767125"/>
                  <a:pt x="21326475" y="44662725"/>
                  <a:pt x="20964525" y="50292000"/>
                </a:cubicBezTo>
                <a:cubicBezTo>
                  <a:pt x="20716875" y="54073425"/>
                  <a:pt x="20621625" y="58559700"/>
                  <a:pt x="20593050" y="64293750"/>
                </a:cubicBezTo>
                <a:lnTo>
                  <a:pt x="185146950" y="64293750"/>
                </a:lnTo>
                <a:close/>
                <a:moveTo>
                  <a:pt x="123444000" y="141446250"/>
                </a:moveTo>
                <a:cubicBezTo>
                  <a:pt x="123444000" y="134350125"/>
                  <a:pt x="128054100" y="128587500"/>
                  <a:pt x="133731000" y="128587500"/>
                </a:cubicBezTo>
                <a:lnTo>
                  <a:pt x="154305000" y="128587500"/>
                </a:lnTo>
                <a:cubicBezTo>
                  <a:pt x="159981900" y="128587500"/>
                  <a:pt x="164592000" y="134350125"/>
                  <a:pt x="164592000" y="141446250"/>
                </a:cubicBezTo>
                <a:cubicBezTo>
                  <a:pt x="164592000" y="148542375"/>
                  <a:pt x="159981900" y="154305000"/>
                  <a:pt x="154305000" y="154305000"/>
                </a:cubicBezTo>
                <a:lnTo>
                  <a:pt x="133731000" y="154305000"/>
                </a:lnTo>
                <a:cubicBezTo>
                  <a:pt x="128054100" y="154305000"/>
                  <a:pt x="123444000" y="148542375"/>
                  <a:pt x="123444000" y="141446250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124359857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4F840DEC-AEB4-4B4D-93B0-043DFC3C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568BDB8E-A7D5-4C11-B0DF-38E66CDE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3239ABC5-57D4-4F20-9502-6C8689BC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00AB4FCD-688E-485D-AF87-8E4A2AA0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D831D182-3248-4F51-8A8F-B16373E6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正式实验只采用公开、可追溯数据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31BB4AB0-6EF9-4D63-9852-F2FB625B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官方 test
2,542 段英文对话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B86DC94-BA60-467B-A344-E6D30E2C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生成式 AI 自建样本
已从仓库完全移除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57011A07-1FF4-4BC8-BF91-965EDDC6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869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情绪类别
与项目标签逐项一致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57925F07-CB4F-4005-A005-F2276430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2,542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0980B0E4-83A5-4B74-B9D9-273ED7D2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32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05AFA538-0CE1-48F0-B3CE-9D124178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F107052F-B04E-4F7F-B8F5-7A0D7C91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EmpatheticDialogues 是唯一正式基准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公开来源、人工众包撰写、许可与 SHA-256 可追溯；实验不再使用自建生成数据，也不保留相关分数。</a:t>
            </a:r>
          </a:p>
        </p:txBody>
      </p:sp>
    </p:spTree>
    <p:extLst>
      <p:ext uri="{BB962C8B-B14F-4D97-AF65-F5344CB8AC3E}">
        <p14:creationId xmlns:p14="http://schemas.microsoft.com/office/powerpoint/2010/main" val="20196655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1842248-022B-453B-8B27-479730D7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BEB07F0-2B85-43B9-8B2E-BE7A7E0B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消融框架定义五组对照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D9629250-5D40-43E0-844B-29EECA61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三项控制变量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示例策略、近期情绪先验与上下文长度；zero-shot 同时删除两项因素，属于组合消融。</a:t>
            </a:r>
          </a:p>
        </p:txBody>
      </p:sp>
      <p:graphicFrame>
        <p:nvGraphicFramePr>
          <p:cNvPr id="13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107"/>
                <a:gridCol w="1874615"/>
                <a:gridCol w="1874615"/>
                <a:gridCol w="1874615"/>
                <a:gridCol w="1874615"/>
              </a:tblGrid>
              <a:tr h="436954"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992B71-FDFE-4A91-9C65-088A8B2F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152650"/>
            <a:ext cx="11525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390525" y="2286000"/>
          <a:ext xmlns:a="http://schemas.openxmlformats.org/drawingml/2006/main" cx="11401425" cy="3714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2000250"/>
                <a:gridCol w="1952625"/>
                <a:gridCol w="1952625"/>
                <a:gridCol w="3114675"/>
              </a:tblGrid>
              <a:tr h="6191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Run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示例策略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情绪先验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上下文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验证内容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full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动态示例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开启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默认窗口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完整方案基线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no_dynamic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固定静态示例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开启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默认窗口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动态检索的贡献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no_history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动态示例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关闭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默认窗口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近期情绪先验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short_context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动态示例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开启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最近 1 轮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多轮上下文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zero_shot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无示例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关闭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默认窗口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组合消融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4203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7ED3FEB-FB7F-405F-B831-C539F51A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76F73B1E-784B-482B-998A-7702B457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公开数据选型优先可追溯性与任务匹配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C190A8C0-7165-41EF-9E90-31B91DA8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2E974E6D-FB14-4E3A-91FF-F7F99C27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选型标准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3BA076EF-9AF4-4633-9013-6430152B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公开来源与许可清晰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人工参与者撰写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标签体系可直接复用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8EA31A4B-9AE5-41DD-A982-BAC01A66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362FB5B8-F477-4A5B-A548-1ED55CCF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EmpatheticDialogues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3B3A7B3E-7B60-4113-A050-DA9235BE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众包参与者人工撰写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约 2.5 万段英文对话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32 类与项目逐项一致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708AA4AC-9AF4-49F1-8923-8D01656B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选型结论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EmpatheticDialogues 作为唯一正式基准；其余候选按标签一致性、多轮结构和许可边界进行比较。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比较过 GoEmotions、CPED、MELD、DailyDialog 与 EmpatheticDialogues。</a:t>
            </a:r>
          </a:p>
        </p:txBody>
      </p:sp>
    </p:spTree>
    <p:extLst>
      <p:ext uri="{BB962C8B-B14F-4D97-AF65-F5344CB8AC3E}">
        <p14:creationId xmlns:p14="http://schemas.microsoft.com/office/powerpoint/2010/main" val="12504518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1321986-A91C-4FC1-B362-C9E5AC1A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9D67B4C-53E2-4E0A-822B-D490C87F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12830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第一次公开数据低准确率，主要是评测问题</a:t>
            </a:r>
          </a:p>
        </p:txBody>
      </p:sp>
      <p:sp>
        <p:nvSpPr>
          <p:cNvPr id="3" name="Rounded-Rectangle-9-4">
            <a:extLst xmlns:a="http://schemas.openxmlformats.org/drawingml/2006/main">
              <a:ext uri="{FF2B5EF4-FFF2-40B4-BE49-F238E27FC236}">
                <a16:creationId xmlns:a16="http://schemas.microsoft.com/office/drawing/2014/main" id="{B19F3E5B-93CF-47E8-98B8-42912837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ounded-Rectangle-10-5">
            <a:extLst xmlns:a="http://schemas.openxmlformats.org/drawingml/2006/main">
              <a:ext uri="{FF2B5EF4-FFF2-40B4-BE49-F238E27FC236}">
                <a16:creationId xmlns:a16="http://schemas.microsoft.com/office/drawing/2014/main" id="{375BAE63-43BD-483D-B29A-E541E01A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753198EF-2413-4108-8990-F78D833E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16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覆盖与检索不足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 条仅 5 类
few-shot 仅 8/32 类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A39C3789-9340-46C8-8A70-AD8088FD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11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无效消融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no_history 10/10
与 full 同 Prompt</a:t>
            </a:r>
          </a:p>
        </p:txBody>
      </p:sp>
      <p:sp>
        <p:nvSpPr>
          <p:cNvPr id="7" name="Google-Shape-340-p61-8">
            <a:extLst xmlns:a="http://schemas.openxmlformats.org/drawingml/2006/main">
              <a:ext uri="{FF2B5EF4-FFF2-40B4-BE49-F238E27FC236}">
                <a16:creationId xmlns:a16="http://schemas.microsoft.com/office/drawing/2014/main" id="{1B4EA8AC-3E5B-442C-AC99-D07E25D7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26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4B994EEB-507F-49EE-8CDC-0F0A25B9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57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Rounded-Rectangle-5-10">
            <a:extLst xmlns:a="http://schemas.openxmlformats.org/drawingml/2006/main">
              <a:ext uri="{FF2B5EF4-FFF2-40B4-BE49-F238E27FC236}">
                <a16:creationId xmlns:a16="http://schemas.microsoft.com/office/drawing/2014/main" id="{8A367909-03F4-4201-BF8F-5B944EA4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4A6FB495-9FA5-43A1-9451-D859E69B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3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标签与输入错位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整段情境标签
误贴到最后一句</a:t>
            </a:r>
          </a:p>
        </p:txBody>
      </p:sp>
      <p:sp>
        <p:nvSpPr>
          <p:cNvPr id="11" name="Google-Shape-340-p61-12">
            <a:extLst xmlns:a="http://schemas.openxmlformats.org/drawingml/2006/main">
              <a:ext uri="{FF2B5EF4-FFF2-40B4-BE49-F238E27FC236}">
                <a16:creationId xmlns:a16="http://schemas.microsoft.com/office/drawing/2014/main" id="{0A424C56-8CC8-4681-A5E8-8E435976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1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2" name="Content-Placeholder-15-13">
            <a:extLst xmlns:a="http://schemas.openxmlformats.org/drawingml/2006/main">
              <a:ext uri="{FF2B5EF4-FFF2-40B4-BE49-F238E27FC236}">
                <a16:creationId xmlns:a16="http://schemas.microsoft.com/office/drawing/2014/main" id="{E65AB56A-5972-443F-9BD9-B1227884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50562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原 pilot：10 条、5 类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Accuracy 约 20%–40%，不能直接归因于模型能力。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评测对象、样本覆盖和消融有效性同时存在偏差。</a:t>
            </a:r>
          </a:p>
        </p:txBody>
      </p:sp>
    </p:spTree>
    <p:extLst>
      <p:ext uri="{BB962C8B-B14F-4D97-AF65-F5344CB8AC3E}">
        <p14:creationId xmlns:p14="http://schemas.microsoft.com/office/powerpoint/2010/main" val="119056641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742D226-A4F5-437A-8407-9F8CD15D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63F64483-BBA0-4A13-AD7F-D329FA10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修复同时覆盖数据、Prompt、检索和指标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1178FDB5-954F-4C49-B818-A1BC0823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检索改进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停用词过滤 + IDF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0CEAF7D2-C7D9-40BC-979D-E47E73B9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代表性 seed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前 32 条覆盖 32 类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33747975-E333-4499-BACE-5209D76B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诊断指标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Family + 95% CI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664A7E3B-5A32-45E3-81AE-5771A6B5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调用前预检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自动跳过 no-op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7560FC9C-34AC-4A22-B025-D5CF9FB7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正式集对齐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改用首轮情境表达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72AA2C64-BC9F-4248-94D3-DF55BC71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弱标签隔离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后续轮次单列诊断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D969D4B7-4B57-441E-BDB9-A1CA3C21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 few-shot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64 条覆盖 32 类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C368131F-B205-430F-8DF3-5496B563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标签定义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补充近邻类别边界</a:t>
            </a:r>
          </a:p>
        </p:txBody>
      </p:sp>
    </p:spTree>
    <p:extLst>
      <p:ext uri="{BB962C8B-B14F-4D97-AF65-F5344CB8AC3E}">
        <p14:creationId xmlns:p14="http://schemas.microsoft.com/office/powerpoint/2010/main" val="1219786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B2BE2512-CED2-40C5-9F02-6D2A8847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43E3BB5E-17BB-4B1D-9891-FAD6C362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5EC90312-9114-4414-A604-9DF67B48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8A50ED41-C18D-4571-99A1-43AB59F7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0F85C97B-B78C-4CCD-B9B6-293AE4F2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新基准把不同用途的数据彻底分开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D20A2FE1-CCFA-4868-B4BF-90338293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正式 test
首轮表达 · 32 类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272830B-1155-411C-AB91-8601C044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869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seed / few-shot
每类 2 条 · split 隔离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AC7C8E6B-E341-4E94-AB6D-535E8113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05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弱标签诊断
后续轮次 · 不计主指标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58009706-4A4D-4C90-A439-7CBE165F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2,542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AD4C8CF3-7D7E-4A05-92EA-EACA1712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2,542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43D0CE31-B6DD-49A5-A138-591CAF84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64 / 64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32C65399-FE84-489A-9989-12230E5E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清晰的数据边界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正式评估、弱标签诊断和 train few-shot 各自承担不同任务，避免标签错位与测试泄漏。</a:t>
            </a:r>
          </a:p>
        </p:txBody>
      </p:sp>
    </p:spTree>
    <p:extLst>
      <p:ext uri="{BB962C8B-B14F-4D97-AF65-F5344CB8AC3E}">
        <p14:creationId xmlns:p14="http://schemas.microsoft.com/office/powerpoint/2010/main" val="23165429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C92AD6F-2284-494F-8F16-8C70C823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F13C5B7-D447-42B5-B0E9-D60F6B3C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公开数据 pilot：56%–59%</a:t>
            </a:r>
          </a:p>
        </p:txBody>
      </p:sp>
      <p:sp>
        <p:nvSpPr>
          <p:cNvPr id="3" name="Rounded-Rectangle-6-4">
            <a:extLst xmlns:a="http://schemas.openxmlformats.org/drawingml/2006/main">
              <a:ext uri="{FF2B5EF4-FFF2-40B4-BE49-F238E27FC236}">
                <a16:creationId xmlns:a16="http://schemas.microsoft.com/office/drawing/2014/main" id="{F2D7B048-A27F-465A-9199-7C7CC8A7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36982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8A669610-46D5-4AA1-850B-5E7D35F2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266480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full 多正确 1 条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59.38% vs 56.25%</a:t>
            </a:r>
          </a:p>
        </p:txBody>
      </p:sp>
      <p:sp>
        <p:nvSpPr>
          <p:cNvPr id="5" name="Rounded-Rectangle-8-6">
            <a:extLst xmlns:a="http://schemas.openxmlformats.org/drawingml/2006/main">
              <a:ext uri="{FF2B5EF4-FFF2-40B4-BE49-F238E27FC236}">
                <a16:creationId xmlns:a16="http://schemas.microsoft.com/office/drawing/2014/main" id="{307AAFDE-715D-46E4-9E6D-8B82B50A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393668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49C41795-D299-4016-9727-547CC08F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688658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32/32 有效预测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三组调用失败均为 0</a:t>
            </a:r>
          </a:p>
        </p:txBody>
      </p:sp>
      <p:sp>
        <p:nvSpPr>
          <p:cNvPr id="7" name="Rounded-Rectangle-1-8">
            <a:extLst xmlns:a="http://schemas.openxmlformats.org/drawingml/2006/main">
              <a:ext uri="{FF2B5EF4-FFF2-40B4-BE49-F238E27FC236}">
                <a16:creationId xmlns:a16="http://schemas.microsoft.com/office/drawing/2014/main" id="{B6D8A3B5-599A-47FA-AD60-D7C28214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38150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EC0B488B-9A06-4827-8343-5D619CC5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467648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仍需谨慎解释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置信区间高度重叠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EB110D-2CEE-4C70-BE0B-D2BC579A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95375"/>
            <a:ext cx="5810250" cy="528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4953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87700f00ae49a7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C91FC-38D3-4FE4-865E-F1077098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047750"/>
            <a:ext cx="1809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8651817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04CAC79B-CBB6-4A68-8FB6-770CD933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359CD076-5F60-4379-9810-82912F6F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下一步分三个层次扩大验证</a:t>
            </a:r>
          </a:p>
        </p:txBody>
      </p:sp>
      <p:cxnSp>
        <p:nvCxnSpPr>
          <p:cNvPr id="30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5FB79F8-1147-4D65-80C8-C77A2487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558F1F86-4382-4063-A459-DF62CF23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1E1D163-D3F3-484B-8F2C-D6F1DE79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49F6594A-7ED5-455D-AD98-21BC641A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近期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AAAFA66-B136-4DEF-A25C-DD0682DD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中期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8FBDB679-4883-4384-BFD3-510F3340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后续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430CBD2D-E1C7-4AD1-A1EB-0CE0CC4C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完整 2,542 条 test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人工抽查标签对齐</a:t>
            </a:r>
            <a:br/>
            <a:r>
              <a:t>混淆矩阵与显著性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AB9673FB-22D9-4F7C-80F5-5CB95418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完整 64 条 seed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保存逐条预测</a:t>
            </a:r>
            <a:br/>
            <a:r>
              <a:t>配对检验与差值 CI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8D55FFC1-ADCC-4582-A9B3-B10436E8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引入 MELD / CPED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使用逐句人工标签
验证历史与上下文</a:t>
            </a:r>
          </a:p>
        </p:txBody>
      </p:sp>
    </p:spTree>
    <p:extLst>
      <p:ext uri="{BB962C8B-B14F-4D97-AF65-F5344CB8AC3E}">
        <p14:creationId xmlns:p14="http://schemas.microsoft.com/office/powerpoint/2010/main" val="16493098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59188A52-F5E1-43D7-9D66-1C3794A4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以公开数据为依据，
再讨论模型好坏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A47B7D6A-FF12-4746-AB9F-D415C5A4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聊天机器人可运行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消融实验可复现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公开基准可追溯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461FA504-161F-4EC1-9321-900608B3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结论</a:t>
            </a:r>
          </a:p>
        </p:txBody>
      </p:sp>
    </p:spTree>
    <p:extLst>
      <p:ext uri="{BB962C8B-B14F-4D97-AF65-F5344CB8AC3E}">
        <p14:creationId xmlns:p14="http://schemas.microsoft.com/office/powerpoint/2010/main" val="8158809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2026-07-29T05:36:51.5920000Z</dcterms:created>
  <dcterms:modified xsi:type="dcterms:W3CDTF">2026-07-29T05:36:51.5920000Z</dcterms:modified>
</coreProperties>
</file>